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charts/chart1.xml" ContentType="application/vnd.openxmlformats-officedocument.drawingml.chart+xml"/>
  <Override PartName="/ppt/slideMasters/slideMaster8.xml" ContentType="application/vnd.openxmlformats-officedocument.presentationml.slideMaster+xml"/>
  <Override PartName="/ppt/slides/slide8.xml" ContentType="application/vnd.openxmlformats-officedocument.presentationml.slide+xml"/>
  <Override PartName="/ppt/charts/chart2.xml" ContentType="application/vnd.openxmlformats-officedocument.drawingml.chart+xml"/>
  <Override PartName="/ppt/charts/chart3.xml" ContentType="application/vnd.openxmlformats-officedocument.drawingml.chart+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charts/chart4.xml" ContentType="application/vnd.openxmlformats-officedocument.drawingml.chart+xml"/>
  <Override PartName="/ppt/slideMasters/slideMaster12.xml" ContentType="application/vnd.openxmlformats-officedocument.presentationml.slideMaster+xml"/>
  <Override PartName="/ppt/slides/slide12.xml" ContentType="application/vnd.openxmlformats-officedocument.presentationml.slide+xml"/>
  <Override PartName="/ppt/charts/chart5.xml" ContentType="application/vnd.openxmlformats-officedocument.drawingml.chart+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notesMasterIdLst>
    <p:notesMasterId r:id="rId1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notesMaster" Target="notesMasters/notesMaster1.xml"/><Relationship Id="rId17" Type="http://schemas.openxmlformats.org/officeDocument/2006/relationships/presProps" Target="presProps.xml"/><Relationship Id="rId18" Type="http://schemas.openxmlformats.org/officeDocument/2006/relationships/viewProps" Target="viewProps.xml"/><Relationship Id="rId19" Type="http://schemas.openxmlformats.org/officeDocument/2006/relationships/theme" Target="theme/theme1.xml"/><Relationship Id="rId20"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_rels/chart4.xml.rels><?xml version="1.0" encoding="UTF-8" standalone="yes"?><Relationships xmlns="http://schemas.openxmlformats.org/package/2006/relationships"><Relationship Id="rId1" Type="http://schemas.openxmlformats.org/officeDocument/2006/relationships/package" Target="../embeddings/Microsoft_Excel_Worksheet4.xlsx"/></Relationships>
</file>

<file path=ppt/charts/_rels/chart5.xml.rels><?xml version="1.0" encoding="UTF-8" standalone="yes"?><Relationships xmlns="http://schemas.openxmlformats.org/package/2006/relationships"><Relationship Id="rId1" Type="http://schemas.openxmlformats.org/officeDocument/2006/relationships/package" Target="../embeddings/Microsoft_Excel_Worksheet5.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Correlation with Diabetes</c:v>
                </c:pt>
              </c:strCache>
            </c:strRef>
          </c:tx>
          <c:spPr>
            <a:solidFill>
              <a:srgbClr val="0B4F6C"/>
            </a:solidFill>
            <a:effectLst/>
          </c:spPr>
          <c:invertIfNegative val="0"/>
          <c:dLbls>
            <c:numFmt formatCode="0.00" sourceLinked="0"/>
            <c:txPr>
              <a:bodyPr/>
              <a:lstStyle/>
              <a:p>
                <a:pPr>
                  <a:defRPr b="0" i="0" strike="noStrike" sz="1000" u="none">
                    <a:solidFill>
                      <a:srgbClr val="1B1B1B"/>
                    </a:solidFill>
                    <a:latin typeface="Arial"/>
                  </a:defRPr>
                </a:pPr>
              </a:p>
            </c:txPr>
            <c:showLegendKey val="0"/>
            <c:showVal val="1"/>
            <c:showCatName val="0"/>
            <c:showSerName val="0"/>
            <c:showPercent val="0"/>
            <c:showBubbleSize val="0"/>
            <c:showLeaderLines val="0"/>
          </c:dLbls>
          <c:cat>
            <c:multiLvlStrRef>
              <c:f>Sheet1!$A$2:$A$11</c:f>
              <c:multiLvlStrCache>
                <c:ptCount val="10"/>
                <c:lvl>
                  <c:pt idx="0">
                    <c:v>COPD</c:v>
                  </c:pt>
                  <c:pt idx="1">
                    <c:v>Vision Disability</c:v>
                  </c:pt>
                  <c:pt idx="2">
                    <c:v>Any Disability</c:v>
                  </c:pt>
                  <c:pt idx="3">
                    <c:v>General Health</c:v>
                  </c:pt>
                  <c:pt idx="4">
                    <c:v>High Blood Pressure</c:v>
                  </c:pt>
                  <c:pt idx="5">
                    <c:v>Frequent Physical Distress</c:v>
                  </c:pt>
                  <c:pt idx="6">
                    <c:v>Physical Inactivity</c:v>
                  </c:pt>
                  <c:pt idx="7">
                    <c:v>Self-care Disability</c:v>
                  </c:pt>
                  <c:pt idx="8">
                    <c:v>Stroke</c:v>
                  </c:pt>
                  <c:pt idx="9">
                    <c:v>Mobility Disability</c:v>
                  </c:pt>
                </c:lvl>
              </c:multiLvlStrCache>
            </c:multiLvlStrRef>
          </c:cat>
          <c:val>
            <c:numRef>
              <c:f>Sheet1!$B$2:$B$11</c:f>
              <c:numCache>
                <c:formatCode>General</c:formatCode>
                <c:ptCount val="10"/>
                <c:pt idx="0">
                  <c:v>0.8044</c:v>
                </c:pt>
                <c:pt idx="1">
                  <c:v>0.8086</c:v>
                </c:pt>
                <c:pt idx="2">
                  <c:v>0.8125</c:v>
                </c:pt>
                <c:pt idx="3">
                  <c:v>0.8129</c:v>
                </c:pt>
                <c:pt idx="4">
                  <c:v>0.8386</c:v>
                </c:pt>
                <c:pt idx="5">
                  <c:v>0.8455</c:v>
                </c:pt>
                <c:pt idx="6">
                  <c:v>0.85</c:v>
                </c:pt>
                <c:pt idx="7">
                  <c:v>0.8837</c:v>
                </c:pt>
                <c:pt idx="8">
                  <c:v>0.9239</c:v>
                </c:pt>
                <c:pt idx="9">
                  <c:v>0.9374</c:v>
                </c:pt>
              </c:numCache>
            </c:numRef>
          </c:val>
        </c:ser>
        <c:dLbls>
          <c:numFmt formatCode="0.00" sourceLinked="0"/>
          <c:txPr>
            <a:bodyPr/>
            <a:lstStyle/>
            <a:p>
              <a:pPr>
                <a:defRPr b="0" i="0" strike="noStrike" sz="1000" u="none">
                  <a:solidFill>
                    <a:srgbClr val="1B1B1B"/>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100" b="0" i="0" u="none" strike="noStrike">
                <a:solidFill>
                  <a:srgbClr val="1B1B1B"/>
                </a:solidFill>
                <a:latin typeface="Arial"/>
              </a:defRPr>
            </a:pPr>
            <a:endParaRPr lang="en-US"/>
          </a:p>
        </c:txPr>
        <c:crossAx val="2094734552"/>
        <c:crosses val="autoZero"/>
        <c:auto val="1"/>
        <c:lblAlgn val="ctr"/>
        <c:noMultiLvlLbl val="1"/>
      </c:catAx>
      <c:valAx>
        <c:axId val="2094734552"/>
        <c:scaling>
          <c:orientation val="minMax"/>
          <c:max val="1.05"/>
          <c:min val="0"/>
        </c:scaling>
        <c:delete val="0"/>
        <c:axPos val="b"/>
        <c:majorGridlines>
          <c:spPr>
            <a:ln w="12700" cap="flat">
              <a:solidFill>
                <a:srgbClr val="E2E9EB"/>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1000" b="0" i="0" u="none" strike="noStrike">
                <a:solidFill>
                  <a:srgbClr val="5B6B73"/>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Avg %</c:v>
                </c:pt>
              </c:strCache>
            </c:strRef>
          </c:tx>
          <c:spPr>
            <a:solidFill>
              <a:srgbClr val="E4572E"/>
            </a:solidFill>
            <a:effectLst/>
          </c:spPr>
          <c:invertIfNegative val="0"/>
          <c:dLbls>
            <c:numFmt formatCode="0.0" sourceLinked="0"/>
            <c:txPr>
              <a:bodyPr/>
              <a:lstStyle/>
              <a:p>
                <a:pPr>
                  <a:defRPr b="0" i="0" strike="noStrike" sz="1000" u="none">
                    <a:solidFill>
                      <a:srgbClr val="1B1B1B"/>
                    </a:solidFill>
                    <a:latin typeface="Arial"/>
                  </a:defRPr>
                </a:pPr>
              </a:p>
            </c:txPr>
            <c:showLegendKey val="0"/>
            <c:showVal val="1"/>
            <c:showCatName val="0"/>
            <c:showSerName val="0"/>
            <c:showPercent val="0"/>
            <c:showBubbleSize val="0"/>
            <c:showLeaderLines val="0"/>
          </c:dLbls>
          <c:cat>
            <c:multiLvlStrRef>
              <c:f>Sheet1!$A$2:$A$6</c:f>
              <c:multiLvlStrCache>
                <c:ptCount val="5"/>
                <c:lvl>
                  <c:pt idx="0">
                    <c:v>LA</c:v>
                  </c:pt>
                  <c:pt idx="1">
                    <c:v>AL</c:v>
                  </c:pt>
                  <c:pt idx="2">
                    <c:v>AR</c:v>
                  </c:pt>
                  <c:pt idx="3">
                    <c:v>FL</c:v>
                  </c:pt>
                  <c:pt idx="4">
                    <c:v>IN</c:v>
                  </c:pt>
                </c:lvl>
              </c:multiLvlStrCache>
            </c:multiLvlStrRef>
          </c:cat>
          <c:val>
            <c:numRef>
              <c:f>Sheet1!$B$2:$B$6</c:f>
              <c:numCache>
                <c:formatCode>General</c:formatCode>
                <c:ptCount val="5"/>
                <c:pt idx="0">
                  <c:v>16.03</c:v>
                </c:pt>
                <c:pt idx="1">
                  <c:v>15.85</c:v>
                </c:pt>
                <c:pt idx="2">
                  <c:v>14.24</c:v>
                </c:pt>
                <c:pt idx="3">
                  <c:v>13.82</c:v>
                </c:pt>
                <c:pt idx="4">
                  <c:v>13.64</c:v>
                </c:pt>
              </c:numCache>
            </c:numRef>
          </c:val>
        </c:ser>
        <c:dLbls>
          <c:numFmt formatCode="0.0" sourceLinked="0"/>
          <c:txPr>
            <a:bodyPr/>
            <a:lstStyle/>
            <a:p>
              <a:pPr>
                <a:defRPr b="0" i="0" strike="noStrike" sz="1000" u="none">
                  <a:solidFill>
                    <a:srgbClr val="1B1B1B"/>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1B1B1B"/>
                </a:solidFill>
                <a:latin typeface="Arial"/>
              </a:defRPr>
            </a:pPr>
            <a:endParaRPr lang="en-US"/>
          </a:p>
        </c:txPr>
        <c:crossAx val="2094734552"/>
        <c:crosses val="autoZero"/>
        <c:auto val="1"/>
        <c:lblAlgn val="ctr"/>
        <c:noMultiLvlLbl val="1"/>
      </c:catAx>
      <c:valAx>
        <c:axId val="2094734552"/>
        <c:scaling>
          <c:orientation val="minMax"/>
          <c:max val="18"/>
          <c:min val="0"/>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Avg %</c:v>
                </c:pt>
              </c:strCache>
            </c:strRef>
          </c:tx>
          <c:spPr>
            <a:solidFill>
              <a:srgbClr val="2E8B57"/>
            </a:solidFill>
            <a:effectLst/>
          </c:spPr>
          <c:invertIfNegative val="0"/>
          <c:dLbls>
            <c:numFmt formatCode="0.0" sourceLinked="0"/>
            <c:txPr>
              <a:bodyPr/>
              <a:lstStyle/>
              <a:p>
                <a:pPr>
                  <a:defRPr b="0" i="0" strike="noStrike" sz="1000" u="none">
                    <a:solidFill>
                      <a:srgbClr val="1B1B1B"/>
                    </a:solidFill>
                    <a:latin typeface="Arial"/>
                  </a:defRPr>
                </a:pPr>
              </a:p>
            </c:txPr>
            <c:showLegendKey val="0"/>
            <c:showVal val="1"/>
            <c:showCatName val="0"/>
            <c:showSerName val="0"/>
            <c:showPercent val="0"/>
            <c:showBubbleSize val="0"/>
            <c:showLeaderLines val="0"/>
          </c:dLbls>
          <c:cat>
            <c:multiLvlStrRef>
              <c:f>Sheet1!$A$2:$A$6</c:f>
              <c:multiLvlStrCache>
                <c:ptCount val="5"/>
                <c:lvl>
                  <c:pt idx="0">
                    <c:v>ID</c:v>
                  </c:pt>
                  <c:pt idx="1">
                    <c:v>CT</c:v>
                  </c:pt>
                  <c:pt idx="2">
                    <c:v>AK</c:v>
                  </c:pt>
                  <c:pt idx="3">
                    <c:v>CO</c:v>
                  </c:pt>
                  <c:pt idx="4">
                    <c:v>DC</c:v>
                  </c:pt>
                </c:lvl>
              </c:multiLvlStrCache>
            </c:multiLvlStrRef>
          </c:cat>
          <c:val>
            <c:numRef>
              <c:f>Sheet1!$B$2:$B$6</c:f>
              <c:numCache>
                <c:formatCode>General</c:formatCode>
                <c:ptCount val="5"/>
                <c:pt idx="0">
                  <c:v>10.4</c:v>
                </c:pt>
                <c:pt idx="1">
                  <c:v>10.36</c:v>
                </c:pt>
                <c:pt idx="2">
                  <c:v>9.95</c:v>
                </c:pt>
                <c:pt idx="3">
                  <c:v>8.87</c:v>
                </c:pt>
                <c:pt idx="4">
                  <c:v>8.13</c:v>
                </c:pt>
              </c:numCache>
            </c:numRef>
          </c:val>
        </c:ser>
        <c:dLbls>
          <c:numFmt formatCode="0.0" sourceLinked="0"/>
          <c:txPr>
            <a:bodyPr/>
            <a:lstStyle/>
            <a:p>
              <a:pPr>
                <a:defRPr b="0" i="0" strike="noStrike" sz="1000" u="none">
                  <a:solidFill>
                    <a:srgbClr val="1B1B1B"/>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1B1B1B"/>
                </a:solidFill>
                <a:latin typeface="Arial"/>
              </a:defRPr>
            </a:pPr>
            <a:endParaRPr lang="en-US"/>
          </a:p>
        </c:txPr>
        <c:crossAx val="2094734552"/>
        <c:crosses val="autoZero"/>
        <c:auto val="1"/>
        <c:lblAlgn val="ctr"/>
        <c:noMultiLvlLbl val="1"/>
      </c:catAx>
      <c:valAx>
        <c:axId val="2094734552"/>
        <c:scaling>
          <c:orientation val="minMax"/>
          <c:max val="18"/>
          <c:min val="0"/>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Test R2</c:v>
                </c:pt>
              </c:strCache>
            </c:strRef>
          </c:tx>
          <c:spPr>
            <a:solidFill>
              <a:srgbClr val="0B4F6C"/>
            </a:solidFill>
            <a:effectLst/>
          </c:spPr>
          <c:invertIfNegative val="0"/>
          <c:dLbls>
            <c:numFmt formatCode="0.0000" sourceLinked="0"/>
            <c:txPr>
              <a:bodyPr/>
              <a:lstStyle/>
              <a:p>
                <a:pPr>
                  <a:defRPr b="0" i="0" strike="noStrike" sz="1200" u="none">
                    <a:solidFill>
                      <a:srgbClr val="1B1B1B"/>
                    </a:solidFill>
                    <a:latin typeface="Arial"/>
                  </a:defRPr>
                </a:pPr>
              </a:p>
            </c:txPr>
            <c:showLegendKey val="0"/>
            <c:showVal val="1"/>
            <c:showCatName val="0"/>
            <c:showSerName val="0"/>
            <c:showPercent val="0"/>
            <c:showBubbleSize val="0"/>
            <c:showLeaderLines val="0"/>
          </c:dLbls>
          <c:dPt>
            <c:idx val="0"/>
            <c:invertIfNegative val="0"/>
            <c:bubble3D val="0"/>
            <c:spPr>
              <a:solidFill>
                <a:srgbClr val="0B4F6C"/>
              </a:solidFill>
              <a:effectLst/>
            </c:spPr>
          </c:dPt>
          <c:dPt>
            <c:idx val="1"/>
            <c:invertIfNegative val="0"/>
            <c:bubble3D val="0"/>
            <c:spPr>
              <a:solidFill>
                <a:srgbClr val="2E8B57"/>
              </a:solidFill>
              <a:effectLst/>
            </c:spPr>
          </c:dPt>
          <c:dPt>
            <c:idx val="2"/>
            <c:invertIfNegative val="0"/>
            <c:bubble3D val="0"/>
            <c:spPr>
              <a:solidFill>
                <a:srgbClr val="E4572E"/>
              </a:solidFill>
              <a:effectLst/>
            </c:spPr>
          </c:dPt>
          <c:dPt>
            <c:idx val="3"/>
            <c:invertIfNegative val="0"/>
            <c:bubble3D val="0"/>
            <c:spPr>
              <a:solidFill>
                <a:srgbClr val="01A7C2"/>
              </a:solidFill>
              <a:effectLst/>
            </c:spPr>
          </c:dPt>
          <c:cat>
            <c:multiLvlStrRef>
              <c:f>Sheet1!$A$2:$A$5</c:f>
              <c:multiLvlStrCache>
                <c:ptCount val="4"/>
                <c:lvl>
                  <c:pt idx="0">
                    <c:v>Linear
Regression</c:v>
                  </c:pt>
                  <c:pt idx="1">
                    <c:v>Random Forest
(Default)</c:v>
                  </c:pt>
                  <c:pt idx="2">
                    <c:v>Gradient
Boosting</c:v>
                  </c:pt>
                  <c:pt idx="3">
                    <c:v>Random Forest
(Tuned)</c:v>
                  </c:pt>
                </c:lvl>
              </c:multiLvlStrCache>
            </c:multiLvlStrRef>
          </c:cat>
          <c:val>
            <c:numRef>
              <c:f>Sheet1!$B$2:$B$5</c:f>
              <c:numCache>
                <c:formatCode>General</c:formatCode>
                <c:ptCount val="4"/>
                <c:pt idx="0">
                  <c:v>0.9741</c:v>
                </c:pt>
                <c:pt idx="1">
                  <c:v>0.9816</c:v>
                </c:pt>
                <c:pt idx="2">
                  <c:v>0.9714</c:v>
                </c:pt>
                <c:pt idx="3">
                  <c:v>0.9816</c:v>
                </c:pt>
              </c:numCache>
            </c:numRef>
          </c:val>
        </c:ser>
        <c:dLbls>
          <c:numFmt formatCode="0.0000" sourceLinked="0"/>
          <c:txPr>
            <a:bodyPr/>
            <a:lstStyle/>
            <a:p>
              <a:pPr>
                <a:defRPr b="0" i="0" strike="noStrike" sz="1200" u="none">
                  <a:solidFill>
                    <a:srgbClr val="1B1B1B"/>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1B1B1B"/>
                </a:solidFill>
                <a:latin typeface="Arial"/>
              </a:defRPr>
            </a:pPr>
            <a:endParaRPr lang="en-US"/>
          </a:p>
        </c:txPr>
        <c:crossAx val="2094734552"/>
        <c:crosses val="autoZero"/>
        <c:auto val="1"/>
        <c:lblAlgn val="ctr"/>
        <c:noMultiLvlLbl val="1"/>
      </c:catAx>
      <c:valAx>
        <c:axId val="2094734552"/>
        <c:scaling>
          <c:orientation val="minMax"/>
          <c:max val="0.985"/>
          <c:min val="0.965"/>
        </c:scaling>
        <c:delete val="0"/>
        <c:axPos val="l"/>
        <c:majorGridlines>
          <c:spPr>
            <a:ln w="12700" cap="flat">
              <a:solidFill>
                <a:srgbClr val="E2E9EB"/>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5B6B73"/>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Importance</c:v>
                </c:pt>
              </c:strCache>
            </c:strRef>
          </c:tx>
          <c:spPr>
            <a:solidFill>
              <a:srgbClr val="0B4F6C"/>
            </a:solidFill>
            <a:effectLst/>
          </c:spPr>
          <c:invertIfNegative val="0"/>
          <c:dLbls>
            <c:numFmt formatCode="0.000" sourceLinked="0"/>
            <c:txPr>
              <a:bodyPr/>
              <a:lstStyle/>
              <a:p>
                <a:pPr>
                  <a:defRPr b="0" i="0" strike="noStrike" sz="1000" u="none">
                    <a:solidFill>
                      <a:srgbClr val="1B1B1B"/>
                    </a:solidFill>
                    <a:latin typeface="Arial"/>
                  </a:defRPr>
                </a:pPr>
              </a:p>
            </c:txPr>
            <c:showLegendKey val="0"/>
            <c:showVal val="1"/>
            <c:showCatName val="0"/>
            <c:showSerName val="0"/>
            <c:showPercent val="0"/>
            <c:showBubbleSize val="0"/>
            <c:showLeaderLines val="0"/>
          </c:dLbls>
          <c:cat>
            <c:multiLvlStrRef>
              <c:f>Sheet1!$A$2:$A$11</c:f>
              <c:multiLvlStrCache>
                <c:ptCount val="10"/>
                <c:lvl>
                  <c:pt idx="0">
                    <c:v>Short Sleep Duration</c:v>
                  </c:pt>
                  <c:pt idx="1">
                    <c:v>Hearing Disability</c:v>
                  </c:pt>
                  <c:pt idx="2">
                    <c:v>Frequent Physical Distress</c:v>
                  </c:pt>
                  <c:pt idx="3">
                    <c:v>Self-care Disability</c:v>
                  </c:pt>
                  <c:pt idx="4">
                    <c:v>Binge Drinking</c:v>
                  </c:pt>
                  <c:pt idx="5">
                    <c:v>Physical Inactivity</c:v>
                  </c:pt>
                  <c:pt idx="6">
                    <c:v>Depression</c:v>
                  </c:pt>
                  <c:pt idx="7">
                    <c:v>High Blood Pressure</c:v>
                  </c:pt>
                  <c:pt idx="8">
                    <c:v>Stroke</c:v>
                  </c:pt>
                  <c:pt idx="9">
                    <c:v>Mobility Disability</c:v>
                  </c:pt>
                </c:lvl>
              </c:multiLvlStrCache>
            </c:multiLvlStrRef>
          </c:cat>
          <c:val>
            <c:numRef>
              <c:f>Sheet1!$B$2:$B$11</c:f>
              <c:numCache>
                <c:formatCode>General</c:formatCode>
                <c:ptCount val="10"/>
                <c:pt idx="0">
                  <c:v>0.004</c:v>
                </c:pt>
                <c:pt idx="1">
                  <c:v>0.0041</c:v>
                </c:pt>
                <c:pt idx="2">
                  <c:v>0.0047</c:v>
                </c:pt>
                <c:pt idx="3">
                  <c:v>0.0067</c:v>
                </c:pt>
                <c:pt idx="4">
                  <c:v>0.0075</c:v>
                </c:pt>
                <c:pt idx="5">
                  <c:v>0.0094</c:v>
                </c:pt>
                <c:pt idx="6">
                  <c:v>0.0201</c:v>
                </c:pt>
                <c:pt idx="7">
                  <c:v>0.0466</c:v>
                </c:pt>
                <c:pt idx="8">
                  <c:v>0.0667</c:v>
                </c:pt>
                <c:pt idx="9">
                  <c:v>0.7958</c:v>
                </c:pt>
              </c:numCache>
            </c:numRef>
          </c:val>
        </c:ser>
        <c:dLbls>
          <c:numFmt formatCode="0.000" sourceLinked="0"/>
          <c:txPr>
            <a:bodyPr/>
            <a:lstStyle/>
            <a:p>
              <a:pPr>
                <a:defRPr b="0" i="0" strike="noStrike" sz="1000" u="none">
                  <a:solidFill>
                    <a:srgbClr val="1B1B1B"/>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100" b="0" i="0" u="none" strike="noStrike">
                <a:solidFill>
                  <a:srgbClr val="1B1B1B"/>
                </a:solidFill>
                <a:latin typeface="Arial"/>
              </a:defRPr>
            </a:pPr>
            <a:endParaRPr lang="en-US"/>
          </a:p>
        </c:txPr>
        <c:crossAx val="2094734552"/>
        <c:crosses val="autoZero"/>
        <c:auto val="1"/>
        <c:lblAlgn val="ctr"/>
        <c:noMultiLvlLbl val="1"/>
      </c:catAx>
      <c:valAx>
        <c:axId val="2094734552"/>
        <c:scaling>
          <c:orientation val="minMax"/>
          <c:max val="0.85"/>
          <c:min val="0"/>
        </c:scaling>
        <c:delete val="0"/>
        <c:axPos val="b"/>
        <c:majorGridlines>
          <c:spPr>
            <a:ln w="12700" cap="flat">
              <a:solidFill>
                <a:srgbClr val="E2E9EB"/>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1000" b="0" i="0" u="none" strike="noStrike">
                <a:solidFill>
                  <a:srgbClr val="5B6B73"/>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 intro. Team 3: Ali Odah (Data Wrangler), Qossay Shtaiwi (Analyzer/Visualizer), Salam Odeh (Modeler). Today we're presenting our analysis of CDC PLACES health data, looking at which neighborhood-level health indicators are most strongly associated with diabetes prevalence, and what that means for public health outreach targeting.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Ali presents. Frame the problem in plain terms: this isn't about diagnosing individuals, it's about helping public health teams decide where to focus limited outreach and screening budgets. We're using CDC's PLACES dataset to see which neighborhood health indicators are most closely tied to diabetes prevalence.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Ali continues. Explain each tract is roughly a neighborhood. Every value is a model-based estimate from CDC, not a hand count — built from BRFSS survey + Census data. We chose Diabetes prevalence as our target because it's a well-understood outcome with plausible predictors already in the dataset.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Ali wraps up his section. We followed CRISP-DM end to end, mapped onto our three roles. Hand off to Qossay for Data Understanding / EDA.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Ali's last slide. Emphasize the junk-row catch — shows real data quality diligence, not just running code blindly. Median imputation was chosen because it's robust to outliers in percentage data. Hand off to Qossay now for EDA.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Qossay presents. Before looking at predictors, understand the target. Most tracts cluster between 10-14.5%, with a smaller number of high-prevalence outlier tracts pulling the tail up. This right skew is worth remembering when we get to model evaluation.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Qossay continues. We correlated all 39 other measures against Diabetes. Disability, inactivity, and cardiovascular measures show up strongest — makes medical sense, since these conditions cluster in the same populations.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Qossay continues. Point out the Diabetes Belt pattern is a well-documented real phenomenon, good narrative color. Then flag the Health Insurance labeling issue clearly — shows careful reading of the data dictionary, not just running correlations blindly. Also state the 21-state scope limitation explicitly here so the audience doesn't assume national coverage.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Qossay's last slide. This is the key insight we hand off to Salam: several of the strongest predictors move together so closely that a linear model's individual coefficients become unreliable. This is why we recommend tree-based models. Hand off to Salam for modeling.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Salam presents. Explain why three models: Linear as an honest floor, Random Forest as the primary bet given the multicollinearity Qossay flagged, Gradient Boosting as a second opinion. All compared fairly on the same split.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Salam continues. Random Forest wins, tuning barely changes anything (0.9816 both) — that's a reassuring sign the default wasn't a fluke, not a wasted step. Flag the suspiciously high R2 here to set up the Limitations slide — don't let the audience think we're just celebrating a big number.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Salam continues. This matches exactly what Qossay found in correlation — good sign the pipeline is consistent. Be careful with language here: correlation/importance, not causation. Set up transition to Limitations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Salam's key slide — don't rush this. This is what shows we understand the data, not just that we ran models on it. State each point plainly and confidently; these caveats don't undermine the work, they make it credible.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Whole team for Q&amp;A. Recap: strong neighborhood-level associations between disability/cardiovascular indicators and diabetes prevalence, usable for outreach targeting with the caveats we outlined. Open the floor for questions — each of us should be ready to speak to any part of the project, not just our own section.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chart" Target="/ppt/charts/chart3.xml"/><Relationship Id="rId3" Type="http://schemas.openxmlformats.org/officeDocument/2006/relationships/slideLayout" Target="../slideLayouts/slideLayout1.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chart" Target="/ppt/charts/chart4.xml"/><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chart" Target="/ppt/charts/chart5.xml"/><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2545"/>
        </a:solidFill>
      </p:bgPr>
    </p:bg>
    <p:spTree>
      <p:nvGrpSpPr>
        <p:cNvPr id="1" name=""/>
        <p:cNvGrpSpPr/>
        <p:nvPr/>
      </p:nvGrpSpPr>
      <p:grpSpPr>
        <a:xfrm>
          <a:off x="0" y="0"/>
          <a:ext cx="0" cy="0"/>
          <a:chOff x="0" y="0"/>
          <a:chExt cx="0" cy="0"/>
        </a:xfrm>
      </p:grpSpPr>
      <p:sp>
        <p:nvSpPr>
          <p:cNvPr id="2" name="Text 0"/>
          <p:cNvSpPr txBox="1"/>
          <p:nvPr/>
        </p:nvSpPr>
        <p:spPr>
          <a:xfrm>
            <a:off x="822960" y="1828800"/>
            <a:ext cx="10515600" cy="457200"/>
          </a:xfrm>
          <a:prstGeom prst="rect">
            <a:avLst/>
          </a:prstGeom>
          <a:noFill/>
          <a:ln/>
        </p:spPr>
        <p:txBody>
          <a:bodyPr wrap="square" lIns="0" tIns="0" rIns="0" bIns="0" rtlCol="0" anchor="ctr"/>
          <a:lstStyle/>
          <a:p>
            <a:pPr indent="0" marL="0">
              <a:buNone/>
            </a:pPr>
            <a:r>
              <a:rPr lang="en-US" sz="1500" b="1" spc="300" kern="0" dirty="0">
                <a:solidFill>
                  <a:srgbClr val="01A7C2"/>
                </a:solidFill>
                <a:latin typeface="Calibri" pitchFamily="34" charset="0"/>
                <a:ea typeface="Calibri" pitchFamily="34" charset="-122"/>
                <a:cs typeface="Calibri" pitchFamily="34" charset="-120"/>
              </a:rPr>
              <a:t>PREDICTING DIABETES PREVALENCE</a:t>
            </a:r>
            <a:endParaRPr lang="en-US" sz="1500" dirty="0"/>
          </a:p>
        </p:txBody>
      </p:sp>
      <p:sp>
        <p:nvSpPr>
          <p:cNvPr id="3" name="Text 1"/>
          <p:cNvSpPr txBox="1"/>
          <p:nvPr/>
        </p:nvSpPr>
        <p:spPr>
          <a:xfrm>
            <a:off x="822960" y="2240280"/>
            <a:ext cx="10515600" cy="1097280"/>
          </a:xfrm>
          <a:prstGeom prst="rect">
            <a:avLst/>
          </a:prstGeom>
          <a:noFill/>
          <a:ln/>
        </p:spPr>
        <p:txBody>
          <a:bodyPr wrap="square" lIns="0" tIns="0" rIns="0" bIns="0" rtlCol="0" anchor="ctr"/>
          <a:lstStyle/>
          <a:p>
            <a:pPr indent="0" marL="0">
              <a:buNone/>
            </a:pPr>
            <a:r>
              <a:rPr lang="en-US" sz="4000" b="1" dirty="0">
                <a:solidFill>
                  <a:srgbClr val="FFFFFF"/>
                </a:solidFill>
                <a:latin typeface="Cambria" pitchFamily="34" charset="0"/>
                <a:ea typeface="Cambria" pitchFamily="34" charset="-122"/>
                <a:cs typeface="Cambria" pitchFamily="34" charset="-120"/>
              </a:rPr>
              <a:t>From Neighborhood Health Indicators</a:t>
            </a:r>
            <a:endParaRPr lang="en-US" sz="4000" dirty="0"/>
          </a:p>
        </p:txBody>
      </p:sp>
      <p:sp>
        <p:nvSpPr>
          <p:cNvPr id="4" name="Text 2"/>
          <p:cNvSpPr txBox="1"/>
          <p:nvPr/>
        </p:nvSpPr>
        <p:spPr>
          <a:xfrm>
            <a:off x="822960" y="3337560"/>
            <a:ext cx="9601200" cy="457200"/>
          </a:xfrm>
          <a:prstGeom prst="rect">
            <a:avLst/>
          </a:prstGeom>
          <a:noFill/>
          <a:ln/>
        </p:spPr>
        <p:txBody>
          <a:bodyPr wrap="square" lIns="0" tIns="0" rIns="0" bIns="0" rtlCol="0" anchor="ctr"/>
          <a:lstStyle/>
          <a:p>
            <a:pPr indent="0" marL="0">
              <a:buNone/>
            </a:pPr>
            <a:r>
              <a:rPr lang="en-US" sz="1700" i="1" dirty="0">
                <a:solidFill>
                  <a:srgbClr val="CADCE0"/>
                </a:solidFill>
                <a:latin typeface="Calibri" pitchFamily="34" charset="0"/>
                <a:ea typeface="Calibri" pitchFamily="34" charset="-122"/>
                <a:cs typeface="Calibri" pitchFamily="34" charset="-120"/>
              </a:rPr>
              <a:t>A CDC PLACES census-tract analysis to help target public health outreach</a:t>
            </a:r>
            <a:endParaRPr lang="en-US" sz="1700" dirty="0"/>
          </a:p>
        </p:txBody>
      </p:sp>
      <p:sp>
        <p:nvSpPr>
          <p:cNvPr id="5" name="Shape 3"/>
          <p:cNvSpPr/>
          <p:nvPr/>
        </p:nvSpPr>
        <p:spPr>
          <a:xfrm>
            <a:off x="822960" y="4069080"/>
            <a:ext cx="2926080" cy="0"/>
          </a:xfrm>
          <a:prstGeom prst="line">
            <a:avLst/>
          </a:prstGeom>
          <a:noFill/>
          <a:ln w="25400">
            <a:solidFill>
              <a:srgbClr val="01A7C2"/>
            </a:solidFill>
            <a:prstDash val="solid"/>
          </a:ln>
        </p:spPr>
      </p:sp>
      <p:sp>
        <p:nvSpPr>
          <p:cNvPr id="6" name="Text 4"/>
          <p:cNvSpPr txBox="1"/>
          <p:nvPr/>
        </p:nvSpPr>
        <p:spPr>
          <a:xfrm>
            <a:off x="822960" y="4343400"/>
            <a:ext cx="3291840" cy="365760"/>
          </a:xfrm>
          <a:prstGeom prst="rect">
            <a:avLst/>
          </a:prstGeom>
          <a:noFill/>
          <a:ln/>
        </p:spPr>
        <p:txBody>
          <a:bodyPr wrap="square" lIns="0" tIns="0" rIns="0" bIns="0" rtlCol="0" anchor="ctr"/>
          <a:lstStyle/>
          <a:p>
            <a:pPr indent="0" marL="0">
              <a:buNone/>
            </a:pPr>
            <a:r>
              <a:rPr lang="en-US" sz="1800" b="1" dirty="0">
                <a:solidFill>
                  <a:srgbClr val="FFFFFF"/>
                </a:solidFill>
                <a:latin typeface="Cambria" pitchFamily="34" charset="0"/>
                <a:ea typeface="Cambria" pitchFamily="34" charset="-122"/>
                <a:cs typeface="Cambria" pitchFamily="34" charset="-120"/>
              </a:rPr>
              <a:t>Ali Odah</a:t>
            </a:r>
            <a:endParaRPr lang="en-US" sz="1800" dirty="0"/>
          </a:p>
        </p:txBody>
      </p:sp>
      <p:sp>
        <p:nvSpPr>
          <p:cNvPr id="7" name="Text 5"/>
          <p:cNvSpPr txBox="1"/>
          <p:nvPr/>
        </p:nvSpPr>
        <p:spPr>
          <a:xfrm>
            <a:off x="822960" y="4709160"/>
            <a:ext cx="3291840" cy="320040"/>
          </a:xfrm>
          <a:prstGeom prst="rect">
            <a:avLst/>
          </a:prstGeom>
          <a:noFill/>
          <a:ln/>
        </p:spPr>
        <p:txBody>
          <a:bodyPr wrap="square" lIns="0" tIns="0" rIns="0" bIns="0" rtlCol="0" anchor="ctr"/>
          <a:lstStyle/>
          <a:p>
            <a:pPr indent="0" marL="0">
              <a:buNone/>
            </a:pPr>
            <a:r>
              <a:rPr lang="en-US" sz="1300" dirty="0">
                <a:solidFill>
                  <a:srgbClr val="01A7C2"/>
                </a:solidFill>
                <a:latin typeface="Calibri" pitchFamily="34" charset="0"/>
                <a:ea typeface="Calibri" pitchFamily="34" charset="-122"/>
                <a:cs typeface="Calibri" pitchFamily="34" charset="-120"/>
              </a:rPr>
              <a:t>Data Wrangler</a:t>
            </a:r>
            <a:endParaRPr lang="en-US" sz="1300" dirty="0"/>
          </a:p>
        </p:txBody>
      </p:sp>
      <p:sp>
        <p:nvSpPr>
          <p:cNvPr id="8" name="Text 6"/>
          <p:cNvSpPr txBox="1"/>
          <p:nvPr/>
        </p:nvSpPr>
        <p:spPr>
          <a:xfrm>
            <a:off x="4389120" y="4343400"/>
            <a:ext cx="3291840" cy="365760"/>
          </a:xfrm>
          <a:prstGeom prst="rect">
            <a:avLst/>
          </a:prstGeom>
          <a:noFill/>
          <a:ln/>
        </p:spPr>
        <p:txBody>
          <a:bodyPr wrap="square" lIns="0" tIns="0" rIns="0" bIns="0" rtlCol="0" anchor="ctr"/>
          <a:lstStyle/>
          <a:p>
            <a:pPr indent="0" marL="0">
              <a:buNone/>
            </a:pPr>
            <a:r>
              <a:rPr lang="en-US" sz="1800" b="1" dirty="0">
                <a:solidFill>
                  <a:srgbClr val="FFFFFF"/>
                </a:solidFill>
                <a:latin typeface="Cambria" pitchFamily="34" charset="0"/>
                <a:ea typeface="Cambria" pitchFamily="34" charset="-122"/>
                <a:cs typeface="Cambria" pitchFamily="34" charset="-120"/>
              </a:rPr>
              <a:t>Qossay Shtaiwi</a:t>
            </a:r>
            <a:endParaRPr lang="en-US" sz="1800" dirty="0"/>
          </a:p>
        </p:txBody>
      </p:sp>
      <p:sp>
        <p:nvSpPr>
          <p:cNvPr id="9" name="Text 7"/>
          <p:cNvSpPr txBox="1"/>
          <p:nvPr/>
        </p:nvSpPr>
        <p:spPr>
          <a:xfrm>
            <a:off x="4389120" y="4709160"/>
            <a:ext cx="3291840" cy="320040"/>
          </a:xfrm>
          <a:prstGeom prst="rect">
            <a:avLst/>
          </a:prstGeom>
          <a:noFill/>
          <a:ln/>
        </p:spPr>
        <p:txBody>
          <a:bodyPr wrap="square" lIns="0" tIns="0" rIns="0" bIns="0" rtlCol="0" anchor="ctr"/>
          <a:lstStyle/>
          <a:p>
            <a:pPr indent="0" marL="0">
              <a:buNone/>
            </a:pPr>
            <a:r>
              <a:rPr lang="en-US" sz="1300" dirty="0">
                <a:solidFill>
                  <a:srgbClr val="01A7C2"/>
                </a:solidFill>
                <a:latin typeface="Calibri" pitchFamily="34" charset="0"/>
                <a:ea typeface="Calibri" pitchFamily="34" charset="-122"/>
                <a:cs typeface="Calibri" pitchFamily="34" charset="-120"/>
              </a:rPr>
              <a:t>Analyzer / Visualizer</a:t>
            </a:r>
            <a:endParaRPr lang="en-US" sz="1300" dirty="0"/>
          </a:p>
        </p:txBody>
      </p:sp>
      <p:sp>
        <p:nvSpPr>
          <p:cNvPr id="10" name="Text 8"/>
          <p:cNvSpPr txBox="1"/>
          <p:nvPr/>
        </p:nvSpPr>
        <p:spPr>
          <a:xfrm>
            <a:off x="7955280" y="4343400"/>
            <a:ext cx="3291840" cy="365760"/>
          </a:xfrm>
          <a:prstGeom prst="rect">
            <a:avLst/>
          </a:prstGeom>
          <a:noFill/>
          <a:ln/>
        </p:spPr>
        <p:txBody>
          <a:bodyPr wrap="square" lIns="0" tIns="0" rIns="0" bIns="0" rtlCol="0" anchor="ctr"/>
          <a:lstStyle/>
          <a:p>
            <a:pPr indent="0" marL="0">
              <a:buNone/>
            </a:pPr>
            <a:r>
              <a:rPr lang="en-US" sz="1800" b="1" dirty="0">
                <a:solidFill>
                  <a:srgbClr val="FFFFFF"/>
                </a:solidFill>
                <a:latin typeface="Cambria" pitchFamily="34" charset="0"/>
                <a:ea typeface="Cambria" pitchFamily="34" charset="-122"/>
                <a:cs typeface="Cambria" pitchFamily="34" charset="-120"/>
              </a:rPr>
              <a:t>Salam Odeh</a:t>
            </a:r>
            <a:endParaRPr lang="en-US" sz="1800" dirty="0"/>
          </a:p>
        </p:txBody>
      </p:sp>
      <p:sp>
        <p:nvSpPr>
          <p:cNvPr id="11" name="Text 9"/>
          <p:cNvSpPr txBox="1"/>
          <p:nvPr/>
        </p:nvSpPr>
        <p:spPr>
          <a:xfrm>
            <a:off x="7955280" y="4709160"/>
            <a:ext cx="3291840" cy="320040"/>
          </a:xfrm>
          <a:prstGeom prst="rect">
            <a:avLst/>
          </a:prstGeom>
          <a:noFill/>
          <a:ln/>
        </p:spPr>
        <p:txBody>
          <a:bodyPr wrap="square" lIns="0" tIns="0" rIns="0" bIns="0" rtlCol="0" anchor="ctr"/>
          <a:lstStyle/>
          <a:p>
            <a:pPr indent="0" marL="0">
              <a:buNone/>
            </a:pPr>
            <a:r>
              <a:rPr lang="en-US" sz="1300" dirty="0">
                <a:solidFill>
                  <a:srgbClr val="01A7C2"/>
                </a:solidFill>
                <a:latin typeface="Calibri" pitchFamily="34" charset="0"/>
                <a:ea typeface="Calibri" pitchFamily="34" charset="-122"/>
                <a:cs typeface="Calibri" pitchFamily="34" charset="-120"/>
              </a:rPr>
              <a:t>Modeler</a:t>
            </a:r>
            <a:endParaRPr lang="en-US" sz="1300" dirty="0"/>
          </a:p>
        </p:txBody>
      </p:sp>
      <p:sp>
        <p:nvSpPr>
          <p:cNvPr id="12" name="Text 10"/>
          <p:cNvSpPr txBox="1"/>
          <p:nvPr/>
        </p:nvSpPr>
        <p:spPr>
          <a:xfrm>
            <a:off x="822960" y="6126480"/>
            <a:ext cx="10058400" cy="365760"/>
          </a:xfrm>
          <a:prstGeom prst="rect">
            <a:avLst/>
          </a:prstGeom>
          <a:noFill/>
          <a:ln/>
        </p:spPr>
        <p:txBody>
          <a:bodyPr wrap="square" lIns="0" tIns="0" rIns="0" bIns="0" rtlCol="0" anchor="ctr"/>
          <a:lstStyle/>
          <a:p>
            <a:pPr indent="0" marL="0">
              <a:buNone/>
            </a:pPr>
            <a:r>
              <a:rPr lang="en-US" sz="1200" dirty="0">
                <a:solidFill>
                  <a:srgbClr val="8FA6B3"/>
                </a:solidFill>
                <a:latin typeface="Calibri" pitchFamily="34" charset="0"/>
                <a:ea typeface="Calibri" pitchFamily="34" charset="-122"/>
                <a:cs typeface="Calibri" pitchFamily="34" charset="-120"/>
              </a:rPr>
              <a:t>AXSOS Academy — Introduction to Machine Learning — Final Group Project</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10972800" cy="640080"/>
          </a:xfrm>
          <a:prstGeom prst="rect">
            <a:avLst/>
          </a:prstGeom>
          <a:noFill/>
          <a:ln/>
        </p:spPr>
        <p:txBody>
          <a:bodyPr wrap="square" lIns="0" tIns="0" rIns="0" bIns="0" rtlCol="0" anchor="ctr"/>
          <a:lstStyle/>
          <a:p>
            <a:pPr indent="0" marL="0">
              <a:buNone/>
            </a:pPr>
            <a:r>
              <a:rPr lang="en-US" sz="3200" b="1" dirty="0">
                <a:solidFill>
                  <a:srgbClr val="0B4F6C"/>
                </a:solidFill>
                <a:latin typeface="Cambria" pitchFamily="34" charset="0"/>
                <a:ea typeface="Cambria" pitchFamily="34" charset="-122"/>
                <a:cs typeface="Cambria" pitchFamily="34" charset="-120"/>
              </a:rPr>
              <a:t>The Business Problem</a:t>
            </a:r>
            <a:endParaRPr lang="en-US" sz="3200" dirty="0"/>
          </a:p>
        </p:txBody>
      </p:sp>
      <p:sp>
        <p:nvSpPr>
          <p:cNvPr id="3" name="Text 1"/>
          <p:cNvSpPr txBox="1"/>
          <p:nvPr/>
        </p:nvSpPr>
        <p:spPr>
          <a:xfrm>
            <a:off x="548640" y="1051560"/>
            <a:ext cx="10698480" cy="411480"/>
          </a:xfrm>
          <a:prstGeom prst="rect">
            <a:avLst/>
          </a:prstGeom>
          <a:noFill/>
          <a:ln/>
        </p:spPr>
        <p:txBody>
          <a:bodyPr wrap="square" lIns="0" tIns="0" rIns="0" bIns="0" rtlCol="0" anchor="ctr"/>
          <a:lstStyle/>
          <a:p>
            <a:pPr indent="0" marL="0">
              <a:buNone/>
            </a:pPr>
            <a:r>
              <a:rPr lang="en-US" sz="1500" i="1" dirty="0">
                <a:solidFill>
                  <a:srgbClr val="5B6B73"/>
                </a:solidFill>
                <a:latin typeface="Calibri" pitchFamily="34" charset="0"/>
                <a:ea typeface="Calibri" pitchFamily="34" charset="-122"/>
                <a:cs typeface="Calibri" pitchFamily="34" charset="-120"/>
              </a:rPr>
              <a:t>Where should limited public health resources go first?</a:t>
            </a:r>
            <a:endParaRPr lang="en-US" sz="1500" dirty="0"/>
          </a:p>
        </p:txBody>
      </p:sp>
      <p:sp>
        <p:nvSpPr>
          <p:cNvPr id="4" name="Shape 2"/>
          <p:cNvSpPr/>
          <p:nvPr/>
        </p:nvSpPr>
        <p:spPr>
          <a:xfrm>
            <a:off x="640080" y="1965960"/>
            <a:ext cx="594360" cy="594360"/>
          </a:xfrm>
          <a:prstGeom prst="ellipse">
            <a:avLst/>
          </a:prstGeom>
          <a:solidFill>
            <a:srgbClr val="0B4F6C"/>
          </a:solidFill>
          <a:ln/>
        </p:spPr>
      </p:sp>
      <p:sp>
        <p:nvSpPr>
          <p:cNvPr id="5" name="Text 3"/>
          <p:cNvSpPr txBox="1"/>
          <p:nvPr/>
        </p:nvSpPr>
        <p:spPr>
          <a:xfrm>
            <a:off x="640080" y="1965960"/>
            <a:ext cx="594360" cy="594360"/>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1</a:t>
            </a:r>
            <a:endParaRPr lang="en-US" sz="1400" dirty="0"/>
          </a:p>
        </p:txBody>
      </p:sp>
      <p:sp>
        <p:nvSpPr>
          <p:cNvPr id="6" name="Text 4"/>
          <p:cNvSpPr txBox="1"/>
          <p:nvPr/>
        </p:nvSpPr>
        <p:spPr>
          <a:xfrm>
            <a:off x="1508760" y="1920240"/>
            <a:ext cx="9875520" cy="457200"/>
          </a:xfrm>
          <a:prstGeom prst="rect">
            <a:avLst/>
          </a:prstGeom>
          <a:noFill/>
          <a:ln/>
        </p:spPr>
        <p:txBody>
          <a:bodyPr wrap="square" lIns="0" tIns="0" rIns="0" bIns="0" rtlCol="0" anchor="ctr"/>
          <a:lstStyle/>
          <a:p>
            <a:pPr indent="0" marL="0">
              <a:buNone/>
            </a:pPr>
            <a:r>
              <a:rPr lang="en-US" sz="1900" b="1" dirty="0">
                <a:solidFill>
                  <a:srgbClr val="1B1B1B"/>
                </a:solidFill>
                <a:latin typeface="Cambria" pitchFamily="34" charset="0"/>
                <a:ea typeface="Cambria" pitchFamily="34" charset="-122"/>
                <a:cs typeface="Cambria" pitchFamily="34" charset="-120"/>
              </a:rPr>
              <a:t>Limited budgets, unlimited need</a:t>
            </a:r>
            <a:endParaRPr lang="en-US" sz="1900" dirty="0"/>
          </a:p>
        </p:txBody>
      </p:sp>
      <p:sp>
        <p:nvSpPr>
          <p:cNvPr id="7" name="Text 5"/>
          <p:cNvSpPr txBox="1"/>
          <p:nvPr/>
        </p:nvSpPr>
        <p:spPr>
          <a:xfrm>
            <a:off x="1508760" y="2350008"/>
            <a:ext cx="9875520" cy="640080"/>
          </a:xfrm>
          <a:prstGeom prst="rect">
            <a:avLst/>
          </a:prstGeom>
          <a:noFill/>
          <a:ln/>
        </p:spPr>
        <p:txBody>
          <a:bodyPr wrap="square" lIns="0" tIns="0" rIns="0" bIns="0" rtlCol="0" anchor="ctr"/>
          <a:lstStyle/>
          <a:p>
            <a:pPr indent="0" marL="0">
              <a:buNone/>
            </a:pPr>
            <a:r>
              <a:rPr lang="en-US" sz="1400" dirty="0">
                <a:solidFill>
                  <a:srgbClr val="5B6B73"/>
                </a:solidFill>
                <a:latin typeface="Calibri" pitchFamily="34" charset="0"/>
                <a:ea typeface="Calibri" pitchFamily="34" charset="-122"/>
                <a:cs typeface="Calibri" pitchFamily="34" charset="-120"/>
              </a:rPr>
              <a:t>Public health departments can't run diabetes-prevention programs everywhere at once.</a:t>
            </a:r>
            <a:endParaRPr lang="en-US" sz="1400" dirty="0"/>
          </a:p>
        </p:txBody>
      </p:sp>
      <p:sp>
        <p:nvSpPr>
          <p:cNvPr id="8" name="Shape 6"/>
          <p:cNvSpPr/>
          <p:nvPr/>
        </p:nvSpPr>
        <p:spPr>
          <a:xfrm>
            <a:off x="640080" y="3291840"/>
            <a:ext cx="594360" cy="594360"/>
          </a:xfrm>
          <a:prstGeom prst="ellipse">
            <a:avLst/>
          </a:prstGeom>
          <a:solidFill>
            <a:srgbClr val="01A7C2"/>
          </a:solidFill>
          <a:ln/>
        </p:spPr>
      </p:sp>
      <p:sp>
        <p:nvSpPr>
          <p:cNvPr id="9" name="Text 7"/>
          <p:cNvSpPr txBox="1"/>
          <p:nvPr/>
        </p:nvSpPr>
        <p:spPr>
          <a:xfrm>
            <a:off x="640080" y="3291840"/>
            <a:ext cx="594360" cy="594360"/>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2</a:t>
            </a:r>
            <a:endParaRPr lang="en-US" sz="1400" dirty="0"/>
          </a:p>
        </p:txBody>
      </p:sp>
      <p:sp>
        <p:nvSpPr>
          <p:cNvPr id="10" name="Text 8"/>
          <p:cNvSpPr txBox="1"/>
          <p:nvPr/>
        </p:nvSpPr>
        <p:spPr>
          <a:xfrm>
            <a:off x="1508760" y="3246120"/>
            <a:ext cx="9875520" cy="457200"/>
          </a:xfrm>
          <a:prstGeom prst="rect">
            <a:avLst/>
          </a:prstGeom>
          <a:noFill/>
          <a:ln/>
        </p:spPr>
        <p:txBody>
          <a:bodyPr wrap="square" lIns="0" tIns="0" rIns="0" bIns="0" rtlCol="0" anchor="ctr"/>
          <a:lstStyle/>
          <a:p>
            <a:pPr indent="0" marL="0">
              <a:buNone/>
            </a:pPr>
            <a:r>
              <a:rPr lang="en-US" sz="1900" b="1" dirty="0">
                <a:solidFill>
                  <a:srgbClr val="1B1B1B"/>
                </a:solidFill>
                <a:latin typeface="Cambria" pitchFamily="34" charset="0"/>
                <a:ea typeface="Cambria" pitchFamily="34" charset="-122"/>
                <a:cs typeface="Cambria" pitchFamily="34" charset="-120"/>
              </a:rPr>
              <a:t>A data-driven starting point</a:t>
            </a:r>
            <a:endParaRPr lang="en-US" sz="1900" dirty="0"/>
          </a:p>
        </p:txBody>
      </p:sp>
      <p:sp>
        <p:nvSpPr>
          <p:cNvPr id="11" name="Text 9"/>
          <p:cNvSpPr txBox="1"/>
          <p:nvPr/>
        </p:nvSpPr>
        <p:spPr>
          <a:xfrm>
            <a:off x="1508760" y="3675888"/>
            <a:ext cx="9875520" cy="640080"/>
          </a:xfrm>
          <a:prstGeom prst="rect">
            <a:avLst/>
          </a:prstGeom>
          <a:noFill/>
          <a:ln/>
        </p:spPr>
        <p:txBody>
          <a:bodyPr wrap="square" lIns="0" tIns="0" rIns="0" bIns="0" rtlCol="0" anchor="ctr"/>
          <a:lstStyle/>
          <a:p>
            <a:pPr indent="0" marL="0">
              <a:buNone/>
            </a:pPr>
            <a:r>
              <a:rPr lang="en-US" sz="1400" dirty="0">
                <a:solidFill>
                  <a:srgbClr val="5B6B73"/>
                </a:solidFill>
                <a:latin typeface="Calibri" pitchFamily="34" charset="0"/>
                <a:ea typeface="Calibri" pitchFamily="34" charset="-122"/>
                <a:cs typeface="Calibri" pitchFamily="34" charset="-120"/>
              </a:rPr>
              <a:t>Which neighborhood-level health indicators travel most closely with diabetes prevalence?</a:t>
            </a:r>
            <a:endParaRPr lang="en-US" sz="1400" dirty="0"/>
          </a:p>
        </p:txBody>
      </p:sp>
      <p:sp>
        <p:nvSpPr>
          <p:cNvPr id="12" name="Shape 10"/>
          <p:cNvSpPr/>
          <p:nvPr/>
        </p:nvSpPr>
        <p:spPr>
          <a:xfrm>
            <a:off x="640080" y="4617720"/>
            <a:ext cx="594360" cy="594360"/>
          </a:xfrm>
          <a:prstGeom prst="ellipse">
            <a:avLst/>
          </a:prstGeom>
          <a:solidFill>
            <a:srgbClr val="0B4F6C"/>
          </a:solidFill>
          <a:ln/>
        </p:spPr>
      </p:sp>
      <p:sp>
        <p:nvSpPr>
          <p:cNvPr id="13" name="Text 11"/>
          <p:cNvSpPr txBox="1"/>
          <p:nvPr/>
        </p:nvSpPr>
        <p:spPr>
          <a:xfrm>
            <a:off x="640080" y="4617720"/>
            <a:ext cx="594360" cy="594360"/>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3</a:t>
            </a:r>
            <a:endParaRPr lang="en-US" sz="1400" dirty="0"/>
          </a:p>
        </p:txBody>
      </p:sp>
      <p:sp>
        <p:nvSpPr>
          <p:cNvPr id="14" name="Text 12"/>
          <p:cNvSpPr txBox="1"/>
          <p:nvPr/>
        </p:nvSpPr>
        <p:spPr>
          <a:xfrm>
            <a:off x="1508760" y="4572000"/>
            <a:ext cx="9875520" cy="457200"/>
          </a:xfrm>
          <a:prstGeom prst="rect">
            <a:avLst/>
          </a:prstGeom>
          <a:noFill/>
          <a:ln/>
        </p:spPr>
        <p:txBody>
          <a:bodyPr wrap="square" lIns="0" tIns="0" rIns="0" bIns="0" rtlCol="0" anchor="ctr"/>
          <a:lstStyle/>
          <a:p>
            <a:pPr indent="0" marL="0">
              <a:buNone/>
            </a:pPr>
            <a:r>
              <a:rPr lang="en-US" sz="1900" b="1" dirty="0">
                <a:solidFill>
                  <a:srgbClr val="1B1B1B"/>
                </a:solidFill>
                <a:latin typeface="Cambria" pitchFamily="34" charset="0"/>
                <a:ea typeface="Cambria" pitchFamily="34" charset="-122"/>
                <a:cs typeface="Cambria" pitchFamily="34" charset="-120"/>
              </a:rPr>
              <a:t>The goal</a:t>
            </a:r>
            <a:endParaRPr lang="en-US" sz="1900" dirty="0"/>
          </a:p>
        </p:txBody>
      </p:sp>
      <p:sp>
        <p:nvSpPr>
          <p:cNvPr id="15" name="Text 13"/>
          <p:cNvSpPr txBox="1"/>
          <p:nvPr/>
        </p:nvSpPr>
        <p:spPr>
          <a:xfrm>
            <a:off x="1508760" y="5001768"/>
            <a:ext cx="9875520" cy="640080"/>
          </a:xfrm>
          <a:prstGeom prst="rect">
            <a:avLst/>
          </a:prstGeom>
          <a:noFill/>
          <a:ln/>
        </p:spPr>
        <p:txBody>
          <a:bodyPr wrap="square" lIns="0" tIns="0" rIns="0" bIns="0" rtlCol="0" anchor="ctr"/>
          <a:lstStyle/>
          <a:p>
            <a:pPr indent="0" marL="0">
              <a:buNone/>
            </a:pPr>
            <a:r>
              <a:rPr lang="en-US" sz="1400" dirty="0">
                <a:solidFill>
                  <a:srgbClr val="5B6B73"/>
                </a:solidFill>
                <a:latin typeface="Calibri" pitchFamily="34" charset="0"/>
                <a:ea typeface="Calibri" pitchFamily="34" charset="-122"/>
                <a:cs typeface="Calibri" pitchFamily="34" charset="-120"/>
              </a:rPr>
              <a:t>Use that association to help prioritize where screening, prevention, and outreach go first — not to diagnose individuals.</a:t>
            </a:r>
            <a:endParaRPr lang="en-US" sz="1400" dirty="0"/>
          </a:p>
        </p:txBody>
      </p:sp>
      <p:sp>
        <p:nvSpPr>
          <p:cNvPr id="16" name="Text 14"/>
          <p:cNvSpPr txBox="1"/>
          <p:nvPr/>
        </p:nvSpPr>
        <p:spPr>
          <a:xfrm>
            <a:off x="457200" y="6537960"/>
            <a:ext cx="5486400" cy="274320"/>
          </a:xfrm>
          <a:prstGeom prst="rect">
            <a:avLst/>
          </a:prstGeom>
          <a:noFill/>
          <a:ln/>
        </p:spPr>
        <p:txBody>
          <a:bodyPr wrap="square" lIns="0" tIns="0" rIns="0" bIns="0" rtlCol="0" anchor="ctr"/>
          <a:lstStyle/>
          <a:p>
            <a:pPr indent="0" marL="0">
              <a:buNone/>
            </a:pPr>
            <a:r>
              <a:rPr lang="en-US" sz="1000" dirty="0">
                <a:solidFill>
                  <a:srgbClr val="5B6B73"/>
                </a:solidFill>
                <a:latin typeface="Calibri" pitchFamily="34" charset="0"/>
                <a:ea typeface="Calibri" pitchFamily="34" charset="-122"/>
                <a:cs typeface="Calibri" pitchFamily="34" charset="-120"/>
              </a:rPr>
              <a:t>Business Problem</a:t>
            </a:r>
            <a:endParaRPr lang="en-US" sz="1000" dirty="0"/>
          </a:p>
        </p:txBody>
      </p:sp>
      <p:sp>
        <p:nvSpPr>
          <p:cNvPr id="17" name="Text 15"/>
          <p:cNvSpPr txBox="1"/>
          <p:nvPr/>
        </p:nvSpPr>
        <p:spPr>
          <a:xfrm>
            <a:off x="11274552" y="6537960"/>
            <a:ext cx="457200" cy="274320"/>
          </a:xfrm>
          <a:prstGeom prst="rect">
            <a:avLst/>
          </a:prstGeom>
          <a:noFill/>
          <a:ln/>
        </p:spPr>
        <p:txBody>
          <a:bodyPr wrap="square" lIns="0" tIns="0" rIns="0" bIns="0" rtlCol="0" anchor="ctr"/>
          <a:lstStyle/>
          <a:p>
            <a:pPr algn="r" indent="0" marL="0">
              <a:buNone/>
            </a:pPr>
            <a:r>
              <a:rPr lang="en-US" sz="1000" dirty="0">
                <a:solidFill>
                  <a:srgbClr val="5B6B73"/>
                </a:solidFill>
                <a:latin typeface="Calibri" pitchFamily="34" charset="0"/>
                <a:ea typeface="Calibri" pitchFamily="34" charset="-122"/>
                <a:cs typeface="Calibri" pitchFamily="34" charset="-120"/>
              </a:rPr>
              <a:t>2</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5F9FA"/>
        </a:solidFill>
      </p:bgPr>
    </p:bg>
    <p:spTree>
      <p:nvGrpSpPr>
        <p:cNvPr id="1" name=""/>
        <p:cNvGrpSpPr/>
        <p:nvPr/>
      </p:nvGrpSpPr>
      <p:grpSpPr>
        <a:xfrm>
          <a:off x="0" y="0"/>
          <a:ext cx="0" cy="0"/>
          <a:chOff x="0" y="0"/>
          <a:chExt cx="0" cy="0"/>
        </a:xfrm>
      </p:grpSpPr>
      <p:sp>
        <p:nvSpPr>
          <p:cNvPr id="2" name="Text 0"/>
          <p:cNvSpPr txBox="1"/>
          <p:nvPr/>
        </p:nvSpPr>
        <p:spPr>
          <a:xfrm>
            <a:off x="548640" y="411480"/>
            <a:ext cx="10972800" cy="640080"/>
          </a:xfrm>
          <a:prstGeom prst="rect">
            <a:avLst/>
          </a:prstGeom>
          <a:noFill/>
          <a:ln/>
        </p:spPr>
        <p:txBody>
          <a:bodyPr wrap="square" lIns="0" tIns="0" rIns="0" bIns="0" rtlCol="0" anchor="ctr"/>
          <a:lstStyle/>
          <a:p>
            <a:pPr indent="0" marL="0">
              <a:buNone/>
            </a:pPr>
            <a:r>
              <a:rPr lang="en-US" sz="3200" b="1" dirty="0">
                <a:solidFill>
                  <a:srgbClr val="0B4F6C"/>
                </a:solidFill>
                <a:latin typeface="Cambria" pitchFamily="34" charset="0"/>
                <a:ea typeface="Cambria" pitchFamily="34" charset="-122"/>
                <a:cs typeface="Cambria" pitchFamily="34" charset="-120"/>
              </a:rPr>
              <a:t>The Dataset: CDC PLACES</a:t>
            </a:r>
            <a:endParaRPr lang="en-US" sz="3200" dirty="0"/>
          </a:p>
        </p:txBody>
      </p:sp>
      <p:sp>
        <p:nvSpPr>
          <p:cNvPr id="3" name="Text 1"/>
          <p:cNvSpPr txBox="1"/>
          <p:nvPr/>
        </p:nvSpPr>
        <p:spPr>
          <a:xfrm>
            <a:off x="548640" y="1051560"/>
            <a:ext cx="10698480" cy="411480"/>
          </a:xfrm>
          <a:prstGeom prst="rect">
            <a:avLst/>
          </a:prstGeom>
          <a:noFill/>
          <a:ln/>
        </p:spPr>
        <p:txBody>
          <a:bodyPr wrap="square" lIns="0" tIns="0" rIns="0" bIns="0" rtlCol="0" anchor="ctr"/>
          <a:lstStyle/>
          <a:p>
            <a:pPr indent="0" marL="0">
              <a:buNone/>
            </a:pPr>
            <a:r>
              <a:rPr lang="en-US" sz="1500" i="1" dirty="0">
                <a:solidFill>
                  <a:srgbClr val="5B6B73"/>
                </a:solidFill>
                <a:latin typeface="Calibri" pitchFamily="34" charset="0"/>
                <a:ea typeface="Calibri" pitchFamily="34" charset="-122"/>
                <a:cs typeface="Calibri" pitchFamily="34" charset="-120"/>
              </a:rPr>
              <a:t>Local Data for Better Health — Census Tract Data, 2024 release</a:t>
            </a:r>
            <a:endParaRPr lang="en-US" sz="1500" dirty="0"/>
          </a:p>
        </p:txBody>
      </p:sp>
      <p:sp>
        <p:nvSpPr>
          <p:cNvPr id="4" name="Shape 2"/>
          <p:cNvSpPr/>
          <p:nvPr/>
        </p:nvSpPr>
        <p:spPr>
          <a:xfrm>
            <a:off x="548640" y="1691640"/>
            <a:ext cx="2514600" cy="1737360"/>
          </a:xfrm>
          <a:prstGeom prst="roundRect">
            <a:avLst>
              <a:gd name="adj" fmla="val 4211"/>
            </a:avLst>
          </a:prstGeom>
          <a:solidFill>
            <a:srgbClr val="FFFFFF"/>
          </a:solidFill>
          <a:ln w="12700">
            <a:solidFill>
              <a:srgbClr val="DCE6E9"/>
            </a:solidFill>
            <a:prstDash val="solid"/>
          </a:ln>
          <a:effectLst>
            <a:outerShdw sx="100000" sy="100000" kx="0" ky="0" algn="bl" rotWithShape="0" blurRad="76200" dist="25400" dir="5400000">
              <a:srgbClr val="000000">
                <a:alpha val="12000"/>
              </a:srgbClr>
            </a:outerShdw>
          </a:effectLst>
        </p:spPr>
      </p:sp>
      <p:sp>
        <p:nvSpPr>
          <p:cNvPr id="5" name="Text 3"/>
          <p:cNvSpPr txBox="1"/>
          <p:nvPr/>
        </p:nvSpPr>
        <p:spPr>
          <a:xfrm>
            <a:off x="548640" y="1828800"/>
            <a:ext cx="2514600" cy="777240"/>
          </a:xfrm>
          <a:prstGeom prst="rect">
            <a:avLst/>
          </a:prstGeom>
          <a:noFill/>
          <a:ln/>
        </p:spPr>
        <p:txBody>
          <a:bodyPr wrap="square" lIns="0" tIns="0" rIns="0" bIns="0" rtlCol="0" anchor="b"/>
          <a:lstStyle/>
          <a:p>
            <a:pPr algn="ctr" indent="0" marL="0">
              <a:buNone/>
            </a:pPr>
            <a:r>
              <a:rPr lang="en-US" sz="3400" b="1" dirty="0">
                <a:solidFill>
                  <a:srgbClr val="01A7C2"/>
                </a:solidFill>
                <a:latin typeface="Cambria" pitchFamily="34" charset="0"/>
                <a:ea typeface="Cambria" pitchFamily="34" charset="-122"/>
                <a:cs typeface="Cambria" pitchFamily="34" charset="-120"/>
              </a:rPr>
              <a:t>36,242</a:t>
            </a:r>
            <a:endParaRPr lang="en-US" sz="3400" dirty="0"/>
          </a:p>
        </p:txBody>
      </p:sp>
      <p:sp>
        <p:nvSpPr>
          <p:cNvPr id="6" name="Text 4"/>
          <p:cNvSpPr txBox="1"/>
          <p:nvPr/>
        </p:nvSpPr>
        <p:spPr>
          <a:xfrm>
            <a:off x="685800" y="2606040"/>
            <a:ext cx="2240280" cy="731520"/>
          </a:xfrm>
          <a:prstGeom prst="rect">
            <a:avLst/>
          </a:prstGeom>
          <a:noFill/>
          <a:ln/>
        </p:spPr>
        <p:txBody>
          <a:bodyPr wrap="square" lIns="0" tIns="0" rIns="0" bIns="0" rtlCol="0" anchor="t"/>
          <a:lstStyle/>
          <a:p>
            <a:pPr algn="ctr" indent="0" marL="0">
              <a:buNone/>
            </a:pPr>
            <a:r>
              <a:rPr lang="en-US" sz="1250" dirty="0">
                <a:solidFill>
                  <a:srgbClr val="5B6B73"/>
                </a:solidFill>
                <a:latin typeface="Calibri" pitchFamily="34" charset="0"/>
                <a:ea typeface="Calibri" pitchFamily="34" charset="-122"/>
                <a:cs typeface="Calibri" pitchFamily="34" charset="-120"/>
              </a:rPr>
              <a:t>Census tracts</a:t>
            </a:r>
            <a:endParaRPr lang="en-US" sz="1250" dirty="0"/>
          </a:p>
          <a:p>
            <a:pPr algn="ctr" indent="0" marL="0">
              <a:buNone/>
            </a:pPr>
            <a:r>
              <a:rPr lang="en-US" sz="1250" dirty="0">
                <a:solidFill>
                  <a:srgbClr val="5B6B73"/>
                </a:solidFill>
                <a:latin typeface="Calibri" pitchFamily="34" charset="0"/>
                <a:ea typeface="Calibri" pitchFamily="34" charset="-122"/>
                <a:cs typeface="Calibri" pitchFamily="34" charset="-120"/>
              </a:rPr>
              <a:t>(raw export)</a:t>
            </a:r>
            <a:endParaRPr lang="en-US" sz="1250" dirty="0"/>
          </a:p>
        </p:txBody>
      </p:sp>
      <p:sp>
        <p:nvSpPr>
          <p:cNvPr id="7" name="Shape 5"/>
          <p:cNvSpPr/>
          <p:nvPr/>
        </p:nvSpPr>
        <p:spPr>
          <a:xfrm>
            <a:off x="3291840" y="1691640"/>
            <a:ext cx="2514600" cy="1737360"/>
          </a:xfrm>
          <a:prstGeom prst="roundRect">
            <a:avLst>
              <a:gd name="adj" fmla="val 4211"/>
            </a:avLst>
          </a:prstGeom>
          <a:solidFill>
            <a:srgbClr val="FFFFFF"/>
          </a:solidFill>
          <a:ln w="12700">
            <a:solidFill>
              <a:srgbClr val="DCE6E9"/>
            </a:solidFill>
            <a:prstDash val="solid"/>
          </a:ln>
          <a:effectLst>
            <a:outerShdw sx="100000" sy="100000" kx="0" ky="0" algn="bl" rotWithShape="0" blurRad="76200" dist="25400" dir="5400000">
              <a:srgbClr val="000000">
                <a:alpha val="12000"/>
              </a:srgbClr>
            </a:outerShdw>
          </a:effectLst>
        </p:spPr>
      </p:sp>
      <p:sp>
        <p:nvSpPr>
          <p:cNvPr id="8" name="Text 6"/>
          <p:cNvSpPr txBox="1"/>
          <p:nvPr/>
        </p:nvSpPr>
        <p:spPr>
          <a:xfrm>
            <a:off x="3291840" y="1828800"/>
            <a:ext cx="2514600" cy="777240"/>
          </a:xfrm>
          <a:prstGeom prst="rect">
            <a:avLst/>
          </a:prstGeom>
          <a:noFill/>
          <a:ln/>
        </p:spPr>
        <p:txBody>
          <a:bodyPr wrap="square" lIns="0" tIns="0" rIns="0" bIns="0" rtlCol="0" anchor="b"/>
          <a:lstStyle/>
          <a:p>
            <a:pPr algn="ctr" indent="0" marL="0">
              <a:buNone/>
            </a:pPr>
            <a:r>
              <a:rPr lang="en-US" sz="3400" b="1" dirty="0">
                <a:solidFill>
                  <a:srgbClr val="01A7C2"/>
                </a:solidFill>
                <a:latin typeface="Cambria" pitchFamily="34" charset="0"/>
                <a:ea typeface="Cambria" pitchFamily="34" charset="-122"/>
                <a:cs typeface="Cambria" pitchFamily="34" charset="-120"/>
              </a:rPr>
              <a:t>40</a:t>
            </a:r>
            <a:endParaRPr lang="en-US" sz="3400" dirty="0"/>
          </a:p>
        </p:txBody>
      </p:sp>
      <p:sp>
        <p:nvSpPr>
          <p:cNvPr id="9" name="Text 7"/>
          <p:cNvSpPr txBox="1"/>
          <p:nvPr/>
        </p:nvSpPr>
        <p:spPr>
          <a:xfrm>
            <a:off x="3429000" y="2606040"/>
            <a:ext cx="2240280" cy="731520"/>
          </a:xfrm>
          <a:prstGeom prst="rect">
            <a:avLst/>
          </a:prstGeom>
          <a:noFill/>
          <a:ln/>
        </p:spPr>
        <p:txBody>
          <a:bodyPr wrap="square" lIns="0" tIns="0" rIns="0" bIns="0" rtlCol="0" anchor="t"/>
          <a:lstStyle/>
          <a:p>
            <a:pPr algn="ctr" indent="0" marL="0">
              <a:buNone/>
            </a:pPr>
            <a:r>
              <a:rPr lang="en-US" sz="1250" dirty="0">
                <a:solidFill>
                  <a:srgbClr val="5B6B73"/>
                </a:solidFill>
                <a:latin typeface="Calibri" pitchFamily="34" charset="0"/>
                <a:ea typeface="Calibri" pitchFamily="34" charset="-122"/>
                <a:cs typeface="Calibri" pitchFamily="34" charset="-120"/>
              </a:rPr>
              <a:t>Health measures</a:t>
            </a:r>
            <a:endParaRPr lang="en-US" sz="1250" dirty="0"/>
          </a:p>
          <a:p>
            <a:pPr algn="ctr" indent="0" marL="0">
              <a:buNone/>
            </a:pPr>
            <a:r>
              <a:rPr lang="en-US" sz="1250" dirty="0">
                <a:solidFill>
                  <a:srgbClr val="5B6B73"/>
                </a:solidFill>
                <a:latin typeface="Calibri" pitchFamily="34" charset="0"/>
                <a:ea typeface="Calibri" pitchFamily="34" charset="-122"/>
                <a:cs typeface="Calibri" pitchFamily="34" charset="-120"/>
              </a:rPr>
              <a:t>per tract</a:t>
            </a:r>
            <a:endParaRPr lang="en-US" sz="1250" dirty="0"/>
          </a:p>
        </p:txBody>
      </p:sp>
      <p:sp>
        <p:nvSpPr>
          <p:cNvPr id="10" name="Shape 8"/>
          <p:cNvSpPr/>
          <p:nvPr/>
        </p:nvSpPr>
        <p:spPr>
          <a:xfrm>
            <a:off x="6035040" y="1691640"/>
            <a:ext cx="2514600" cy="1737360"/>
          </a:xfrm>
          <a:prstGeom prst="roundRect">
            <a:avLst>
              <a:gd name="adj" fmla="val 4211"/>
            </a:avLst>
          </a:prstGeom>
          <a:solidFill>
            <a:srgbClr val="FFFFFF"/>
          </a:solidFill>
          <a:ln w="12700">
            <a:solidFill>
              <a:srgbClr val="DCE6E9"/>
            </a:solidFill>
            <a:prstDash val="solid"/>
          </a:ln>
          <a:effectLst>
            <a:outerShdw sx="100000" sy="100000" kx="0" ky="0" algn="bl" rotWithShape="0" blurRad="76200" dist="25400" dir="5400000">
              <a:srgbClr val="000000">
                <a:alpha val="12000"/>
              </a:srgbClr>
            </a:outerShdw>
          </a:effectLst>
        </p:spPr>
      </p:sp>
      <p:sp>
        <p:nvSpPr>
          <p:cNvPr id="11" name="Text 9"/>
          <p:cNvSpPr txBox="1"/>
          <p:nvPr/>
        </p:nvSpPr>
        <p:spPr>
          <a:xfrm>
            <a:off x="6035040" y="1828800"/>
            <a:ext cx="2514600" cy="777240"/>
          </a:xfrm>
          <a:prstGeom prst="rect">
            <a:avLst/>
          </a:prstGeom>
          <a:noFill/>
          <a:ln/>
        </p:spPr>
        <p:txBody>
          <a:bodyPr wrap="square" lIns="0" tIns="0" rIns="0" bIns="0" rtlCol="0" anchor="b"/>
          <a:lstStyle/>
          <a:p>
            <a:pPr algn="ctr" indent="0" marL="0">
              <a:buNone/>
            </a:pPr>
            <a:r>
              <a:rPr lang="en-US" sz="3400" b="1" dirty="0">
                <a:solidFill>
                  <a:srgbClr val="01A7C2"/>
                </a:solidFill>
                <a:latin typeface="Cambria" pitchFamily="34" charset="0"/>
                <a:ea typeface="Cambria" pitchFamily="34" charset="-122"/>
                <a:cs typeface="Cambria" pitchFamily="34" charset="-120"/>
              </a:rPr>
              <a:t>33</a:t>
            </a:r>
            <a:endParaRPr lang="en-US" sz="3400" dirty="0"/>
          </a:p>
        </p:txBody>
      </p:sp>
      <p:sp>
        <p:nvSpPr>
          <p:cNvPr id="12" name="Text 10"/>
          <p:cNvSpPr txBox="1"/>
          <p:nvPr/>
        </p:nvSpPr>
        <p:spPr>
          <a:xfrm>
            <a:off x="6172200" y="2606040"/>
            <a:ext cx="2240280" cy="731520"/>
          </a:xfrm>
          <a:prstGeom prst="rect">
            <a:avLst/>
          </a:prstGeom>
          <a:noFill/>
          <a:ln/>
        </p:spPr>
        <p:txBody>
          <a:bodyPr wrap="square" lIns="0" tIns="0" rIns="0" bIns="0" rtlCol="0" anchor="t"/>
          <a:lstStyle/>
          <a:p>
            <a:pPr algn="ctr" indent="0" marL="0">
              <a:buNone/>
            </a:pPr>
            <a:r>
              <a:rPr lang="en-US" sz="1250" dirty="0">
                <a:solidFill>
                  <a:srgbClr val="5B6B73"/>
                </a:solidFill>
                <a:latin typeface="Calibri" pitchFamily="34" charset="0"/>
                <a:ea typeface="Calibri" pitchFamily="34" charset="-122"/>
                <a:cs typeface="Calibri" pitchFamily="34" charset="-120"/>
              </a:rPr>
              <a:t>States in raw</a:t>
            </a:r>
            <a:endParaRPr lang="en-US" sz="1250" dirty="0"/>
          </a:p>
          <a:p>
            <a:pPr algn="ctr" indent="0" marL="0">
              <a:buNone/>
            </a:pPr>
            <a:r>
              <a:rPr lang="en-US" sz="1250" dirty="0">
                <a:solidFill>
                  <a:srgbClr val="5B6B73"/>
                </a:solidFill>
                <a:latin typeface="Calibri" pitchFamily="34" charset="0"/>
                <a:ea typeface="Calibri" pitchFamily="34" charset="-122"/>
                <a:cs typeface="Calibri" pitchFamily="34" charset="-120"/>
              </a:rPr>
              <a:t>export</a:t>
            </a:r>
            <a:endParaRPr lang="en-US" sz="1250" dirty="0"/>
          </a:p>
        </p:txBody>
      </p:sp>
      <p:sp>
        <p:nvSpPr>
          <p:cNvPr id="13" name="Shape 11"/>
          <p:cNvSpPr/>
          <p:nvPr/>
        </p:nvSpPr>
        <p:spPr>
          <a:xfrm>
            <a:off x="8778240" y="1691640"/>
            <a:ext cx="2514600" cy="1737360"/>
          </a:xfrm>
          <a:prstGeom prst="roundRect">
            <a:avLst>
              <a:gd name="adj" fmla="val 4211"/>
            </a:avLst>
          </a:prstGeom>
          <a:solidFill>
            <a:srgbClr val="FFFFFF"/>
          </a:solidFill>
          <a:ln w="12700">
            <a:solidFill>
              <a:srgbClr val="DCE6E9"/>
            </a:solidFill>
            <a:prstDash val="solid"/>
          </a:ln>
          <a:effectLst>
            <a:outerShdw sx="100000" sy="100000" kx="0" ky="0" algn="bl" rotWithShape="0" blurRad="76200" dist="25400" dir="5400000">
              <a:srgbClr val="000000">
                <a:alpha val="12000"/>
              </a:srgbClr>
            </a:outerShdw>
          </a:effectLst>
        </p:spPr>
      </p:sp>
      <p:sp>
        <p:nvSpPr>
          <p:cNvPr id="14" name="Text 12"/>
          <p:cNvSpPr txBox="1"/>
          <p:nvPr/>
        </p:nvSpPr>
        <p:spPr>
          <a:xfrm>
            <a:off x="8778240" y="1828800"/>
            <a:ext cx="2514600" cy="777240"/>
          </a:xfrm>
          <a:prstGeom prst="rect">
            <a:avLst/>
          </a:prstGeom>
          <a:noFill/>
          <a:ln/>
        </p:spPr>
        <p:txBody>
          <a:bodyPr wrap="square" lIns="0" tIns="0" rIns="0" bIns="0" rtlCol="0" anchor="b"/>
          <a:lstStyle/>
          <a:p>
            <a:pPr algn="ctr" indent="0" marL="0">
              <a:buNone/>
            </a:pPr>
            <a:r>
              <a:rPr lang="en-US" sz="3400" b="1" dirty="0">
                <a:solidFill>
                  <a:srgbClr val="01A7C2"/>
                </a:solidFill>
                <a:latin typeface="Cambria" pitchFamily="34" charset="0"/>
                <a:ea typeface="Cambria" pitchFamily="34" charset="-122"/>
                <a:cs typeface="Cambria" pitchFamily="34" charset="-120"/>
              </a:rPr>
              <a:t>6</a:t>
            </a:r>
            <a:endParaRPr lang="en-US" sz="3400" dirty="0"/>
          </a:p>
        </p:txBody>
      </p:sp>
      <p:sp>
        <p:nvSpPr>
          <p:cNvPr id="15" name="Text 13"/>
          <p:cNvSpPr txBox="1"/>
          <p:nvPr/>
        </p:nvSpPr>
        <p:spPr>
          <a:xfrm>
            <a:off x="8915400" y="2606040"/>
            <a:ext cx="2240280" cy="731520"/>
          </a:xfrm>
          <a:prstGeom prst="rect">
            <a:avLst/>
          </a:prstGeom>
          <a:noFill/>
          <a:ln/>
        </p:spPr>
        <p:txBody>
          <a:bodyPr wrap="square" lIns="0" tIns="0" rIns="0" bIns="0" rtlCol="0" anchor="t"/>
          <a:lstStyle/>
          <a:p>
            <a:pPr algn="ctr" indent="0" marL="0">
              <a:buNone/>
            </a:pPr>
            <a:r>
              <a:rPr lang="en-US" sz="1250" dirty="0">
                <a:solidFill>
                  <a:srgbClr val="5B6B73"/>
                </a:solidFill>
                <a:latin typeface="Calibri" pitchFamily="34" charset="0"/>
                <a:ea typeface="Calibri" pitchFamily="34" charset="-122"/>
                <a:cs typeface="Calibri" pitchFamily="34" charset="-120"/>
              </a:rPr>
              <a:t>Measure</a:t>
            </a:r>
            <a:endParaRPr lang="en-US" sz="1250" dirty="0"/>
          </a:p>
          <a:p>
            <a:pPr algn="ctr" indent="0" marL="0">
              <a:buNone/>
            </a:pPr>
            <a:r>
              <a:rPr lang="en-US" sz="1250" dirty="0">
                <a:solidFill>
                  <a:srgbClr val="5B6B73"/>
                </a:solidFill>
                <a:latin typeface="Calibri" pitchFamily="34" charset="0"/>
                <a:ea typeface="Calibri" pitchFamily="34" charset="-122"/>
                <a:cs typeface="Calibri" pitchFamily="34" charset="-120"/>
              </a:rPr>
              <a:t>categories</a:t>
            </a:r>
            <a:endParaRPr lang="en-US" sz="1250" dirty="0"/>
          </a:p>
        </p:txBody>
      </p:sp>
      <p:sp>
        <p:nvSpPr>
          <p:cNvPr id="16" name="Text 14"/>
          <p:cNvSpPr txBox="1"/>
          <p:nvPr/>
        </p:nvSpPr>
        <p:spPr>
          <a:xfrm>
            <a:off x="548640" y="3703320"/>
            <a:ext cx="3657600" cy="365760"/>
          </a:xfrm>
          <a:prstGeom prst="rect">
            <a:avLst/>
          </a:prstGeom>
          <a:noFill/>
          <a:ln/>
        </p:spPr>
        <p:txBody>
          <a:bodyPr wrap="square" lIns="0" tIns="0" rIns="0" bIns="0" rtlCol="0" anchor="ctr"/>
          <a:lstStyle/>
          <a:p>
            <a:pPr indent="0" marL="0">
              <a:buNone/>
            </a:pPr>
            <a:r>
              <a:rPr lang="en-US" sz="1500" b="1" dirty="0">
                <a:solidFill>
                  <a:srgbClr val="1B1B1B"/>
                </a:solidFill>
                <a:latin typeface="Cambria" pitchFamily="34" charset="0"/>
                <a:ea typeface="Cambria" pitchFamily="34" charset="-122"/>
                <a:cs typeface="Cambria" pitchFamily="34" charset="-120"/>
              </a:rPr>
              <a:t>Six measure categories:</a:t>
            </a:r>
            <a:endParaRPr lang="en-US" sz="1500" dirty="0"/>
          </a:p>
        </p:txBody>
      </p:sp>
      <p:sp>
        <p:nvSpPr>
          <p:cNvPr id="17" name="Text 15"/>
          <p:cNvSpPr txBox="1"/>
          <p:nvPr/>
        </p:nvSpPr>
        <p:spPr>
          <a:xfrm>
            <a:off x="548640" y="4114800"/>
            <a:ext cx="5394960" cy="411480"/>
          </a:xfrm>
          <a:prstGeom prst="rect">
            <a:avLst/>
          </a:prstGeom>
          <a:noFill/>
          <a:ln/>
        </p:spPr>
        <p:txBody>
          <a:bodyPr wrap="square" lIns="0" tIns="0" rIns="0" bIns="0" rtlCol="0" anchor="ctr"/>
          <a:lstStyle/>
          <a:p>
            <a:pPr marL="342900" indent="-342900">
              <a:buSzPct val="100000"/>
              <a:buChar char="•"/>
            </a:pPr>
            <a:r>
              <a:rPr lang="en-US" sz="1300" dirty="0">
                <a:solidFill>
                  <a:srgbClr val="1B1B1B"/>
                </a:solidFill>
                <a:latin typeface="Calibri" pitchFamily="34" charset="0"/>
                <a:ea typeface="Calibri" pitchFamily="34" charset="-122"/>
                <a:cs typeface="Calibri" pitchFamily="34" charset="-120"/>
              </a:rPr>
              <a:t>Health Outcomes (diabetes, stroke, arthritis...)</a:t>
            </a:r>
            <a:endParaRPr lang="en-US" sz="1300" dirty="0"/>
          </a:p>
        </p:txBody>
      </p:sp>
      <p:sp>
        <p:nvSpPr>
          <p:cNvPr id="18" name="Text 16"/>
          <p:cNvSpPr txBox="1"/>
          <p:nvPr/>
        </p:nvSpPr>
        <p:spPr>
          <a:xfrm>
            <a:off x="6126480" y="4114800"/>
            <a:ext cx="5394960" cy="411480"/>
          </a:xfrm>
          <a:prstGeom prst="rect">
            <a:avLst/>
          </a:prstGeom>
          <a:noFill/>
          <a:ln/>
        </p:spPr>
        <p:txBody>
          <a:bodyPr wrap="square" lIns="0" tIns="0" rIns="0" bIns="0" rtlCol="0" anchor="ctr"/>
          <a:lstStyle/>
          <a:p>
            <a:pPr marL="342900" indent="-342900">
              <a:buSzPct val="100000"/>
              <a:buChar char="•"/>
            </a:pPr>
            <a:r>
              <a:rPr lang="en-US" sz="1300" dirty="0">
                <a:solidFill>
                  <a:srgbClr val="1B1B1B"/>
                </a:solidFill>
                <a:latin typeface="Calibri" pitchFamily="34" charset="0"/>
                <a:ea typeface="Calibri" pitchFamily="34" charset="-122"/>
                <a:cs typeface="Calibri" pitchFamily="34" charset="-120"/>
              </a:rPr>
              <a:t>Prevention (checkups, screenings)</a:t>
            </a:r>
            <a:endParaRPr lang="en-US" sz="1300" dirty="0"/>
          </a:p>
        </p:txBody>
      </p:sp>
      <p:sp>
        <p:nvSpPr>
          <p:cNvPr id="19" name="Text 17"/>
          <p:cNvSpPr txBox="1"/>
          <p:nvPr/>
        </p:nvSpPr>
        <p:spPr>
          <a:xfrm>
            <a:off x="548640" y="4572000"/>
            <a:ext cx="5394960" cy="411480"/>
          </a:xfrm>
          <a:prstGeom prst="rect">
            <a:avLst/>
          </a:prstGeom>
          <a:noFill/>
          <a:ln/>
        </p:spPr>
        <p:txBody>
          <a:bodyPr wrap="square" lIns="0" tIns="0" rIns="0" bIns="0" rtlCol="0" anchor="ctr"/>
          <a:lstStyle/>
          <a:p>
            <a:pPr marL="342900" indent="-342900">
              <a:buSzPct val="100000"/>
              <a:buChar char="•"/>
            </a:pPr>
            <a:r>
              <a:rPr lang="en-US" sz="1300" dirty="0">
                <a:solidFill>
                  <a:srgbClr val="1B1B1B"/>
                </a:solidFill>
                <a:latin typeface="Calibri" pitchFamily="34" charset="0"/>
                <a:ea typeface="Calibri" pitchFamily="34" charset="-122"/>
                <a:cs typeface="Calibri" pitchFamily="34" charset="-120"/>
              </a:rPr>
              <a:t>Health Risk Behaviors (smoking, inactivity)</a:t>
            </a:r>
            <a:endParaRPr lang="en-US" sz="1300" dirty="0"/>
          </a:p>
        </p:txBody>
      </p:sp>
      <p:sp>
        <p:nvSpPr>
          <p:cNvPr id="20" name="Text 18"/>
          <p:cNvSpPr txBox="1"/>
          <p:nvPr/>
        </p:nvSpPr>
        <p:spPr>
          <a:xfrm>
            <a:off x="6126480" y="4572000"/>
            <a:ext cx="5394960" cy="411480"/>
          </a:xfrm>
          <a:prstGeom prst="rect">
            <a:avLst/>
          </a:prstGeom>
          <a:noFill/>
          <a:ln/>
        </p:spPr>
        <p:txBody>
          <a:bodyPr wrap="square" lIns="0" tIns="0" rIns="0" bIns="0" rtlCol="0" anchor="ctr"/>
          <a:lstStyle/>
          <a:p>
            <a:pPr marL="342900" indent="-342900">
              <a:buSzPct val="100000"/>
              <a:buChar char="•"/>
            </a:pPr>
            <a:r>
              <a:rPr lang="en-US" sz="1300" dirty="0">
                <a:solidFill>
                  <a:srgbClr val="1B1B1B"/>
                </a:solidFill>
                <a:latin typeface="Calibri" pitchFamily="34" charset="0"/>
                <a:ea typeface="Calibri" pitchFamily="34" charset="-122"/>
                <a:cs typeface="Calibri" pitchFamily="34" charset="-120"/>
              </a:rPr>
              <a:t>Disability (mobility, vision, hearing...)</a:t>
            </a:r>
            <a:endParaRPr lang="en-US" sz="1300" dirty="0"/>
          </a:p>
        </p:txBody>
      </p:sp>
      <p:sp>
        <p:nvSpPr>
          <p:cNvPr id="21" name="Text 19"/>
          <p:cNvSpPr txBox="1"/>
          <p:nvPr/>
        </p:nvSpPr>
        <p:spPr>
          <a:xfrm>
            <a:off x="548640" y="5029200"/>
            <a:ext cx="5394960" cy="411480"/>
          </a:xfrm>
          <a:prstGeom prst="rect">
            <a:avLst/>
          </a:prstGeom>
          <a:noFill/>
          <a:ln/>
        </p:spPr>
        <p:txBody>
          <a:bodyPr wrap="square" lIns="0" tIns="0" rIns="0" bIns="0" rtlCol="0" anchor="ctr"/>
          <a:lstStyle/>
          <a:p>
            <a:pPr marL="342900" indent="-342900">
              <a:buSzPct val="100000"/>
              <a:buChar char="•"/>
            </a:pPr>
            <a:r>
              <a:rPr lang="en-US" sz="1300" dirty="0">
                <a:solidFill>
                  <a:srgbClr val="1B1B1B"/>
                </a:solidFill>
                <a:latin typeface="Calibri" pitchFamily="34" charset="0"/>
                <a:ea typeface="Calibri" pitchFamily="34" charset="-122"/>
                <a:cs typeface="Calibri" pitchFamily="34" charset="-120"/>
              </a:rPr>
              <a:t>Health Status (self-rated health, distress)</a:t>
            </a:r>
            <a:endParaRPr lang="en-US" sz="1300" dirty="0"/>
          </a:p>
        </p:txBody>
      </p:sp>
      <p:sp>
        <p:nvSpPr>
          <p:cNvPr id="22" name="Text 20"/>
          <p:cNvSpPr txBox="1"/>
          <p:nvPr/>
        </p:nvSpPr>
        <p:spPr>
          <a:xfrm>
            <a:off x="6126480" y="5029200"/>
            <a:ext cx="5394960" cy="411480"/>
          </a:xfrm>
          <a:prstGeom prst="rect">
            <a:avLst/>
          </a:prstGeom>
          <a:noFill/>
          <a:ln/>
        </p:spPr>
        <p:txBody>
          <a:bodyPr wrap="square" lIns="0" tIns="0" rIns="0" bIns="0" rtlCol="0" anchor="ctr"/>
          <a:lstStyle/>
          <a:p>
            <a:pPr marL="342900" indent="-342900">
              <a:buSzPct val="100000"/>
              <a:buChar char="•"/>
            </a:pPr>
            <a:r>
              <a:rPr lang="en-US" sz="1300" dirty="0">
                <a:solidFill>
                  <a:srgbClr val="1B1B1B"/>
                </a:solidFill>
                <a:latin typeface="Calibri" pitchFamily="34" charset="0"/>
                <a:ea typeface="Calibri" pitchFamily="34" charset="-122"/>
                <a:cs typeface="Calibri" pitchFamily="34" charset="-120"/>
              </a:rPr>
              <a:t>Social Needs (food &amp; housing insecurity, insurance)</a:t>
            </a:r>
            <a:endParaRPr lang="en-US" sz="1300" dirty="0"/>
          </a:p>
        </p:txBody>
      </p:sp>
      <p:sp>
        <p:nvSpPr>
          <p:cNvPr id="23" name="Shape 21"/>
          <p:cNvSpPr/>
          <p:nvPr/>
        </p:nvSpPr>
        <p:spPr>
          <a:xfrm>
            <a:off x="548640" y="5623560"/>
            <a:ext cx="11064240" cy="777240"/>
          </a:xfrm>
          <a:prstGeom prst="roundRect">
            <a:avLst>
              <a:gd name="adj" fmla="val 7059"/>
            </a:avLst>
          </a:prstGeom>
          <a:solidFill>
            <a:srgbClr val="FCEDE8"/>
          </a:solidFill>
          <a:ln w="12700">
            <a:solidFill>
              <a:srgbClr val="E4572E"/>
            </a:solidFill>
            <a:prstDash val="solid"/>
          </a:ln>
        </p:spPr>
      </p:sp>
      <p:sp>
        <p:nvSpPr>
          <p:cNvPr id="24" name="Text 22"/>
          <p:cNvSpPr txBox="1"/>
          <p:nvPr/>
        </p:nvSpPr>
        <p:spPr>
          <a:xfrm>
            <a:off x="777240" y="5623560"/>
            <a:ext cx="10607040" cy="777240"/>
          </a:xfrm>
          <a:prstGeom prst="rect">
            <a:avLst/>
          </a:prstGeom>
          <a:noFill/>
          <a:ln/>
        </p:spPr>
        <p:txBody>
          <a:bodyPr wrap="square" lIns="0" tIns="0" rIns="0" bIns="0" rtlCol="0" anchor="ctr"/>
          <a:lstStyle/>
          <a:p>
            <a:pPr indent="0" marL="0">
              <a:buNone/>
            </a:pPr>
            <a:r>
              <a:rPr lang="en-US" sz="1400" b="1" dirty="0">
                <a:solidFill>
                  <a:srgbClr val="E4572E"/>
                </a:solidFill>
                <a:latin typeface="Calibri" pitchFamily="34" charset="0"/>
                <a:ea typeface="Calibri" pitchFamily="34" charset="-122"/>
                <a:cs typeface="Calibri" pitchFamily="34" charset="-120"/>
              </a:rPr>
              <a:t>Target variable:  </a:t>
            </a:r>
            <a:pPr indent="0" marL="0">
              <a:buNone/>
            </a:pPr>
            <a:r>
              <a:rPr lang="en-US" sz="1400" dirty="0">
                <a:solidFill>
                  <a:srgbClr val="1B1B1B"/>
                </a:solidFill>
                <a:latin typeface="Calibri" pitchFamily="34" charset="0"/>
                <a:ea typeface="Calibri" pitchFamily="34" charset="-122"/>
                <a:cs typeface="Calibri" pitchFamily="34" charset="-120"/>
              </a:rPr>
              <a:t>Diabetes — % of adults with diagnosed diabetes (crude prevalence), a regression task.</a:t>
            </a:r>
            <a:endParaRPr lang="en-US" sz="1400" dirty="0"/>
          </a:p>
        </p:txBody>
      </p:sp>
      <p:sp>
        <p:nvSpPr>
          <p:cNvPr id="25" name="Text 23"/>
          <p:cNvSpPr txBox="1"/>
          <p:nvPr/>
        </p:nvSpPr>
        <p:spPr>
          <a:xfrm>
            <a:off x="457200" y="6537960"/>
            <a:ext cx="5486400" cy="274320"/>
          </a:xfrm>
          <a:prstGeom prst="rect">
            <a:avLst/>
          </a:prstGeom>
          <a:noFill/>
          <a:ln/>
        </p:spPr>
        <p:txBody>
          <a:bodyPr wrap="square" lIns="0" tIns="0" rIns="0" bIns="0" rtlCol="0" anchor="ctr"/>
          <a:lstStyle/>
          <a:p>
            <a:pPr indent="0" marL="0">
              <a:buNone/>
            </a:pPr>
            <a:r>
              <a:rPr lang="en-US" sz="1000" dirty="0">
                <a:solidFill>
                  <a:srgbClr val="5B6B73"/>
                </a:solidFill>
                <a:latin typeface="Calibri" pitchFamily="34" charset="0"/>
                <a:ea typeface="Calibri" pitchFamily="34" charset="-122"/>
                <a:cs typeface="Calibri" pitchFamily="34" charset="-120"/>
              </a:rPr>
              <a:t>Dataset Overview</a:t>
            </a:r>
            <a:endParaRPr lang="en-US" sz="1000" dirty="0"/>
          </a:p>
        </p:txBody>
      </p:sp>
      <p:sp>
        <p:nvSpPr>
          <p:cNvPr id="26" name="Text 24"/>
          <p:cNvSpPr txBox="1"/>
          <p:nvPr/>
        </p:nvSpPr>
        <p:spPr>
          <a:xfrm>
            <a:off x="11274552" y="6537960"/>
            <a:ext cx="457200" cy="274320"/>
          </a:xfrm>
          <a:prstGeom prst="rect">
            <a:avLst/>
          </a:prstGeom>
          <a:noFill/>
          <a:ln/>
        </p:spPr>
        <p:txBody>
          <a:bodyPr wrap="square" lIns="0" tIns="0" rIns="0" bIns="0" rtlCol="0" anchor="ctr"/>
          <a:lstStyle/>
          <a:p>
            <a:pPr algn="r" indent="0" marL="0">
              <a:buNone/>
            </a:pPr>
            <a:r>
              <a:rPr lang="en-US" sz="1000" dirty="0">
                <a:solidFill>
                  <a:srgbClr val="5B6B73"/>
                </a:solidFill>
                <a:latin typeface="Calibri" pitchFamily="34" charset="0"/>
                <a:ea typeface="Calibri" pitchFamily="34" charset="-122"/>
                <a:cs typeface="Calibri" pitchFamily="34" charset="-120"/>
              </a:rPr>
              <a:t>3</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10972800" cy="640080"/>
          </a:xfrm>
          <a:prstGeom prst="rect">
            <a:avLst/>
          </a:prstGeom>
          <a:noFill/>
          <a:ln/>
        </p:spPr>
        <p:txBody>
          <a:bodyPr wrap="square" lIns="0" tIns="0" rIns="0" bIns="0" rtlCol="0" anchor="ctr"/>
          <a:lstStyle/>
          <a:p>
            <a:pPr indent="0" marL="0">
              <a:buNone/>
            </a:pPr>
            <a:r>
              <a:rPr lang="en-US" sz="3200" b="1" dirty="0">
                <a:solidFill>
                  <a:srgbClr val="0B4F6C"/>
                </a:solidFill>
                <a:latin typeface="Cambria" pitchFamily="34" charset="0"/>
                <a:ea typeface="Cambria" pitchFamily="34" charset="-122"/>
                <a:cs typeface="Cambria" pitchFamily="34" charset="-120"/>
              </a:rPr>
              <a:t>Our Process: CRISP-DM</a:t>
            </a:r>
            <a:endParaRPr lang="en-US" sz="3200" dirty="0"/>
          </a:p>
        </p:txBody>
      </p:sp>
      <p:sp>
        <p:nvSpPr>
          <p:cNvPr id="3" name="Text 1"/>
          <p:cNvSpPr txBox="1"/>
          <p:nvPr/>
        </p:nvSpPr>
        <p:spPr>
          <a:xfrm>
            <a:off x="548640" y="1051560"/>
            <a:ext cx="10698480" cy="411480"/>
          </a:xfrm>
          <a:prstGeom prst="rect">
            <a:avLst/>
          </a:prstGeom>
          <a:noFill/>
          <a:ln/>
        </p:spPr>
        <p:txBody>
          <a:bodyPr wrap="square" lIns="0" tIns="0" rIns="0" bIns="0" rtlCol="0" anchor="ctr"/>
          <a:lstStyle/>
          <a:p>
            <a:pPr indent="0" marL="0">
              <a:buNone/>
            </a:pPr>
            <a:r>
              <a:rPr lang="en-US" sz="1500" i="1" dirty="0">
                <a:solidFill>
                  <a:srgbClr val="5B6B73"/>
                </a:solidFill>
                <a:latin typeface="Calibri" pitchFamily="34" charset="0"/>
                <a:ea typeface="Calibri" pitchFamily="34" charset="-122"/>
                <a:cs typeface="Calibri" pitchFamily="34" charset="-120"/>
              </a:rPr>
              <a:t>Cross-Industry Standard Process for Data Mining, mapped to our three roles</a:t>
            </a:r>
            <a:endParaRPr lang="en-US" sz="1500" dirty="0"/>
          </a:p>
        </p:txBody>
      </p:sp>
      <p:sp>
        <p:nvSpPr>
          <p:cNvPr id="4" name="Shape 2"/>
          <p:cNvSpPr/>
          <p:nvPr/>
        </p:nvSpPr>
        <p:spPr>
          <a:xfrm>
            <a:off x="1522476" y="2606040"/>
            <a:ext cx="9144000" cy="0"/>
          </a:xfrm>
          <a:prstGeom prst="line">
            <a:avLst/>
          </a:prstGeom>
          <a:noFill/>
          <a:ln w="25400">
            <a:solidFill>
              <a:srgbClr val="D5DEE0"/>
            </a:solidFill>
            <a:prstDash val="solid"/>
          </a:ln>
        </p:spPr>
      </p:sp>
      <p:sp>
        <p:nvSpPr>
          <p:cNvPr id="5" name="Shape 3"/>
          <p:cNvSpPr/>
          <p:nvPr/>
        </p:nvSpPr>
        <p:spPr>
          <a:xfrm>
            <a:off x="1110996" y="2194560"/>
            <a:ext cx="822960" cy="822960"/>
          </a:xfrm>
          <a:prstGeom prst="ellipse">
            <a:avLst/>
          </a:prstGeom>
          <a:solidFill>
            <a:srgbClr val="0B4F6C"/>
          </a:solidFill>
          <a:ln/>
        </p:spPr>
      </p:sp>
      <p:sp>
        <p:nvSpPr>
          <p:cNvPr id="6" name="Text 4"/>
          <p:cNvSpPr txBox="1"/>
          <p:nvPr/>
        </p:nvSpPr>
        <p:spPr>
          <a:xfrm>
            <a:off x="1110996" y="2194560"/>
            <a:ext cx="822960" cy="822960"/>
          </a:xfrm>
          <a:prstGeom prst="rect">
            <a:avLst/>
          </a:prstGeom>
          <a:noFill/>
          <a:ln/>
        </p:spPr>
        <p:txBody>
          <a:bodyPr wrap="square" lIns="0" tIns="0" rIns="0" bIns="0"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1</a:t>
            </a:r>
            <a:endParaRPr lang="en-US" sz="2000" dirty="0"/>
          </a:p>
        </p:txBody>
      </p:sp>
      <p:sp>
        <p:nvSpPr>
          <p:cNvPr id="7" name="Text 5"/>
          <p:cNvSpPr txBox="1"/>
          <p:nvPr/>
        </p:nvSpPr>
        <p:spPr>
          <a:xfrm>
            <a:off x="539496" y="3154680"/>
            <a:ext cx="1965960" cy="640080"/>
          </a:xfrm>
          <a:prstGeom prst="rect">
            <a:avLst/>
          </a:prstGeom>
          <a:noFill/>
          <a:ln/>
        </p:spPr>
        <p:txBody>
          <a:bodyPr wrap="square" lIns="0" tIns="0" rIns="0" bIns="0" rtlCol="0" anchor="ctr"/>
          <a:lstStyle/>
          <a:p>
            <a:pPr algn="ctr" indent="0" marL="0">
              <a:buNone/>
            </a:pPr>
            <a:r>
              <a:rPr lang="en-US" sz="1300" b="1" dirty="0">
                <a:solidFill>
                  <a:srgbClr val="1B1B1B"/>
                </a:solidFill>
                <a:latin typeface="Cambria" pitchFamily="34" charset="0"/>
                <a:ea typeface="Cambria" pitchFamily="34" charset="-122"/>
                <a:cs typeface="Cambria" pitchFamily="34" charset="-120"/>
              </a:rPr>
              <a:t>Business</a:t>
            </a:r>
            <a:endParaRPr lang="en-US" sz="1300" dirty="0"/>
          </a:p>
          <a:p>
            <a:pPr algn="ctr" indent="0" marL="0">
              <a:buNone/>
            </a:pPr>
            <a:r>
              <a:rPr lang="en-US" sz="1300" b="1" dirty="0">
                <a:solidFill>
                  <a:srgbClr val="1B1B1B"/>
                </a:solidFill>
                <a:latin typeface="Cambria" pitchFamily="34" charset="0"/>
                <a:ea typeface="Cambria" pitchFamily="34" charset="-122"/>
                <a:cs typeface="Cambria" pitchFamily="34" charset="-120"/>
              </a:rPr>
              <a:t>Understanding</a:t>
            </a:r>
            <a:endParaRPr lang="en-US" sz="1300" dirty="0"/>
          </a:p>
        </p:txBody>
      </p:sp>
      <p:sp>
        <p:nvSpPr>
          <p:cNvPr id="8" name="Text 6"/>
          <p:cNvSpPr txBox="1"/>
          <p:nvPr/>
        </p:nvSpPr>
        <p:spPr>
          <a:xfrm>
            <a:off x="539496" y="3794760"/>
            <a:ext cx="1965960" cy="548640"/>
          </a:xfrm>
          <a:prstGeom prst="rect">
            <a:avLst/>
          </a:prstGeom>
          <a:noFill/>
          <a:ln/>
        </p:spPr>
        <p:txBody>
          <a:bodyPr wrap="square" lIns="0" tIns="0" rIns="0" bIns="0" rtlCol="0" anchor="ctr"/>
          <a:lstStyle/>
          <a:p>
            <a:pPr algn="ctr" indent="0" marL="0">
              <a:buNone/>
            </a:pPr>
            <a:r>
              <a:rPr lang="en-US" sz="1100" i="1" dirty="0">
                <a:solidFill>
                  <a:srgbClr val="5B6B73"/>
                </a:solidFill>
                <a:latin typeface="Calibri" pitchFamily="34" charset="0"/>
                <a:ea typeface="Calibri" pitchFamily="34" charset="-122"/>
                <a:cs typeface="Calibri" pitchFamily="34" charset="-120"/>
              </a:rPr>
              <a:t>Whole team</a:t>
            </a:r>
            <a:endParaRPr lang="en-US" sz="1100" dirty="0"/>
          </a:p>
        </p:txBody>
      </p:sp>
      <p:sp>
        <p:nvSpPr>
          <p:cNvPr id="9" name="Shape 7"/>
          <p:cNvSpPr/>
          <p:nvPr/>
        </p:nvSpPr>
        <p:spPr>
          <a:xfrm>
            <a:off x="2939796" y="2194560"/>
            <a:ext cx="822960" cy="822960"/>
          </a:xfrm>
          <a:prstGeom prst="ellipse">
            <a:avLst/>
          </a:prstGeom>
          <a:solidFill>
            <a:srgbClr val="01A7C2"/>
          </a:solidFill>
          <a:ln/>
        </p:spPr>
      </p:sp>
      <p:sp>
        <p:nvSpPr>
          <p:cNvPr id="10" name="Text 8"/>
          <p:cNvSpPr txBox="1"/>
          <p:nvPr/>
        </p:nvSpPr>
        <p:spPr>
          <a:xfrm>
            <a:off x="2939796" y="2194560"/>
            <a:ext cx="822960" cy="822960"/>
          </a:xfrm>
          <a:prstGeom prst="rect">
            <a:avLst/>
          </a:prstGeom>
          <a:noFill/>
          <a:ln/>
        </p:spPr>
        <p:txBody>
          <a:bodyPr wrap="square" lIns="0" tIns="0" rIns="0" bIns="0"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2</a:t>
            </a:r>
            <a:endParaRPr lang="en-US" sz="2000" dirty="0"/>
          </a:p>
        </p:txBody>
      </p:sp>
      <p:sp>
        <p:nvSpPr>
          <p:cNvPr id="11" name="Text 9"/>
          <p:cNvSpPr txBox="1"/>
          <p:nvPr/>
        </p:nvSpPr>
        <p:spPr>
          <a:xfrm>
            <a:off x="2368296" y="3154680"/>
            <a:ext cx="1965960" cy="640080"/>
          </a:xfrm>
          <a:prstGeom prst="rect">
            <a:avLst/>
          </a:prstGeom>
          <a:noFill/>
          <a:ln/>
        </p:spPr>
        <p:txBody>
          <a:bodyPr wrap="square" lIns="0" tIns="0" rIns="0" bIns="0" rtlCol="0" anchor="ctr"/>
          <a:lstStyle/>
          <a:p>
            <a:pPr algn="ctr" indent="0" marL="0">
              <a:buNone/>
            </a:pPr>
            <a:r>
              <a:rPr lang="en-US" sz="1300" b="1" dirty="0">
                <a:solidFill>
                  <a:srgbClr val="1B1B1B"/>
                </a:solidFill>
                <a:latin typeface="Cambria" pitchFamily="34" charset="0"/>
                <a:ea typeface="Cambria" pitchFamily="34" charset="-122"/>
                <a:cs typeface="Cambria" pitchFamily="34" charset="-120"/>
              </a:rPr>
              <a:t>Data</a:t>
            </a:r>
            <a:endParaRPr lang="en-US" sz="1300" dirty="0"/>
          </a:p>
          <a:p>
            <a:pPr algn="ctr" indent="0" marL="0">
              <a:buNone/>
            </a:pPr>
            <a:r>
              <a:rPr lang="en-US" sz="1300" b="1" dirty="0">
                <a:solidFill>
                  <a:srgbClr val="1B1B1B"/>
                </a:solidFill>
                <a:latin typeface="Cambria" pitchFamily="34" charset="0"/>
                <a:ea typeface="Cambria" pitchFamily="34" charset="-122"/>
                <a:cs typeface="Cambria" pitchFamily="34" charset="-120"/>
              </a:rPr>
              <a:t>Understanding</a:t>
            </a:r>
            <a:endParaRPr lang="en-US" sz="1300" dirty="0"/>
          </a:p>
        </p:txBody>
      </p:sp>
      <p:sp>
        <p:nvSpPr>
          <p:cNvPr id="12" name="Text 10"/>
          <p:cNvSpPr txBox="1"/>
          <p:nvPr/>
        </p:nvSpPr>
        <p:spPr>
          <a:xfrm>
            <a:off x="2368296" y="3794760"/>
            <a:ext cx="1965960" cy="548640"/>
          </a:xfrm>
          <a:prstGeom prst="rect">
            <a:avLst/>
          </a:prstGeom>
          <a:noFill/>
          <a:ln/>
        </p:spPr>
        <p:txBody>
          <a:bodyPr wrap="square" lIns="0" tIns="0" rIns="0" bIns="0" rtlCol="0" anchor="ctr"/>
          <a:lstStyle/>
          <a:p>
            <a:pPr algn="ctr" indent="0" marL="0">
              <a:buNone/>
            </a:pPr>
            <a:r>
              <a:rPr lang="en-US" sz="1100" i="1" dirty="0">
                <a:solidFill>
                  <a:srgbClr val="5B6B73"/>
                </a:solidFill>
                <a:latin typeface="Calibri" pitchFamily="34" charset="0"/>
                <a:ea typeface="Calibri" pitchFamily="34" charset="-122"/>
                <a:cs typeface="Calibri" pitchFamily="34" charset="-120"/>
              </a:rPr>
              <a:t>Wrangler +</a:t>
            </a:r>
            <a:endParaRPr lang="en-US" sz="1100" dirty="0"/>
          </a:p>
          <a:p>
            <a:pPr algn="ctr" indent="0" marL="0">
              <a:buNone/>
            </a:pPr>
            <a:r>
              <a:rPr lang="en-US" sz="1100" i="1" dirty="0">
                <a:solidFill>
                  <a:srgbClr val="5B6B73"/>
                </a:solidFill>
                <a:latin typeface="Calibri" pitchFamily="34" charset="0"/>
                <a:ea typeface="Calibri" pitchFamily="34" charset="-122"/>
                <a:cs typeface="Calibri" pitchFamily="34" charset="-120"/>
              </a:rPr>
              <a:t>Analyzer</a:t>
            </a:r>
            <a:endParaRPr lang="en-US" sz="1100" dirty="0"/>
          </a:p>
        </p:txBody>
      </p:sp>
      <p:sp>
        <p:nvSpPr>
          <p:cNvPr id="13" name="Shape 11"/>
          <p:cNvSpPr/>
          <p:nvPr/>
        </p:nvSpPr>
        <p:spPr>
          <a:xfrm>
            <a:off x="4768596" y="2194560"/>
            <a:ext cx="822960" cy="822960"/>
          </a:xfrm>
          <a:prstGeom prst="ellipse">
            <a:avLst/>
          </a:prstGeom>
          <a:solidFill>
            <a:srgbClr val="0B4F6C"/>
          </a:solidFill>
          <a:ln/>
        </p:spPr>
      </p:sp>
      <p:sp>
        <p:nvSpPr>
          <p:cNvPr id="14" name="Text 12"/>
          <p:cNvSpPr txBox="1"/>
          <p:nvPr/>
        </p:nvSpPr>
        <p:spPr>
          <a:xfrm>
            <a:off x="4768596" y="2194560"/>
            <a:ext cx="822960" cy="822960"/>
          </a:xfrm>
          <a:prstGeom prst="rect">
            <a:avLst/>
          </a:prstGeom>
          <a:noFill/>
          <a:ln/>
        </p:spPr>
        <p:txBody>
          <a:bodyPr wrap="square" lIns="0" tIns="0" rIns="0" bIns="0"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3</a:t>
            </a:r>
            <a:endParaRPr lang="en-US" sz="2000" dirty="0"/>
          </a:p>
        </p:txBody>
      </p:sp>
      <p:sp>
        <p:nvSpPr>
          <p:cNvPr id="15" name="Text 13"/>
          <p:cNvSpPr txBox="1"/>
          <p:nvPr/>
        </p:nvSpPr>
        <p:spPr>
          <a:xfrm>
            <a:off x="4197096" y="3154680"/>
            <a:ext cx="1965960" cy="640080"/>
          </a:xfrm>
          <a:prstGeom prst="rect">
            <a:avLst/>
          </a:prstGeom>
          <a:noFill/>
          <a:ln/>
        </p:spPr>
        <p:txBody>
          <a:bodyPr wrap="square" lIns="0" tIns="0" rIns="0" bIns="0" rtlCol="0" anchor="ctr"/>
          <a:lstStyle/>
          <a:p>
            <a:pPr algn="ctr" indent="0" marL="0">
              <a:buNone/>
            </a:pPr>
            <a:r>
              <a:rPr lang="en-US" sz="1300" b="1" dirty="0">
                <a:solidFill>
                  <a:srgbClr val="1B1B1B"/>
                </a:solidFill>
                <a:latin typeface="Cambria" pitchFamily="34" charset="0"/>
                <a:ea typeface="Cambria" pitchFamily="34" charset="-122"/>
                <a:cs typeface="Cambria" pitchFamily="34" charset="-120"/>
              </a:rPr>
              <a:t>Data</a:t>
            </a:r>
            <a:endParaRPr lang="en-US" sz="1300" dirty="0"/>
          </a:p>
          <a:p>
            <a:pPr algn="ctr" indent="0" marL="0">
              <a:buNone/>
            </a:pPr>
            <a:r>
              <a:rPr lang="en-US" sz="1300" b="1" dirty="0">
                <a:solidFill>
                  <a:srgbClr val="1B1B1B"/>
                </a:solidFill>
                <a:latin typeface="Cambria" pitchFamily="34" charset="0"/>
                <a:ea typeface="Cambria" pitchFamily="34" charset="-122"/>
                <a:cs typeface="Cambria" pitchFamily="34" charset="-120"/>
              </a:rPr>
              <a:t>Preparation</a:t>
            </a:r>
            <a:endParaRPr lang="en-US" sz="1300" dirty="0"/>
          </a:p>
        </p:txBody>
      </p:sp>
      <p:sp>
        <p:nvSpPr>
          <p:cNvPr id="16" name="Text 14"/>
          <p:cNvSpPr txBox="1"/>
          <p:nvPr/>
        </p:nvSpPr>
        <p:spPr>
          <a:xfrm>
            <a:off x="4197096" y="3794760"/>
            <a:ext cx="1965960" cy="548640"/>
          </a:xfrm>
          <a:prstGeom prst="rect">
            <a:avLst/>
          </a:prstGeom>
          <a:noFill/>
          <a:ln/>
        </p:spPr>
        <p:txBody>
          <a:bodyPr wrap="square" lIns="0" tIns="0" rIns="0" bIns="0" rtlCol="0" anchor="ctr"/>
          <a:lstStyle/>
          <a:p>
            <a:pPr algn="ctr" indent="0" marL="0">
              <a:buNone/>
            </a:pPr>
            <a:r>
              <a:rPr lang="en-US" sz="1100" i="1" dirty="0">
                <a:solidFill>
                  <a:srgbClr val="5B6B73"/>
                </a:solidFill>
                <a:latin typeface="Calibri" pitchFamily="34" charset="0"/>
                <a:ea typeface="Calibri" pitchFamily="34" charset="-122"/>
                <a:cs typeface="Calibri" pitchFamily="34" charset="-120"/>
              </a:rPr>
              <a:t>Data Wrangler</a:t>
            </a:r>
            <a:endParaRPr lang="en-US" sz="1100" dirty="0"/>
          </a:p>
        </p:txBody>
      </p:sp>
      <p:sp>
        <p:nvSpPr>
          <p:cNvPr id="17" name="Shape 15"/>
          <p:cNvSpPr/>
          <p:nvPr/>
        </p:nvSpPr>
        <p:spPr>
          <a:xfrm>
            <a:off x="6597396" y="2194560"/>
            <a:ext cx="822960" cy="822960"/>
          </a:xfrm>
          <a:prstGeom prst="ellipse">
            <a:avLst/>
          </a:prstGeom>
          <a:solidFill>
            <a:srgbClr val="01A7C2"/>
          </a:solidFill>
          <a:ln/>
        </p:spPr>
      </p:sp>
      <p:sp>
        <p:nvSpPr>
          <p:cNvPr id="18" name="Text 16"/>
          <p:cNvSpPr txBox="1"/>
          <p:nvPr/>
        </p:nvSpPr>
        <p:spPr>
          <a:xfrm>
            <a:off x="6597396" y="2194560"/>
            <a:ext cx="822960" cy="822960"/>
          </a:xfrm>
          <a:prstGeom prst="rect">
            <a:avLst/>
          </a:prstGeom>
          <a:noFill/>
          <a:ln/>
        </p:spPr>
        <p:txBody>
          <a:bodyPr wrap="square" lIns="0" tIns="0" rIns="0" bIns="0"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4</a:t>
            </a:r>
            <a:endParaRPr lang="en-US" sz="2000" dirty="0"/>
          </a:p>
        </p:txBody>
      </p:sp>
      <p:sp>
        <p:nvSpPr>
          <p:cNvPr id="19" name="Text 17"/>
          <p:cNvSpPr txBox="1"/>
          <p:nvPr/>
        </p:nvSpPr>
        <p:spPr>
          <a:xfrm>
            <a:off x="6025896" y="3154680"/>
            <a:ext cx="1965960" cy="640080"/>
          </a:xfrm>
          <a:prstGeom prst="rect">
            <a:avLst/>
          </a:prstGeom>
          <a:noFill/>
          <a:ln/>
        </p:spPr>
        <p:txBody>
          <a:bodyPr wrap="square" lIns="0" tIns="0" rIns="0" bIns="0" rtlCol="0" anchor="ctr"/>
          <a:lstStyle/>
          <a:p>
            <a:pPr algn="ctr" indent="0" marL="0">
              <a:buNone/>
            </a:pPr>
            <a:r>
              <a:rPr lang="en-US" sz="1300" b="1" dirty="0">
                <a:solidFill>
                  <a:srgbClr val="1B1B1B"/>
                </a:solidFill>
                <a:latin typeface="Cambria" pitchFamily="34" charset="0"/>
                <a:ea typeface="Cambria" pitchFamily="34" charset="-122"/>
                <a:cs typeface="Cambria" pitchFamily="34" charset="-120"/>
              </a:rPr>
              <a:t>Modeling</a:t>
            </a:r>
            <a:endParaRPr lang="en-US" sz="1300" dirty="0"/>
          </a:p>
        </p:txBody>
      </p:sp>
      <p:sp>
        <p:nvSpPr>
          <p:cNvPr id="20" name="Text 18"/>
          <p:cNvSpPr txBox="1"/>
          <p:nvPr/>
        </p:nvSpPr>
        <p:spPr>
          <a:xfrm>
            <a:off x="6025896" y="3794760"/>
            <a:ext cx="1965960" cy="548640"/>
          </a:xfrm>
          <a:prstGeom prst="rect">
            <a:avLst/>
          </a:prstGeom>
          <a:noFill/>
          <a:ln/>
        </p:spPr>
        <p:txBody>
          <a:bodyPr wrap="square" lIns="0" tIns="0" rIns="0" bIns="0" rtlCol="0" anchor="ctr"/>
          <a:lstStyle/>
          <a:p>
            <a:pPr algn="ctr" indent="0" marL="0">
              <a:buNone/>
            </a:pPr>
            <a:r>
              <a:rPr lang="en-US" sz="1100" i="1" dirty="0">
                <a:solidFill>
                  <a:srgbClr val="5B6B73"/>
                </a:solidFill>
                <a:latin typeface="Calibri" pitchFamily="34" charset="0"/>
                <a:ea typeface="Calibri" pitchFamily="34" charset="-122"/>
                <a:cs typeface="Calibri" pitchFamily="34" charset="-120"/>
              </a:rPr>
              <a:t>Modeler</a:t>
            </a:r>
            <a:endParaRPr lang="en-US" sz="1100" dirty="0"/>
          </a:p>
        </p:txBody>
      </p:sp>
      <p:sp>
        <p:nvSpPr>
          <p:cNvPr id="21" name="Shape 19"/>
          <p:cNvSpPr/>
          <p:nvPr/>
        </p:nvSpPr>
        <p:spPr>
          <a:xfrm>
            <a:off x="8426196" y="2194560"/>
            <a:ext cx="822960" cy="822960"/>
          </a:xfrm>
          <a:prstGeom prst="ellipse">
            <a:avLst/>
          </a:prstGeom>
          <a:solidFill>
            <a:srgbClr val="0B4F6C"/>
          </a:solidFill>
          <a:ln/>
        </p:spPr>
      </p:sp>
      <p:sp>
        <p:nvSpPr>
          <p:cNvPr id="22" name="Text 20"/>
          <p:cNvSpPr txBox="1"/>
          <p:nvPr/>
        </p:nvSpPr>
        <p:spPr>
          <a:xfrm>
            <a:off x="8426196" y="2194560"/>
            <a:ext cx="822960" cy="822960"/>
          </a:xfrm>
          <a:prstGeom prst="rect">
            <a:avLst/>
          </a:prstGeom>
          <a:noFill/>
          <a:ln/>
        </p:spPr>
        <p:txBody>
          <a:bodyPr wrap="square" lIns="0" tIns="0" rIns="0" bIns="0"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5</a:t>
            </a:r>
            <a:endParaRPr lang="en-US" sz="2000" dirty="0"/>
          </a:p>
        </p:txBody>
      </p:sp>
      <p:sp>
        <p:nvSpPr>
          <p:cNvPr id="23" name="Text 21"/>
          <p:cNvSpPr txBox="1"/>
          <p:nvPr/>
        </p:nvSpPr>
        <p:spPr>
          <a:xfrm>
            <a:off x="7854696" y="3154680"/>
            <a:ext cx="1965960" cy="640080"/>
          </a:xfrm>
          <a:prstGeom prst="rect">
            <a:avLst/>
          </a:prstGeom>
          <a:noFill/>
          <a:ln/>
        </p:spPr>
        <p:txBody>
          <a:bodyPr wrap="square" lIns="0" tIns="0" rIns="0" bIns="0" rtlCol="0" anchor="ctr"/>
          <a:lstStyle/>
          <a:p>
            <a:pPr algn="ctr" indent="0" marL="0">
              <a:buNone/>
            </a:pPr>
            <a:r>
              <a:rPr lang="en-US" sz="1300" b="1" dirty="0">
                <a:solidFill>
                  <a:srgbClr val="1B1B1B"/>
                </a:solidFill>
                <a:latin typeface="Cambria" pitchFamily="34" charset="0"/>
                <a:ea typeface="Cambria" pitchFamily="34" charset="-122"/>
                <a:cs typeface="Cambria" pitchFamily="34" charset="-120"/>
              </a:rPr>
              <a:t>Evaluation</a:t>
            </a:r>
            <a:endParaRPr lang="en-US" sz="1300" dirty="0"/>
          </a:p>
        </p:txBody>
      </p:sp>
      <p:sp>
        <p:nvSpPr>
          <p:cNvPr id="24" name="Text 22"/>
          <p:cNvSpPr txBox="1"/>
          <p:nvPr/>
        </p:nvSpPr>
        <p:spPr>
          <a:xfrm>
            <a:off x="7854696" y="3794760"/>
            <a:ext cx="1965960" cy="548640"/>
          </a:xfrm>
          <a:prstGeom prst="rect">
            <a:avLst/>
          </a:prstGeom>
          <a:noFill/>
          <a:ln/>
        </p:spPr>
        <p:txBody>
          <a:bodyPr wrap="square" lIns="0" tIns="0" rIns="0" bIns="0" rtlCol="0" anchor="ctr"/>
          <a:lstStyle/>
          <a:p>
            <a:pPr algn="ctr" indent="0" marL="0">
              <a:buNone/>
            </a:pPr>
            <a:r>
              <a:rPr lang="en-US" sz="1100" i="1" dirty="0">
                <a:solidFill>
                  <a:srgbClr val="5B6B73"/>
                </a:solidFill>
                <a:latin typeface="Calibri" pitchFamily="34" charset="0"/>
                <a:ea typeface="Calibri" pitchFamily="34" charset="-122"/>
                <a:cs typeface="Calibri" pitchFamily="34" charset="-120"/>
              </a:rPr>
              <a:t>Analyzer +</a:t>
            </a:r>
            <a:endParaRPr lang="en-US" sz="1100" dirty="0"/>
          </a:p>
          <a:p>
            <a:pPr algn="ctr" indent="0" marL="0">
              <a:buNone/>
            </a:pPr>
            <a:r>
              <a:rPr lang="en-US" sz="1100" i="1" dirty="0">
                <a:solidFill>
                  <a:srgbClr val="5B6B73"/>
                </a:solidFill>
                <a:latin typeface="Calibri" pitchFamily="34" charset="0"/>
                <a:ea typeface="Calibri" pitchFamily="34" charset="-122"/>
                <a:cs typeface="Calibri" pitchFamily="34" charset="-120"/>
              </a:rPr>
              <a:t>Modeler</a:t>
            </a:r>
            <a:endParaRPr lang="en-US" sz="1100" dirty="0"/>
          </a:p>
        </p:txBody>
      </p:sp>
      <p:sp>
        <p:nvSpPr>
          <p:cNvPr id="25" name="Shape 23"/>
          <p:cNvSpPr/>
          <p:nvPr/>
        </p:nvSpPr>
        <p:spPr>
          <a:xfrm>
            <a:off x="10254996" y="2194560"/>
            <a:ext cx="822960" cy="822960"/>
          </a:xfrm>
          <a:prstGeom prst="ellipse">
            <a:avLst/>
          </a:prstGeom>
          <a:solidFill>
            <a:srgbClr val="01A7C2"/>
          </a:solidFill>
          <a:ln/>
        </p:spPr>
      </p:sp>
      <p:sp>
        <p:nvSpPr>
          <p:cNvPr id="26" name="Text 24"/>
          <p:cNvSpPr txBox="1"/>
          <p:nvPr/>
        </p:nvSpPr>
        <p:spPr>
          <a:xfrm>
            <a:off x="10254996" y="2194560"/>
            <a:ext cx="822960" cy="822960"/>
          </a:xfrm>
          <a:prstGeom prst="rect">
            <a:avLst/>
          </a:prstGeom>
          <a:noFill/>
          <a:ln/>
        </p:spPr>
        <p:txBody>
          <a:bodyPr wrap="square" lIns="0" tIns="0" rIns="0" bIns="0"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6</a:t>
            </a:r>
            <a:endParaRPr lang="en-US" sz="2000" dirty="0"/>
          </a:p>
        </p:txBody>
      </p:sp>
      <p:sp>
        <p:nvSpPr>
          <p:cNvPr id="27" name="Text 25"/>
          <p:cNvSpPr txBox="1"/>
          <p:nvPr/>
        </p:nvSpPr>
        <p:spPr>
          <a:xfrm>
            <a:off x="9683496" y="3154680"/>
            <a:ext cx="1965960" cy="640080"/>
          </a:xfrm>
          <a:prstGeom prst="rect">
            <a:avLst/>
          </a:prstGeom>
          <a:noFill/>
          <a:ln/>
        </p:spPr>
        <p:txBody>
          <a:bodyPr wrap="square" lIns="0" tIns="0" rIns="0" bIns="0" rtlCol="0" anchor="ctr"/>
          <a:lstStyle/>
          <a:p>
            <a:pPr algn="ctr" indent="0" marL="0">
              <a:buNone/>
            </a:pPr>
            <a:r>
              <a:rPr lang="en-US" sz="1300" b="1" dirty="0">
                <a:solidFill>
                  <a:srgbClr val="1B1B1B"/>
                </a:solidFill>
                <a:latin typeface="Cambria" pitchFamily="34" charset="0"/>
                <a:ea typeface="Cambria" pitchFamily="34" charset="-122"/>
                <a:cs typeface="Cambria" pitchFamily="34" charset="-120"/>
              </a:rPr>
              <a:t>Deployment</a:t>
            </a:r>
            <a:endParaRPr lang="en-US" sz="1300" dirty="0"/>
          </a:p>
        </p:txBody>
      </p:sp>
      <p:sp>
        <p:nvSpPr>
          <p:cNvPr id="28" name="Text 26"/>
          <p:cNvSpPr txBox="1"/>
          <p:nvPr/>
        </p:nvSpPr>
        <p:spPr>
          <a:xfrm>
            <a:off x="9683496" y="3794760"/>
            <a:ext cx="1965960" cy="548640"/>
          </a:xfrm>
          <a:prstGeom prst="rect">
            <a:avLst/>
          </a:prstGeom>
          <a:noFill/>
          <a:ln/>
        </p:spPr>
        <p:txBody>
          <a:bodyPr wrap="square" lIns="0" tIns="0" rIns="0" bIns="0" rtlCol="0" anchor="ctr"/>
          <a:lstStyle/>
          <a:p>
            <a:pPr algn="ctr" indent="0" marL="0">
              <a:buNone/>
            </a:pPr>
            <a:r>
              <a:rPr lang="en-US" sz="1100" i="1" dirty="0">
                <a:solidFill>
                  <a:srgbClr val="5B6B73"/>
                </a:solidFill>
                <a:latin typeface="Calibri" pitchFamily="34" charset="0"/>
                <a:ea typeface="Calibri" pitchFamily="34" charset="-122"/>
                <a:cs typeface="Calibri" pitchFamily="34" charset="-120"/>
              </a:rPr>
              <a:t>Whole team</a:t>
            </a:r>
            <a:endParaRPr lang="en-US" sz="1100" dirty="0"/>
          </a:p>
        </p:txBody>
      </p:sp>
      <p:sp>
        <p:nvSpPr>
          <p:cNvPr id="29" name="Shape 27"/>
          <p:cNvSpPr/>
          <p:nvPr/>
        </p:nvSpPr>
        <p:spPr>
          <a:xfrm>
            <a:off x="548640" y="4617720"/>
            <a:ext cx="11064240" cy="1417320"/>
          </a:xfrm>
          <a:prstGeom prst="roundRect">
            <a:avLst>
              <a:gd name="adj" fmla="val 3871"/>
            </a:avLst>
          </a:prstGeom>
          <a:solidFill>
            <a:srgbClr val="F5F9FA"/>
          </a:solidFill>
          <a:ln/>
        </p:spPr>
      </p:sp>
      <p:sp>
        <p:nvSpPr>
          <p:cNvPr id="30" name="Text 28"/>
          <p:cNvSpPr txBox="1"/>
          <p:nvPr/>
        </p:nvSpPr>
        <p:spPr>
          <a:xfrm>
            <a:off x="822960" y="4617720"/>
            <a:ext cx="10515600" cy="1417320"/>
          </a:xfrm>
          <a:prstGeom prst="rect">
            <a:avLst/>
          </a:prstGeom>
          <a:noFill/>
          <a:ln/>
        </p:spPr>
        <p:txBody>
          <a:bodyPr wrap="square" lIns="0" tIns="0" rIns="0" bIns="0" rtlCol="0" anchor="ctr"/>
          <a:lstStyle/>
          <a:p>
            <a:pPr indent="0" marL="0">
              <a:buNone/>
            </a:pPr>
            <a:r>
              <a:rPr lang="en-US" sz="1500" b="1" dirty="0">
                <a:solidFill>
                  <a:srgbClr val="0B4F6C"/>
                </a:solidFill>
                <a:latin typeface="Calibri" pitchFamily="34" charset="0"/>
                <a:ea typeface="Calibri" pitchFamily="34" charset="-122"/>
                <a:cs typeface="Calibri" pitchFamily="34" charset="-120"/>
              </a:rPr>
              <a:t>We treated Evaluation as more than a scoreboard: </a:t>
            </a:r>
            <a:pPr indent="0" marL="0">
              <a:buNone/>
            </a:pPr>
            <a:r>
              <a:rPr lang="en-US" sz="1500" dirty="0">
                <a:solidFill>
                  <a:srgbClr val="1B1B1B"/>
                </a:solidFill>
                <a:latin typeface="Calibri" pitchFamily="34" charset="0"/>
                <a:ea typeface="Calibri" pitchFamily="34" charset="-122"/>
                <a:cs typeface="Calibri" pitchFamily="34" charset="-120"/>
              </a:rPr>
              <a:t>a deliberate part of this phase was checking why the model performed so well, and being explicit about what that accuracy does and doesn't mean.</a:t>
            </a:r>
            <a:endParaRPr lang="en-US" sz="1500" dirty="0"/>
          </a:p>
        </p:txBody>
      </p:sp>
      <p:sp>
        <p:nvSpPr>
          <p:cNvPr id="31" name="Text 29"/>
          <p:cNvSpPr txBox="1"/>
          <p:nvPr/>
        </p:nvSpPr>
        <p:spPr>
          <a:xfrm>
            <a:off x="457200" y="6537960"/>
            <a:ext cx="5486400" cy="274320"/>
          </a:xfrm>
          <a:prstGeom prst="rect">
            <a:avLst/>
          </a:prstGeom>
          <a:noFill/>
          <a:ln/>
        </p:spPr>
        <p:txBody>
          <a:bodyPr wrap="square" lIns="0" tIns="0" rIns="0" bIns="0" rtlCol="0" anchor="ctr"/>
          <a:lstStyle/>
          <a:p>
            <a:pPr indent="0" marL="0">
              <a:buNone/>
            </a:pPr>
            <a:r>
              <a:rPr lang="en-US" sz="1000" dirty="0">
                <a:solidFill>
                  <a:srgbClr val="5B6B73"/>
                </a:solidFill>
                <a:latin typeface="Calibri" pitchFamily="34" charset="0"/>
                <a:ea typeface="Calibri" pitchFamily="34" charset="-122"/>
                <a:cs typeface="Calibri" pitchFamily="34" charset="-120"/>
              </a:rPr>
              <a:t>CRISP-DM Process</a:t>
            </a:r>
            <a:endParaRPr lang="en-US" sz="1000" dirty="0"/>
          </a:p>
        </p:txBody>
      </p:sp>
      <p:sp>
        <p:nvSpPr>
          <p:cNvPr id="32" name="Text 30"/>
          <p:cNvSpPr txBox="1"/>
          <p:nvPr/>
        </p:nvSpPr>
        <p:spPr>
          <a:xfrm>
            <a:off x="11274552" y="6537960"/>
            <a:ext cx="457200" cy="274320"/>
          </a:xfrm>
          <a:prstGeom prst="rect">
            <a:avLst/>
          </a:prstGeom>
          <a:noFill/>
          <a:ln/>
        </p:spPr>
        <p:txBody>
          <a:bodyPr wrap="square" lIns="0" tIns="0" rIns="0" bIns="0" rtlCol="0" anchor="ctr"/>
          <a:lstStyle/>
          <a:p>
            <a:pPr algn="r" indent="0" marL="0">
              <a:buNone/>
            </a:pPr>
            <a:r>
              <a:rPr lang="en-US" sz="1000" dirty="0">
                <a:solidFill>
                  <a:srgbClr val="5B6B73"/>
                </a:solidFill>
                <a:latin typeface="Calibri" pitchFamily="34" charset="0"/>
                <a:ea typeface="Calibri" pitchFamily="34" charset="-122"/>
                <a:cs typeface="Calibri" pitchFamily="34" charset="-120"/>
              </a:rPr>
              <a:t>4</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5F9FA"/>
        </a:solidFill>
      </p:bgPr>
    </p:bg>
    <p:spTree>
      <p:nvGrpSpPr>
        <p:cNvPr id="1" name=""/>
        <p:cNvGrpSpPr/>
        <p:nvPr/>
      </p:nvGrpSpPr>
      <p:grpSpPr>
        <a:xfrm>
          <a:off x="0" y="0"/>
          <a:ext cx="0" cy="0"/>
          <a:chOff x="0" y="0"/>
          <a:chExt cx="0" cy="0"/>
        </a:xfrm>
      </p:grpSpPr>
      <p:sp>
        <p:nvSpPr>
          <p:cNvPr id="2" name="Text 0"/>
          <p:cNvSpPr txBox="1"/>
          <p:nvPr/>
        </p:nvSpPr>
        <p:spPr>
          <a:xfrm>
            <a:off x="548640" y="411480"/>
            <a:ext cx="10972800" cy="640080"/>
          </a:xfrm>
          <a:prstGeom prst="rect">
            <a:avLst/>
          </a:prstGeom>
          <a:noFill/>
          <a:ln/>
        </p:spPr>
        <p:txBody>
          <a:bodyPr wrap="square" lIns="0" tIns="0" rIns="0" bIns="0" rtlCol="0" anchor="ctr"/>
          <a:lstStyle/>
          <a:p>
            <a:pPr indent="0" marL="0">
              <a:buNone/>
            </a:pPr>
            <a:r>
              <a:rPr lang="en-US" sz="3200" b="1" dirty="0">
                <a:solidFill>
                  <a:srgbClr val="0B4F6C"/>
                </a:solidFill>
                <a:latin typeface="Cambria" pitchFamily="34" charset="0"/>
                <a:ea typeface="Cambria" pitchFamily="34" charset="-122"/>
                <a:cs typeface="Cambria" pitchFamily="34" charset="-120"/>
              </a:rPr>
              <a:t>Data Preparation Highlights</a:t>
            </a:r>
            <a:endParaRPr lang="en-US" sz="3200" dirty="0"/>
          </a:p>
        </p:txBody>
      </p:sp>
      <p:sp>
        <p:nvSpPr>
          <p:cNvPr id="3" name="Text 1"/>
          <p:cNvSpPr txBox="1"/>
          <p:nvPr/>
        </p:nvSpPr>
        <p:spPr>
          <a:xfrm>
            <a:off x="548640" y="1051560"/>
            <a:ext cx="10698480" cy="411480"/>
          </a:xfrm>
          <a:prstGeom prst="rect">
            <a:avLst/>
          </a:prstGeom>
          <a:noFill/>
          <a:ln/>
        </p:spPr>
        <p:txBody>
          <a:bodyPr wrap="square" lIns="0" tIns="0" rIns="0" bIns="0" rtlCol="0" anchor="ctr"/>
          <a:lstStyle/>
          <a:p>
            <a:pPr indent="0" marL="0">
              <a:buNone/>
            </a:pPr>
            <a:r>
              <a:rPr lang="en-US" sz="1500" i="1" dirty="0">
                <a:solidFill>
                  <a:srgbClr val="5B6B73"/>
                </a:solidFill>
                <a:latin typeface="Calibri" pitchFamily="34" charset="0"/>
                <a:ea typeface="Calibri" pitchFamily="34" charset="-122"/>
                <a:cs typeface="Calibri" pitchFamily="34" charset="-120"/>
              </a:rPr>
              <a:t>Turning 1.29M raw rows into one clean, modeling-ready table</a:t>
            </a:r>
            <a:endParaRPr lang="en-US" sz="1500" dirty="0"/>
          </a:p>
        </p:txBody>
      </p:sp>
      <p:sp>
        <p:nvSpPr>
          <p:cNvPr id="4" name="Shape 2"/>
          <p:cNvSpPr/>
          <p:nvPr/>
        </p:nvSpPr>
        <p:spPr>
          <a:xfrm>
            <a:off x="548640" y="1874520"/>
            <a:ext cx="5394960" cy="1691640"/>
          </a:xfrm>
          <a:prstGeom prst="roundRect">
            <a:avLst>
              <a:gd name="adj" fmla="val 4324"/>
            </a:avLst>
          </a:prstGeom>
          <a:solidFill>
            <a:srgbClr val="FFFFFF"/>
          </a:solidFill>
          <a:ln w="12700">
            <a:solidFill>
              <a:srgbClr val="DCE6E9"/>
            </a:solidFill>
            <a:prstDash val="solid"/>
          </a:ln>
          <a:effectLst>
            <a:outerShdw sx="100000" sy="100000" kx="0" ky="0" algn="bl" rotWithShape="0" blurRad="63500" dist="25400" dir="5400000">
              <a:srgbClr val="000000">
                <a:alpha val="10000"/>
              </a:srgbClr>
            </a:outerShdw>
          </a:effectLst>
        </p:spPr>
      </p:sp>
      <p:sp>
        <p:nvSpPr>
          <p:cNvPr id="5" name="Shape 3"/>
          <p:cNvSpPr/>
          <p:nvPr/>
        </p:nvSpPr>
        <p:spPr>
          <a:xfrm>
            <a:off x="822960" y="2148840"/>
            <a:ext cx="457200" cy="457200"/>
          </a:xfrm>
          <a:prstGeom prst="ellipse">
            <a:avLst/>
          </a:prstGeom>
          <a:solidFill>
            <a:srgbClr val="0B4F6C"/>
          </a:solidFill>
          <a:ln/>
        </p:spPr>
      </p:sp>
      <p:sp>
        <p:nvSpPr>
          <p:cNvPr id="6" name="Text 4"/>
          <p:cNvSpPr txBox="1"/>
          <p:nvPr/>
        </p:nvSpPr>
        <p:spPr>
          <a:xfrm>
            <a:off x="822960" y="2148840"/>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1</a:t>
            </a:r>
            <a:endParaRPr lang="en-US" sz="1500" dirty="0"/>
          </a:p>
        </p:txBody>
      </p:sp>
      <p:sp>
        <p:nvSpPr>
          <p:cNvPr id="7" name="Text 5"/>
          <p:cNvSpPr txBox="1"/>
          <p:nvPr/>
        </p:nvSpPr>
        <p:spPr>
          <a:xfrm>
            <a:off x="1463040" y="2057400"/>
            <a:ext cx="4297680" cy="457200"/>
          </a:xfrm>
          <a:prstGeom prst="rect">
            <a:avLst/>
          </a:prstGeom>
          <a:noFill/>
          <a:ln/>
        </p:spPr>
        <p:txBody>
          <a:bodyPr wrap="square" lIns="0" tIns="0" rIns="0" bIns="0" rtlCol="0" anchor="ctr"/>
          <a:lstStyle/>
          <a:p>
            <a:pPr indent="0" marL="0">
              <a:buNone/>
            </a:pPr>
            <a:r>
              <a:rPr lang="en-US" sz="1500" b="1" dirty="0">
                <a:solidFill>
                  <a:srgbClr val="1B1B1B"/>
                </a:solidFill>
                <a:latin typeface="Cambria" pitchFamily="34" charset="0"/>
                <a:ea typeface="Cambria" pitchFamily="34" charset="-122"/>
                <a:cs typeface="Cambria" pitchFamily="34" charset="-120"/>
              </a:rPr>
              <a:t>Caught a real data bug</a:t>
            </a:r>
            <a:endParaRPr lang="en-US" sz="1500" dirty="0"/>
          </a:p>
        </p:txBody>
      </p:sp>
      <p:sp>
        <p:nvSpPr>
          <p:cNvPr id="8" name="Text 6"/>
          <p:cNvSpPr txBox="1"/>
          <p:nvPr/>
        </p:nvSpPr>
        <p:spPr>
          <a:xfrm>
            <a:off x="822960" y="2651760"/>
            <a:ext cx="4892040" cy="822960"/>
          </a:xfrm>
          <a:prstGeom prst="rect">
            <a:avLst/>
          </a:prstGeom>
          <a:noFill/>
          <a:ln/>
        </p:spPr>
        <p:txBody>
          <a:bodyPr wrap="square" lIns="0" tIns="0" rIns="0" bIns="0" rtlCol="0" anchor="ctr"/>
          <a:lstStyle/>
          <a:p>
            <a:pPr indent="0" marL="0">
              <a:buNone/>
            </a:pPr>
            <a:r>
              <a:rPr lang="en-US" sz="1250" dirty="0">
                <a:solidFill>
                  <a:srgbClr val="5B6B73"/>
                </a:solidFill>
                <a:latin typeface="Calibri" pitchFamily="34" charset="0"/>
                <a:ea typeface="Calibri" pitchFamily="34" charset="-122"/>
                <a:cs typeface="Calibri" pitchFamily="34" charset="-120"/>
              </a:rPr>
              <a:t>5 junk rows at the end of the export were an appended API error message — removed before anything else.</a:t>
            </a:r>
            <a:endParaRPr lang="en-US" sz="1250" dirty="0"/>
          </a:p>
        </p:txBody>
      </p:sp>
      <p:sp>
        <p:nvSpPr>
          <p:cNvPr id="9" name="Shape 7"/>
          <p:cNvSpPr/>
          <p:nvPr/>
        </p:nvSpPr>
        <p:spPr>
          <a:xfrm>
            <a:off x="6172200" y="1874520"/>
            <a:ext cx="5394960" cy="1691640"/>
          </a:xfrm>
          <a:prstGeom prst="roundRect">
            <a:avLst>
              <a:gd name="adj" fmla="val 4324"/>
            </a:avLst>
          </a:prstGeom>
          <a:solidFill>
            <a:srgbClr val="FFFFFF"/>
          </a:solidFill>
          <a:ln w="12700">
            <a:solidFill>
              <a:srgbClr val="DCE6E9"/>
            </a:solidFill>
            <a:prstDash val="solid"/>
          </a:ln>
          <a:effectLst>
            <a:outerShdw sx="100000" sy="100000" kx="0" ky="0" algn="bl" rotWithShape="0" blurRad="63500" dist="25400" dir="5400000">
              <a:srgbClr val="000000">
                <a:alpha val="10000"/>
              </a:srgbClr>
            </a:outerShdw>
          </a:effectLst>
        </p:spPr>
      </p:sp>
      <p:sp>
        <p:nvSpPr>
          <p:cNvPr id="10" name="Shape 8"/>
          <p:cNvSpPr/>
          <p:nvPr/>
        </p:nvSpPr>
        <p:spPr>
          <a:xfrm>
            <a:off x="6446520" y="2148840"/>
            <a:ext cx="457200" cy="457200"/>
          </a:xfrm>
          <a:prstGeom prst="ellipse">
            <a:avLst/>
          </a:prstGeom>
          <a:solidFill>
            <a:srgbClr val="0B4F6C"/>
          </a:solidFill>
          <a:ln/>
        </p:spPr>
      </p:sp>
      <p:sp>
        <p:nvSpPr>
          <p:cNvPr id="11" name="Text 9"/>
          <p:cNvSpPr txBox="1"/>
          <p:nvPr/>
        </p:nvSpPr>
        <p:spPr>
          <a:xfrm>
            <a:off x="6446520" y="2148840"/>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2</a:t>
            </a:r>
            <a:endParaRPr lang="en-US" sz="1500" dirty="0"/>
          </a:p>
        </p:txBody>
      </p:sp>
      <p:sp>
        <p:nvSpPr>
          <p:cNvPr id="12" name="Text 10"/>
          <p:cNvSpPr txBox="1"/>
          <p:nvPr/>
        </p:nvSpPr>
        <p:spPr>
          <a:xfrm>
            <a:off x="7086600" y="2057400"/>
            <a:ext cx="4297680" cy="457200"/>
          </a:xfrm>
          <a:prstGeom prst="rect">
            <a:avLst/>
          </a:prstGeom>
          <a:noFill/>
          <a:ln/>
        </p:spPr>
        <p:txBody>
          <a:bodyPr wrap="square" lIns="0" tIns="0" rIns="0" bIns="0" rtlCol="0" anchor="ctr"/>
          <a:lstStyle/>
          <a:p>
            <a:pPr indent="0" marL="0">
              <a:buNone/>
            </a:pPr>
            <a:r>
              <a:rPr lang="en-US" sz="1500" b="1" dirty="0">
                <a:solidFill>
                  <a:srgbClr val="1B1B1B"/>
                </a:solidFill>
                <a:latin typeface="Cambria" pitchFamily="34" charset="0"/>
                <a:ea typeface="Cambria" pitchFamily="34" charset="-122"/>
                <a:cs typeface="Cambria" pitchFamily="34" charset="-120"/>
              </a:rPr>
              <a:t>Reshaped long format to wide</a:t>
            </a:r>
            <a:endParaRPr lang="en-US" sz="1500" dirty="0"/>
          </a:p>
        </p:txBody>
      </p:sp>
      <p:sp>
        <p:nvSpPr>
          <p:cNvPr id="13" name="Text 11"/>
          <p:cNvSpPr txBox="1"/>
          <p:nvPr/>
        </p:nvSpPr>
        <p:spPr>
          <a:xfrm>
            <a:off x="6446520" y="2651760"/>
            <a:ext cx="4892040" cy="822960"/>
          </a:xfrm>
          <a:prstGeom prst="rect">
            <a:avLst/>
          </a:prstGeom>
          <a:noFill/>
          <a:ln/>
        </p:spPr>
        <p:txBody>
          <a:bodyPr wrap="square" lIns="0" tIns="0" rIns="0" bIns="0" rtlCol="0" anchor="ctr"/>
          <a:lstStyle/>
          <a:p>
            <a:pPr indent="0" marL="0">
              <a:buNone/>
            </a:pPr>
            <a:r>
              <a:rPr lang="en-US" sz="1250" dirty="0">
                <a:solidFill>
                  <a:srgbClr val="5B6B73"/>
                </a:solidFill>
                <a:latin typeface="Calibri" pitchFamily="34" charset="0"/>
                <a:ea typeface="Calibri" pitchFamily="34" charset="-122"/>
                <a:cs typeface="Calibri" pitchFamily="34" charset="-120"/>
              </a:rPr>
              <a:t>Pivoted from one row per (tract × measure) to one row per tract, 40 measure columns.</a:t>
            </a:r>
            <a:endParaRPr lang="en-US" sz="1250" dirty="0"/>
          </a:p>
        </p:txBody>
      </p:sp>
      <p:sp>
        <p:nvSpPr>
          <p:cNvPr id="14" name="Shape 12"/>
          <p:cNvSpPr/>
          <p:nvPr/>
        </p:nvSpPr>
        <p:spPr>
          <a:xfrm>
            <a:off x="548640" y="3794760"/>
            <a:ext cx="5394960" cy="1691640"/>
          </a:xfrm>
          <a:prstGeom prst="roundRect">
            <a:avLst>
              <a:gd name="adj" fmla="val 4324"/>
            </a:avLst>
          </a:prstGeom>
          <a:solidFill>
            <a:srgbClr val="FFFFFF"/>
          </a:solidFill>
          <a:ln w="12700">
            <a:solidFill>
              <a:srgbClr val="DCE6E9"/>
            </a:solidFill>
            <a:prstDash val="solid"/>
          </a:ln>
          <a:effectLst>
            <a:outerShdw sx="100000" sy="100000" kx="0" ky="0" algn="bl" rotWithShape="0" blurRad="63500" dist="25400" dir="5400000">
              <a:srgbClr val="000000">
                <a:alpha val="10000"/>
              </a:srgbClr>
            </a:outerShdw>
          </a:effectLst>
        </p:spPr>
      </p:sp>
      <p:sp>
        <p:nvSpPr>
          <p:cNvPr id="15" name="Shape 13"/>
          <p:cNvSpPr/>
          <p:nvPr/>
        </p:nvSpPr>
        <p:spPr>
          <a:xfrm>
            <a:off x="822960" y="4069080"/>
            <a:ext cx="457200" cy="457200"/>
          </a:xfrm>
          <a:prstGeom prst="ellipse">
            <a:avLst/>
          </a:prstGeom>
          <a:solidFill>
            <a:srgbClr val="0B4F6C"/>
          </a:solidFill>
          <a:ln/>
        </p:spPr>
      </p:sp>
      <p:sp>
        <p:nvSpPr>
          <p:cNvPr id="16" name="Text 14"/>
          <p:cNvSpPr txBox="1"/>
          <p:nvPr/>
        </p:nvSpPr>
        <p:spPr>
          <a:xfrm>
            <a:off x="822960" y="4069080"/>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3</a:t>
            </a:r>
            <a:endParaRPr lang="en-US" sz="1500" dirty="0"/>
          </a:p>
        </p:txBody>
      </p:sp>
      <p:sp>
        <p:nvSpPr>
          <p:cNvPr id="17" name="Text 15"/>
          <p:cNvSpPr txBox="1"/>
          <p:nvPr/>
        </p:nvSpPr>
        <p:spPr>
          <a:xfrm>
            <a:off x="1463040" y="3977640"/>
            <a:ext cx="4297680" cy="457200"/>
          </a:xfrm>
          <a:prstGeom prst="rect">
            <a:avLst/>
          </a:prstGeom>
          <a:noFill/>
          <a:ln/>
        </p:spPr>
        <p:txBody>
          <a:bodyPr wrap="square" lIns="0" tIns="0" rIns="0" bIns="0" rtlCol="0" anchor="ctr"/>
          <a:lstStyle/>
          <a:p>
            <a:pPr indent="0" marL="0">
              <a:buNone/>
            </a:pPr>
            <a:r>
              <a:rPr lang="en-US" sz="1500" b="1" dirty="0">
                <a:solidFill>
                  <a:srgbClr val="1B1B1B"/>
                </a:solidFill>
                <a:latin typeface="Cambria" pitchFamily="34" charset="0"/>
                <a:ea typeface="Cambria" pitchFamily="34" charset="-122"/>
                <a:cs typeface="Cambria" pitchFamily="34" charset="-120"/>
              </a:rPr>
              <a:t>Handled missing values deliberately</a:t>
            </a:r>
            <a:endParaRPr lang="en-US" sz="1500" dirty="0"/>
          </a:p>
        </p:txBody>
      </p:sp>
      <p:sp>
        <p:nvSpPr>
          <p:cNvPr id="18" name="Text 16"/>
          <p:cNvSpPr txBox="1"/>
          <p:nvPr/>
        </p:nvSpPr>
        <p:spPr>
          <a:xfrm>
            <a:off x="822960" y="4572000"/>
            <a:ext cx="4892040" cy="822960"/>
          </a:xfrm>
          <a:prstGeom prst="rect">
            <a:avLst/>
          </a:prstGeom>
          <a:noFill/>
          <a:ln/>
        </p:spPr>
        <p:txBody>
          <a:bodyPr wrap="square" lIns="0" tIns="0" rIns="0" bIns="0" rtlCol="0" anchor="ctr"/>
          <a:lstStyle/>
          <a:p>
            <a:pPr indent="0" marL="0">
              <a:buNone/>
            </a:pPr>
            <a:r>
              <a:rPr lang="en-US" sz="1250" dirty="0">
                <a:solidFill>
                  <a:srgbClr val="5B6B73"/>
                </a:solidFill>
                <a:latin typeface="Calibri" pitchFamily="34" charset="0"/>
                <a:ea typeface="Calibri" pitchFamily="34" charset="-122"/>
                <a:cs typeface="Calibri" pitchFamily="34" charset="-120"/>
              </a:rPr>
              <a:t>Dropped rows missing the target; median-imputed the rest (5–25% missing per column).</a:t>
            </a:r>
            <a:endParaRPr lang="en-US" sz="1250" dirty="0"/>
          </a:p>
        </p:txBody>
      </p:sp>
      <p:sp>
        <p:nvSpPr>
          <p:cNvPr id="19" name="Shape 17"/>
          <p:cNvSpPr/>
          <p:nvPr/>
        </p:nvSpPr>
        <p:spPr>
          <a:xfrm>
            <a:off x="6172200" y="3794760"/>
            <a:ext cx="5394960" cy="1691640"/>
          </a:xfrm>
          <a:prstGeom prst="roundRect">
            <a:avLst>
              <a:gd name="adj" fmla="val 4324"/>
            </a:avLst>
          </a:prstGeom>
          <a:solidFill>
            <a:srgbClr val="FFFFFF"/>
          </a:solidFill>
          <a:ln w="12700">
            <a:solidFill>
              <a:srgbClr val="DCE6E9"/>
            </a:solidFill>
            <a:prstDash val="solid"/>
          </a:ln>
          <a:effectLst>
            <a:outerShdw sx="100000" sy="100000" kx="0" ky="0" algn="bl" rotWithShape="0" blurRad="63500" dist="25400" dir="5400000">
              <a:srgbClr val="000000">
                <a:alpha val="10000"/>
              </a:srgbClr>
            </a:outerShdw>
          </a:effectLst>
        </p:spPr>
      </p:sp>
      <p:sp>
        <p:nvSpPr>
          <p:cNvPr id="20" name="Shape 18"/>
          <p:cNvSpPr/>
          <p:nvPr/>
        </p:nvSpPr>
        <p:spPr>
          <a:xfrm>
            <a:off x="6446520" y="4069080"/>
            <a:ext cx="457200" cy="457200"/>
          </a:xfrm>
          <a:prstGeom prst="ellipse">
            <a:avLst/>
          </a:prstGeom>
          <a:solidFill>
            <a:srgbClr val="0B4F6C"/>
          </a:solidFill>
          <a:ln/>
        </p:spPr>
      </p:sp>
      <p:sp>
        <p:nvSpPr>
          <p:cNvPr id="21" name="Text 19"/>
          <p:cNvSpPr txBox="1"/>
          <p:nvPr/>
        </p:nvSpPr>
        <p:spPr>
          <a:xfrm>
            <a:off x="6446520" y="4069080"/>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4</a:t>
            </a:r>
            <a:endParaRPr lang="en-US" sz="1500" dirty="0"/>
          </a:p>
        </p:txBody>
      </p:sp>
      <p:sp>
        <p:nvSpPr>
          <p:cNvPr id="22" name="Text 20"/>
          <p:cNvSpPr txBox="1"/>
          <p:nvPr/>
        </p:nvSpPr>
        <p:spPr>
          <a:xfrm>
            <a:off x="7086600" y="3977640"/>
            <a:ext cx="4297680" cy="457200"/>
          </a:xfrm>
          <a:prstGeom prst="rect">
            <a:avLst/>
          </a:prstGeom>
          <a:noFill/>
          <a:ln/>
        </p:spPr>
        <p:txBody>
          <a:bodyPr wrap="square" lIns="0" tIns="0" rIns="0" bIns="0" rtlCol="0" anchor="ctr"/>
          <a:lstStyle/>
          <a:p>
            <a:pPr indent="0" marL="0">
              <a:buNone/>
            </a:pPr>
            <a:r>
              <a:rPr lang="en-US" sz="1500" b="1" dirty="0">
                <a:solidFill>
                  <a:srgbClr val="1B1B1B"/>
                </a:solidFill>
                <a:latin typeface="Cambria" pitchFamily="34" charset="0"/>
                <a:ea typeface="Cambria" pitchFamily="34" charset="-122"/>
                <a:cs typeface="Cambria" pitchFamily="34" charset="-120"/>
              </a:rPr>
              <a:t>Filtered unstable estimates</a:t>
            </a:r>
            <a:endParaRPr lang="en-US" sz="1500" dirty="0"/>
          </a:p>
        </p:txBody>
      </p:sp>
      <p:sp>
        <p:nvSpPr>
          <p:cNvPr id="23" name="Text 21"/>
          <p:cNvSpPr txBox="1"/>
          <p:nvPr/>
        </p:nvSpPr>
        <p:spPr>
          <a:xfrm>
            <a:off x="6446520" y="4572000"/>
            <a:ext cx="4892040" cy="822960"/>
          </a:xfrm>
          <a:prstGeom prst="rect">
            <a:avLst/>
          </a:prstGeom>
          <a:noFill/>
          <a:ln/>
        </p:spPr>
        <p:txBody>
          <a:bodyPr wrap="square" lIns="0" tIns="0" rIns="0" bIns="0" rtlCol="0" anchor="ctr"/>
          <a:lstStyle/>
          <a:p>
            <a:pPr indent="0" marL="0">
              <a:buNone/>
            </a:pPr>
            <a:r>
              <a:rPr lang="en-US" sz="1250" dirty="0">
                <a:solidFill>
                  <a:srgbClr val="5B6B73"/>
                </a:solidFill>
                <a:latin typeface="Calibri" pitchFamily="34" charset="0"/>
                <a:ea typeface="Calibri" pitchFamily="34" charset="-122"/>
                <a:cs typeface="Calibri" pitchFamily="34" charset="-120"/>
              </a:rPr>
              <a:t>Removed 11 tracts with population under 100.</a:t>
            </a:r>
            <a:endParaRPr lang="en-US" sz="1250" dirty="0"/>
          </a:p>
        </p:txBody>
      </p:sp>
      <p:sp>
        <p:nvSpPr>
          <p:cNvPr id="24" name="Shape 22"/>
          <p:cNvSpPr/>
          <p:nvPr/>
        </p:nvSpPr>
        <p:spPr>
          <a:xfrm>
            <a:off x="548640" y="5806440"/>
            <a:ext cx="11064240" cy="640080"/>
          </a:xfrm>
          <a:prstGeom prst="roundRect">
            <a:avLst>
              <a:gd name="adj" fmla="val 8571"/>
            </a:avLst>
          </a:prstGeom>
          <a:solidFill>
            <a:srgbClr val="0B4F6C"/>
          </a:solidFill>
          <a:ln/>
        </p:spPr>
      </p:sp>
      <p:sp>
        <p:nvSpPr>
          <p:cNvPr id="25" name="Text 23"/>
          <p:cNvSpPr txBox="1"/>
          <p:nvPr/>
        </p:nvSpPr>
        <p:spPr>
          <a:xfrm>
            <a:off x="777240" y="5806440"/>
            <a:ext cx="10607040" cy="640080"/>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Result:  </a:t>
            </a:r>
            <a:pPr indent="0" marL="0">
              <a:buNone/>
            </a:pPr>
            <a:r>
              <a:rPr lang="en-US" sz="1400" dirty="0">
                <a:solidFill>
                  <a:srgbClr val="E8F3F5"/>
                </a:solidFill>
                <a:latin typeface="Calibri" pitchFamily="34" charset="0"/>
                <a:ea typeface="Calibri" pitchFamily="34" charset="-122"/>
                <a:cs typeface="Calibri" pitchFamily="34" charset="-120"/>
              </a:rPr>
              <a:t>33,180 census tracts × 48 columns, zero missing values, ready for EDA and modeling.</a:t>
            </a:r>
            <a:endParaRPr lang="en-US" sz="1400" dirty="0"/>
          </a:p>
        </p:txBody>
      </p:sp>
      <p:sp>
        <p:nvSpPr>
          <p:cNvPr id="26" name="Text 24"/>
          <p:cNvSpPr txBox="1"/>
          <p:nvPr/>
        </p:nvSpPr>
        <p:spPr>
          <a:xfrm>
            <a:off x="457200" y="6537960"/>
            <a:ext cx="5486400" cy="274320"/>
          </a:xfrm>
          <a:prstGeom prst="rect">
            <a:avLst/>
          </a:prstGeom>
          <a:noFill/>
          <a:ln/>
        </p:spPr>
        <p:txBody>
          <a:bodyPr wrap="square" lIns="0" tIns="0" rIns="0" bIns="0" rtlCol="0" anchor="ctr"/>
          <a:lstStyle/>
          <a:p>
            <a:pPr indent="0" marL="0">
              <a:buNone/>
            </a:pPr>
            <a:r>
              <a:rPr lang="en-US" sz="1000" dirty="0">
                <a:solidFill>
                  <a:srgbClr val="5B6B73"/>
                </a:solidFill>
                <a:latin typeface="Calibri" pitchFamily="34" charset="0"/>
                <a:ea typeface="Calibri" pitchFamily="34" charset="-122"/>
                <a:cs typeface="Calibri" pitchFamily="34" charset="-120"/>
              </a:rPr>
              <a:t>Data Preparation</a:t>
            </a:r>
            <a:endParaRPr lang="en-US" sz="1000" dirty="0"/>
          </a:p>
        </p:txBody>
      </p:sp>
      <p:sp>
        <p:nvSpPr>
          <p:cNvPr id="27" name="Text 25"/>
          <p:cNvSpPr txBox="1"/>
          <p:nvPr/>
        </p:nvSpPr>
        <p:spPr>
          <a:xfrm>
            <a:off x="11274552" y="6537960"/>
            <a:ext cx="457200" cy="274320"/>
          </a:xfrm>
          <a:prstGeom prst="rect">
            <a:avLst/>
          </a:prstGeom>
          <a:noFill/>
          <a:ln/>
        </p:spPr>
        <p:txBody>
          <a:bodyPr wrap="square" lIns="0" tIns="0" rIns="0" bIns="0" rtlCol="0" anchor="ctr"/>
          <a:lstStyle/>
          <a:p>
            <a:pPr algn="r" indent="0" marL="0">
              <a:buNone/>
            </a:pPr>
            <a:r>
              <a:rPr lang="en-US" sz="1000" dirty="0">
                <a:solidFill>
                  <a:srgbClr val="5B6B73"/>
                </a:solidFill>
                <a:latin typeface="Calibri" pitchFamily="34" charset="0"/>
                <a:ea typeface="Calibri" pitchFamily="34" charset="-122"/>
                <a:cs typeface="Calibri" pitchFamily="34" charset="-120"/>
              </a:rPr>
              <a:t>5</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10972800" cy="640080"/>
          </a:xfrm>
          <a:prstGeom prst="rect">
            <a:avLst/>
          </a:prstGeom>
          <a:noFill/>
          <a:ln/>
        </p:spPr>
        <p:txBody>
          <a:bodyPr wrap="square" lIns="0" tIns="0" rIns="0" bIns="0" rtlCol="0" anchor="ctr"/>
          <a:lstStyle/>
          <a:p>
            <a:pPr indent="0" marL="0">
              <a:buNone/>
            </a:pPr>
            <a:r>
              <a:rPr lang="en-US" sz="3200" b="1" dirty="0">
                <a:solidFill>
                  <a:srgbClr val="0B4F6C"/>
                </a:solidFill>
                <a:latin typeface="Cambria" pitchFamily="34" charset="0"/>
                <a:ea typeface="Cambria" pitchFamily="34" charset="-122"/>
                <a:cs typeface="Cambria" pitchFamily="34" charset="-120"/>
              </a:rPr>
              <a:t>What Are We Predicting?</a:t>
            </a:r>
            <a:endParaRPr lang="en-US" sz="3200" dirty="0"/>
          </a:p>
        </p:txBody>
      </p:sp>
      <p:sp>
        <p:nvSpPr>
          <p:cNvPr id="3" name="Text 1"/>
          <p:cNvSpPr txBox="1"/>
          <p:nvPr/>
        </p:nvSpPr>
        <p:spPr>
          <a:xfrm>
            <a:off x="548640" y="1051560"/>
            <a:ext cx="10698480" cy="411480"/>
          </a:xfrm>
          <a:prstGeom prst="rect">
            <a:avLst/>
          </a:prstGeom>
          <a:noFill/>
          <a:ln/>
        </p:spPr>
        <p:txBody>
          <a:bodyPr wrap="square" lIns="0" tIns="0" rIns="0" bIns="0" rtlCol="0" anchor="ctr"/>
          <a:lstStyle/>
          <a:p>
            <a:pPr indent="0" marL="0">
              <a:buNone/>
            </a:pPr>
            <a:r>
              <a:rPr lang="en-US" sz="1500" i="1" dirty="0">
                <a:solidFill>
                  <a:srgbClr val="5B6B73"/>
                </a:solidFill>
                <a:latin typeface="Calibri" pitchFamily="34" charset="0"/>
                <a:ea typeface="Calibri" pitchFamily="34" charset="-122"/>
                <a:cs typeface="Calibri" pitchFamily="34" charset="-120"/>
              </a:rPr>
              <a:t>The distribution of diabetes prevalence across census tracts</a:t>
            </a:r>
            <a:endParaRPr lang="en-US" sz="1500" dirty="0"/>
          </a:p>
        </p:txBody>
      </p:sp>
      <p:pic>
        <p:nvPicPr>
          <p:cNvPr id="4" name="Image 0" descr="/home/claude/assets/01_target_distribution.png">    </p:cNvPr>
          <p:cNvPicPr>
            <a:picLocks noChangeAspect="1"/>
          </p:cNvPicPr>
          <p:nvPr/>
        </p:nvPicPr>
        <p:blipFill>
          <a:blip r:embed="rId1"/>
          <a:stretch>
            <a:fillRect/>
          </a:stretch>
        </p:blipFill>
        <p:spPr>
          <a:xfrm>
            <a:off x="548640" y="1691640"/>
            <a:ext cx="7498080" cy="3749040"/>
          </a:xfrm>
          <a:prstGeom prst="rect">
            <a:avLst/>
          </a:prstGeom>
        </p:spPr>
      </p:pic>
      <p:sp>
        <p:nvSpPr>
          <p:cNvPr id="5" name="Shape 2"/>
          <p:cNvSpPr/>
          <p:nvPr/>
        </p:nvSpPr>
        <p:spPr>
          <a:xfrm>
            <a:off x="8321040" y="1828800"/>
            <a:ext cx="3291840" cy="1051560"/>
          </a:xfrm>
          <a:prstGeom prst="roundRect">
            <a:avLst>
              <a:gd name="adj" fmla="val 6957"/>
            </a:avLst>
          </a:prstGeom>
          <a:solidFill>
            <a:srgbClr val="F5F9FA"/>
          </a:solidFill>
          <a:ln/>
        </p:spPr>
      </p:sp>
      <p:sp>
        <p:nvSpPr>
          <p:cNvPr id="6" name="Text 3"/>
          <p:cNvSpPr txBox="1"/>
          <p:nvPr/>
        </p:nvSpPr>
        <p:spPr>
          <a:xfrm>
            <a:off x="8503920" y="1901952"/>
            <a:ext cx="2926080" cy="502920"/>
          </a:xfrm>
          <a:prstGeom prst="rect">
            <a:avLst/>
          </a:prstGeom>
          <a:noFill/>
          <a:ln/>
        </p:spPr>
        <p:txBody>
          <a:bodyPr wrap="square" lIns="0" tIns="0" rIns="0" bIns="0" rtlCol="0" anchor="ctr"/>
          <a:lstStyle/>
          <a:p>
            <a:pPr indent="0" marL="0">
              <a:buNone/>
            </a:pPr>
            <a:r>
              <a:rPr lang="en-US" sz="2200" b="1" dirty="0">
                <a:solidFill>
                  <a:srgbClr val="0B4F6C"/>
                </a:solidFill>
                <a:latin typeface="Cambria" pitchFamily="34" charset="0"/>
                <a:ea typeface="Cambria" pitchFamily="34" charset="-122"/>
                <a:cs typeface="Cambria" pitchFamily="34" charset="-120"/>
              </a:rPr>
              <a:t>12.5%</a:t>
            </a:r>
            <a:endParaRPr lang="en-US" sz="2200" dirty="0"/>
          </a:p>
        </p:txBody>
      </p:sp>
      <p:sp>
        <p:nvSpPr>
          <p:cNvPr id="7" name="Text 4"/>
          <p:cNvSpPr txBox="1"/>
          <p:nvPr/>
        </p:nvSpPr>
        <p:spPr>
          <a:xfrm>
            <a:off x="8503920" y="2377440"/>
            <a:ext cx="2926080" cy="457200"/>
          </a:xfrm>
          <a:prstGeom prst="rect">
            <a:avLst/>
          </a:prstGeom>
          <a:noFill/>
          <a:ln/>
        </p:spPr>
        <p:txBody>
          <a:bodyPr wrap="square" lIns="0" tIns="0" rIns="0" bIns="0" rtlCol="0" anchor="ctr"/>
          <a:lstStyle/>
          <a:p>
            <a:pPr indent="0" marL="0">
              <a:buNone/>
            </a:pPr>
            <a:r>
              <a:rPr lang="en-US" sz="1150" dirty="0">
                <a:solidFill>
                  <a:srgbClr val="5B6B73"/>
                </a:solidFill>
                <a:latin typeface="Calibri" pitchFamily="34" charset="0"/>
                <a:ea typeface="Calibri" pitchFamily="34" charset="-122"/>
                <a:cs typeface="Calibri" pitchFamily="34" charset="-120"/>
              </a:rPr>
              <a:t>average tract</a:t>
            </a:r>
            <a:endParaRPr lang="en-US" sz="1150" dirty="0"/>
          </a:p>
          <a:p>
            <a:pPr indent="0" marL="0">
              <a:buNone/>
            </a:pPr>
            <a:r>
              <a:rPr lang="en-US" sz="1150" dirty="0">
                <a:solidFill>
                  <a:srgbClr val="5B6B73"/>
                </a:solidFill>
                <a:latin typeface="Calibri" pitchFamily="34" charset="0"/>
                <a:ea typeface="Calibri" pitchFamily="34" charset="-122"/>
                <a:cs typeface="Calibri" pitchFamily="34" charset="-120"/>
              </a:rPr>
              <a:t>prevalence</a:t>
            </a:r>
            <a:endParaRPr lang="en-US" sz="1150" dirty="0"/>
          </a:p>
        </p:txBody>
      </p:sp>
      <p:sp>
        <p:nvSpPr>
          <p:cNvPr id="8" name="Shape 5"/>
          <p:cNvSpPr/>
          <p:nvPr/>
        </p:nvSpPr>
        <p:spPr>
          <a:xfrm>
            <a:off x="8321040" y="3063240"/>
            <a:ext cx="3291840" cy="1051560"/>
          </a:xfrm>
          <a:prstGeom prst="roundRect">
            <a:avLst>
              <a:gd name="adj" fmla="val 6957"/>
            </a:avLst>
          </a:prstGeom>
          <a:solidFill>
            <a:srgbClr val="F5F9FA"/>
          </a:solidFill>
          <a:ln/>
        </p:spPr>
      </p:sp>
      <p:sp>
        <p:nvSpPr>
          <p:cNvPr id="9" name="Text 6"/>
          <p:cNvSpPr txBox="1"/>
          <p:nvPr/>
        </p:nvSpPr>
        <p:spPr>
          <a:xfrm>
            <a:off x="8503920" y="3136392"/>
            <a:ext cx="2926080" cy="502920"/>
          </a:xfrm>
          <a:prstGeom prst="rect">
            <a:avLst/>
          </a:prstGeom>
          <a:noFill/>
          <a:ln/>
        </p:spPr>
        <p:txBody>
          <a:bodyPr wrap="square" lIns="0" tIns="0" rIns="0" bIns="0" rtlCol="0" anchor="ctr"/>
          <a:lstStyle/>
          <a:p>
            <a:pPr indent="0" marL="0">
              <a:buNone/>
            </a:pPr>
            <a:r>
              <a:rPr lang="en-US" sz="2200" b="1" dirty="0">
                <a:solidFill>
                  <a:srgbClr val="0B4F6C"/>
                </a:solidFill>
                <a:latin typeface="Cambria" pitchFamily="34" charset="0"/>
                <a:ea typeface="Cambria" pitchFamily="34" charset="-122"/>
                <a:cs typeface="Cambria" pitchFamily="34" charset="-120"/>
              </a:rPr>
              <a:t>10–14.5%</a:t>
            </a:r>
            <a:endParaRPr lang="en-US" sz="2200" dirty="0"/>
          </a:p>
        </p:txBody>
      </p:sp>
      <p:sp>
        <p:nvSpPr>
          <p:cNvPr id="10" name="Text 7"/>
          <p:cNvSpPr txBox="1"/>
          <p:nvPr/>
        </p:nvSpPr>
        <p:spPr>
          <a:xfrm>
            <a:off x="8503920" y="3611880"/>
            <a:ext cx="2926080" cy="457200"/>
          </a:xfrm>
          <a:prstGeom prst="rect">
            <a:avLst/>
          </a:prstGeom>
          <a:noFill/>
          <a:ln/>
        </p:spPr>
        <p:txBody>
          <a:bodyPr wrap="square" lIns="0" tIns="0" rIns="0" bIns="0" rtlCol="0" anchor="ctr"/>
          <a:lstStyle/>
          <a:p>
            <a:pPr indent="0" marL="0">
              <a:buNone/>
            </a:pPr>
            <a:r>
              <a:rPr lang="en-US" sz="1150" dirty="0">
                <a:solidFill>
                  <a:srgbClr val="5B6B73"/>
                </a:solidFill>
                <a:latin typeface="Calibri" pitchFamily="34" charset="0"/>
                <a:ea typeface="Calibri" pitchFamily="34" charset="-122"/>
                <a:cs typeface="Calibri" pitchFamily="34" charset="-120"/>
              </a:rPr>
              <a:t>middle 50% of</a:t>
            </a:r>
            <a:endParaRPr lang="en-US" sz="1150" dirty="0"/>
          </a:p>
          <a:p>
            <a:pPr indent="0" marL="0">
              <a:buNone/>
            </a:pPr>
            <a:r>
              <a:rPr lang="en-US" sz="1150" dirty="0">
                <a:solidFill>
                  <a:srgbClr val="5B6B73"/>
                </a:solidFill>
                <a:latin typeface="Calibri" pitchFamily="34" charset="0"/>
                <a:ea typeface="Calibri" pitchFamily="34" charset="-122"/>
                <a:cs typeface="Calibri" pitchFamily="34" charset="-120"/>
              </a:rPr>
              <a:t>tracts (IQR)</a:t>
            </a:r>
            <a:endParaRPr lang="en-US" sz="1150" dirty="0"/>
          </a:p>
        </p:txBody>
      </p:sp>
      <p:sp>
        <p:nvSpPr>
          <p:cNvPr id="11" name="Shape 8"/>
          <p:cNvSpPr/>
          <p:nvPr/>
        </p:nvSpPr>
        <p:spPr>
          <a:xfrm>
            <a:off x="8321040" y="4297680"/>
            <a:ext cx="3291840" cy="1051560"/>
          </a:xfrm>
          <a:prstGeom prst="roundRect">
            <a:avLst>
              <a:gd name="adj" fmla="val 6957"/>
            </a:avLst>
          </a:prstGeom>
          <a:solidFill>
            <a:srgbClr val="F5F9FA"/>
          </a:solidFill>
          <a:ln/>
        </p:spPr>
      </p:sp>
      <p:sp>
        <p:nvSpPr>
          <p:cNvPr id="12" name="Text 9"/>
          <p:cNvSpPr txBox="1"/>
          <p:nvPr/>
        </p:nvSpPr>
        <p:spPr>
          <a:xfrm>
            <a:off x="8503920" y="4370832"/>
            <a:ext cx="2926080" cy="502920"/>
          </a:xfrm>
          <a:prstGeom prst="rect">
            <a:avLst/>
          </a:prstGeom>
          <a:noFill/>
          <a:ln/>
        </p:spPr>
        <p:txBody>
          <a:bodyPr wrap="square" lIns="0" tIns="0" rIns="0" bIns="0" rtlCol="0" anchor="ctr"/>
          <a:lstStyle/>
          <a:p>
            <a:pPr indent="0" marL="0">
              <a:buNone/>
            </a:pPr>
            <a:r>
              <a:rPr lang="en-US" sz="2200" b="1" dirty="0">
                <a:solidFill>
                  <a:srgbClr val="0B4F6C"/>
                </a:solidFill>
                <a:latin typeface="Cambria" pitchFamily="34" charset="0"/>
                <a:ea typeface="Cambria" pitchFamily="34" charset="-122"/>
                <a:cs typeface="Cambria" pitchFamily="34" charset="-120"/>
              </a:rPr>
              <a:t>Right-skewed</a:t>
            </a:r>
            <a:endParaRPr lang="en-US" sz="2200" dirty="0"/>
          </a:p>
        </p:txBody>
      </p:sp>
      <p:sp>
        <p:nvSpPr>
          <p:cNvPr id="13" name="Text 10"/>
          <p:cNvSpPr txBox="1"/>
          <p:nvPr/>
        </p:nvSpPr>
        <p:spPr>
          <a:xfrm>
            <a:off x="8503920" y="4846320"/>
            <a:ext cx="2926080" cy="457200"/>
          </a:xfrm>
          <a:prstGeom prst="rect">
            <a:avLst/>
          </a:prstGeom>
          <a:noFill/>
          <a:ln/>
        </p:spPr>
        <p:txBody>
          <a:bodyPr wrap="square" lIns="0" tIns="0" rIns="0" bIns="0" rtlCol="0" anchor="ctr"/>
          <a:lstStyle/>
          <a:p>
            <a:pPr indent="0" marL="0">
              <a:buNone/>
            </a:pPr>
            <a:r>
              <a:rPr lang="en-US" sz="1150" dirty="0">
                <a:solidFill>
                  <a:srgbClr val="5B6B73"/>
                </a:solidFill>
                <a:latin typeface="Calibri" pitchFamily="34" charset="0"/>
                <a:ea typeface="Calibri" pitchFamily="34" charset="-122"/>
                <a:cs typeface="Calibri" pitchFamily="34" charset="-120"/>
              </a:rPr>
              <a:t>a tail of high-</a:t>
            </a:r>
            <a:endParaRPr lang="en-US" sz="1150" dirty="0"/>
          </a:p>
          <a:p>
            <a:pPr indent="0" marL="0">
              <a:buNone/>
            </a:pPr>
            <a:r>
              <a:rPr lang="en-US" sz="1150" dirty="0">
                <a:solidFill>
                  <a:srgbClr val="5B6B73"/>
                </a:solidFill>
                <a:latin typeface="Calibri" pitchFamily="34" charset="0"/>
                <a:ea typeface="Calibri" pitchFamily="34" charset="-122"/>
                <a:cs typeface="Calibri" pitchFamily="34" charset="-120"/>
              </a:rPr>
              <a:t>prevalence outliers</a:t>
            </a:r>
            <a:endParaRPr lang="en-US" sz="1150" dirty="0"/>
          </a:p>
        </p:txBody>
      </p:sp>
      <p:sp>
        <p:nvSpPr>
          <p:cNvPr id="14" name="Text 11"/>
          <p:cNvSpPr txBox="1"/>
          <p:nvPr/>
        </p:nvSpPr>
        <p:spPr>
          <a:xfrm>
            <a:off x="457200" y="6537960"/>
            <a:ext cx="5486400" cy="274320"/>
          </a:xfrm>
          <a:prstGeom prst="rect">
            <a:avLst/>
          </a:prstGeom>
          <a:noFill/>
          <a:ln/>
        </p:spPr>
        <p:txBody>
          <a:bodyPr wrap="square" lIns="0" tIns="0" rIns="0" bIns="0" rtlCol="0" anchor="ctr"/>
          <a:lstStyle/>
          <a:p>
            <a:pPr indent="0" marL="0">
              <a:buNone/>
            </a:pPr>
            <a:r>
              <a:rPr lang="en-US" sz="1000" dirty="0">
                <a:solidFill>
                  <a:srgbClr val="5B6B73"/>
                </a:solidFill>
                <a:latin typeface="Calibri" pitchFamily="34" charset="0"/>
                <a:ea typeface="Calibri" pitchFamily="34" charset="-122"/>
                <a:cs typeface="Calibri" pitchFamily="34" charset="-120"/>
              </a:rPr>
              <a:t>Exploratory Data Analysis</a:t>
            </a:r>
            <a:endParaRPr lang="en-US" sz="1000" dirty="0"/>
          </a:p>
        </p:txBody>
      </p:sp>
      <p:sp>
        <p:nvSpPr>
          <p:cNvPr id="15" name="Text 12"/>
          <p:cNvSpPr txBox="1"/>
          <p:nvPr/>
        </p:nvSpPr>
        <p:spPr>
          <a:xfrm>
            <a:off x="11274552" y="6537960"/>
            <a:ext cx="457200" cy="274320"/>
          </a:xfrm>
          <a:prstGeom prst="rect">
            <a:avLst/>
          </a:prstGeom>
          <a:noFill/>
          <a:ln/>
        </p:spPr>
        <p:txBody>
          <a:bodyPr wrap="square" lIns="0" tIns="0" rIns="0" bIns="0" rtlCol="0" anchor="ctr"/>
          <a:lstStyle/>
          <a:p>
            <a:pPr algn="r" indent="0" marL="0">
              <a:buNone/>
            </a:pPr>
            <a:r>
              <a:rPr lang="en-US" sz="1000" dirty="0">
                <a:solidFill>
                  <a:srgbClr val="5B6B73"/>
                </a:solidFill>
                <a:latin typeface="Calibri" pitchFamily="34" charset="0"/>
                <a:ea typeface="Calibri" pitchFamily="34" charset="-122"/>
                <a:cs typeface="Calibri" pitchFamily="34" charset="-120"/>
              </a:rPr>
              <a:t>6</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5F9FA"/>
        </a:solidFill>
      </p:bgPr>
    </p:bg>
    <p:spTree>
      <p:nvGrpSpPr>
        <p:cNvPr id="1" name=""/>
        <p:cNvGrpSpPr/>
        <p:nvPr/>
      </p:nvGrpSpPr>
      <p:grpSpPr>
        <a:xfrm>
          <a:off x="0" y="0"/>
          <a:ext cx="0" cy="0"/>
          <a:chOff x="0" y="0"/>
          <a:chExt cx="0" cy="0"/>
        </a:xfrm>
      </p:grpSpPr>
      <p:sp>
        <p:nvSpPr>
          <p:cNvPr id="2" name="Text 0"/>
          <p:cNvSpPr txBox="1"/>
          <p:nvPr/>
        </p:nvSpPr>
        <p:spPr>
          <a:xfrm>
            <a:off x="548640" y="411480"/>
            <a:ext cx="10972800" cy="640080"/>
          </a:xfrm>
          <a:prstGeom prst="rect">
            <a:avLst/>
          </a:prstGeom>
          <a:noFill/>
          <a:ln/>
        </p:spPr>
        <p:txBody>
          <a:bodyPr wrap="square" lIns="0" tIns="0" rIns="0" bIns="0" rtlCol="0" anchor="ctr"/>
          <a:lstStyle/>
          <a:p>
            <a:pPr indent="0" marL="0">
              <a:buNone/>
            </a:pPr>
            <a:r>
              <a:rPr lang="en-US" sz="3200" b="1" dirty="0">
                <a:solidFill>
                  <a:srgbClr val="0B4F6C"/>
                </a:solidFill>
                <a:latin typeface="Cambria" pitchFamily="34" charset="0"/>
                <a:ea typeface="Cambria" pitchFamily="34" charset="-122"/>
                <a:cs typeface="Cambria" pitchFamily="34" charset="-120"/>
              </a:rPr>
              <a:t>Strongest Predictors of Diabetes</a:t>
            </a:r>
            <a:endParaRPr lang="en-US" sz="3200" dirty="0"/>
          </a:p>
        </p:txBody>
      </p:sp>
      <p:sp>
        <p:nvSpPr>
          <p:cNvPr id="3" name="Text 1"/>
          <p:cNvSpPr txBox="1"/>
          <p:nvPr/>
        </p:nvSpPr>
        <p:spPr>
          <a:xfrm>
            <a:off x="548640" y="1051560"/>
            <a:ext cx="10698480" cy="411480"/>
          </a:xfrm>
          <a:prstGeom prst="rect">
            <a:avLst/>
          </a:prstGeom>
          <a:noFill/>
          <a:ln/>
        </p:spPr>
        <p:txBody>
          <a:bodyPr wrap="square" lIns="0" tIns="0" rIns="0" bIns="0" rtlCol="0" anchor="ctr"/>
          <a:lstStyle/>
          <a:p>
            <a:pPr indent="0" marL="0">
              <a:buNone/>
            </a:pPr>
            <a:r>
              <a:rPr lang="en-US" sz="1500" i="1" dirty="0">
                <a:solidFill>
                  <a:srgbClr val="5B6B73"/>
                </a:solidFill>
                <a:latin typeface="Calibri" pitchFamily="34" charset="0"/>
                <a:ea typeface="Calibri" pitchFamily="34" charset="-122"/>
                <a:cs typeface="Calibri" pitchFamily="34" charset="-120"/>
              </a:rPr>
              <a:t>Correlation of each health measure with diabetes prevalence (top 10)</a:t>
            </a:r>
            <a:endParaRPr lang="en-US" sz="1500" dirty="0"/>
          </a:p>
        </p:txBody>
      </p:sp>
      <p:graphicFrame>
        <p:nvGraphicFramePr>
          <p:cNvPr id="4" name="Chart 0" descr=""/>
          <p:cNvGraphicFramePr/>
          <p:nvPr/>
        </p:nvGraphicFramePr>
        <p:xfrm>
          <a:off x="548640" y="1691640"/>
          <a:ext cx="7589520" cy="4480560"/>
        </p:xfrm>
        <a:graphic xmlns:a="http://schemas.openxmlformats.org/drawingml/2006/main">
          <a:graphicData uri="http://schemas.openxmlformats.org/drawingml/2006/chart">
            <c:chart xmlns:c="http://schemas.openxmlformats.org/drawingml/2006/chart" r:id="rId1"/>
          </a:graphicData>
        </a:graphic>
      </p:graphicFrame>
      <p:sp>
        <p:nvSpPr>
          <p:cNvPr id="5" name="Shape 2"/>
          <p:cNvSpPr/>
          <p:nvPr/>
        </p:nvSpPr>
        <p:spPr>
          <a:xfrm>
            <a:off x="8412480" y="1920240"/>
            <a:ext cx="457200" cy="457200"/>
          </a:xfrm>
          <a:prstGeom prst="ellipse">
            <a:avLst/>
          </a:prstGeom>
          <a:solidFill>
            <a:srgbClr val="01A7C2"/>
          </a:solidFill>
          <a:ln/>
        </p:spPr>
      </p:sp>
      <p:sp>
        <p:nvSpPr>
          <p:cNvPr id="6" name="Text 3"/>
          <p:cNvSpPr txBox="1"/>
          <p:nvPr/>
        </p:nvSpPr>
        <p:spPr>
          <a:xfrm>
            <a:off x="8412480" y="192024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a:t>
            </a:r>
            <a:endParaRPr lang="en-US" sz="1600" dirty="0"/>
          </a:p>
        </p:txBody>
      </p:sp>
      <p:sp>
        <p:nvSpPr>
          <p:cNvPr id="7" name="Text 4"/>
          <p:cNvSpPr txBox="1"/>
          <p:nvPr/>
        </p:nvSpPr>
        <p:spPr>
          <a:xfrm>
            <a:off x="9052560" y="1783080"/>
            <a:ext cx="2651760" cy="1188720"/>
          </a:xfrm>
          <a:prstGeom prst="rect">
            <a:avLst/>
          </a:prstGeom>
          <a:noFill/>
          <a:ln/>
        </p:spPr>
        <p:txBody>
          <a:bodyPr wrap="square" lIns="0" tIns="0" rIns="0" bIns="0" rtlCol="0" anchor="ctr"/>
          <a:lstStyle/>
          <a:p>
            <a:pPr indent="0" marL="0">
              <a:buNone/>
            </a:pPr>
            <a:r>
              <a:rPr lang="en-US" sz="1250" dirty="0">
                <a:solidFill>
                  <a:srgbClr val="1B1B1B"/>
                </a:solidFill>
                <a:latin typeface="Calibri" pitchFamily="34" charset="0"/>
                <a:ea typeface="Calibri" pitchFamily="34" charset="-122"/>
                <a:cs typeface="Calibri" pitchFamily="34" charset="-120"/>
              </a:rPr>
              <a:t>Disability &amp; mobility measures dominate — r &gt; 0.8 for the top 10</a:t>
            </a:r>
            <a:endParaRPr lang="en-US" sz="1250" dirty="0"/>
          </a:p>
        </p:txBody>
      </p:sp>
      <p:sp>
        <p:nvSpPr>
          <p:cNvPr id="8" name="Shape 5"/>
          <p:cNvSpPr/>
          <p:nvPr/>
        </p:nvSpPr>
        <p:spPr>
          <a:xfrm>
            <a:off x="8412480" y="3337560"/>
            <a:ext cx="457200" cy="457200"/>
          </a:xfrm>
          <a:prstGeom prst="ellipse">
            <a:avLst/>
          </a:prstGeom>
          <a:solidFill>
            <a:srgbClr val="01A7C2"/>
          </a:solidFill>
          <a:ln/>
        </p:spPr>
      </p:sp>
      <p:sp>
        <p:nvSpPr>
          <p:cNvPr id="9" name="Text 6"/>
          <p:cNvSpPr txBox="1"/>
          <p:nvPr/>
        </p:nvSpPr>
        <p:spPr>
          <a:xfrm>
            <a:off x="8412480" y="333756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a:t>
            </a:r>
            <a:endParaRPr lang="en-US" sz="1600" dirty="0"/>
          </a:p>
        </p:txBody>
      </p:sp>
      <p:sp>
        <p:nvSpPr>
          <p:cNvPr id="10" name="Text 7"/>
          <p:cNvSpPr txBox="1"/>
          <p:nvPr/>
        </p:nvSpPr>
        <p:spPr>
          <a:xfrm>
            <a:off x="9052560" y="3200400"/>
            <a:ext cx="2651760" cy="1188720"/>
          </a:xfrm>
          <a:prstGeom prst="rect">
            <a:avLst/>
          </a:prstGeom>
          <a:noFill/>
          <a:ln/>
        </p:spPr>
        <p:txBody>
          <a:bodyPr wrap="square" lIns="0" tIns="0" rIns="0" bIns="0" rtlCol="0" anchor="ctr"/>
          <a:lstStyle/>
          <a:p>
            <a:pPr indent="0" marL="0">
              <a:buNone/>
            </a:pPr>
            <a:r>
              <a:rPr lang="en-US" sz="1250" dirty="0">
                <a:solidFill>
                  <a:srgbClr val="1B1B1B"/>
                </a:solidFill>
                <a:latin typeface="Calibri" pitchFamily="34" charset="0"/>
                <a:ea typeface="Calibri" pitchFamily="34" charset="-122"/>
                <a:cs typeface="Calibri" pitchFamily="34" charset="-120"/>
              </a:rPr>
              <a:t>Cardiovascular measures (stroke, blood pressure) cluster right alongside them</a:t>
            </a:r>
            <a:endParaRPr lang="en-US" sz="1250" dirty="0"/>
          </a:p>
        </p:txBody>
      </p:sp>
      <p:sp>
        <p:nvSpPr>
          <p:cNvPr id="11" name="Shape 8"/>
          <p:cNvSpPr/>
          <p:nvPr/>
        </p:nvSpPr>
        <p:spPr>
          <a:xfrm>
            <a:off x="8412480" y="4754880"/>
            <a:ext cx="457200" cy="457200"/>
          </a:xfrm>
          <a:prstGeom prst="ellipse">
            <a:avLst/>
          </a:prstGeom>
          <a:solidFill>
            <a:srgbClr val="01A7C2"/>
          </a:solidFill>
          <a:ln/>
        </p:spPr>
      </p:sp>
      <p:sp>
        <p:nvSpPr>
          <p:cNvPr id="12" name="Text 9"/>
          <p:cNvSpPr txBox="1"/>
          <p:nvPr/>
        </p:nvSpPr>
        <p:spPr>
          <a:xfrm>
            <a:off x="8412480" y="475488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a:t>
            </a:r>
            <a:endParaRPr lang="en-US" sz="1600" dirty="0"/>
          </a:p>
        </p:txBody>
      </p:sp>
      <p:sp>
        <p:nvSpPr>
          <p:cNvPr id="13" name="Text 10"/>
          <p:cNvSpPr txBox="1"/>
          <p:nvPr/>
        </p:nvSpPr>
        <p:spPr>
          <a:xfrm>
            <a:off x="9052560" y="4617720"/>
            <a:ext cx="2651760" cy="1188720"/>
          </a:xfrm>
          <a:prstGeom prst="rect">
            <a:avLst/>
          </a:prstGeom>
          <a:noFill/>
          <a:ln/>
        </p:spPr>
        <p:txBody>
          <a:bodyPr wrap="square" lIns="0" tIns="0" rIns="0" bIns="0" rtlCol="0" anchor="ctr"/>
          <a:lstStyle/>
          <a:p>
            <a:pPr indent="0" marL="0">
              <a:buNone/>
            </a:pPr>
            <a:r>
              <a:rPr lang="en-US" sz="1250" dirty="0">
                <a:solidFill>
                  <a:srgbClr val="1B1B1B"/>
                </a:solidFill>
                <a:latin typeface="Calibri" pitchFamily="34" charset="0"/>
                <a:ea typeface="Calibri" pitchFamily="34" charset="-122"/>
                <a:cs typeface="Calibri" pitchFamily="34" charset="-120"/>
              </a:rPr>
              <a:t>These 6 measures (r &gt; 0.8) became our modeler's starting feature set</a:t>
            </a:r>
            <a:endParaRPr lang="en-US" sz="1250" dirty="0"/>
          </a:p>
        </p:txBody>
      </p:sp>
      <p:sp>
        <p:nvSpPr>
          <p:cNvPr id="14" name="Text 11"/>
          <p:cNvSpPr txBox="1"/>
          <p:nvPr/>
        </p:nvSpPr>
        <p:spPr>
          <a:xfrm>
            <a:off x="457200" y="6537960"/>
            <a:ext cx="5486400" cy="274320"/>
          </a:xfrm>
          <a:prstGeom prst="rect">
            <a:avLst/>
          </a:prstGeom>
          <a:noFill/>
          <a:ln/>
        </p:spPr>
        <p:txBody>
          <a:bodyPr wrap="square" lIns="0" tIns="0" rIns="0" bIns="0" rtlCol="0" anchor="ctr"/>
          <a:lstStyle/>
          <a:p>
            <a:pPr indent="0" marL="0">
              <a:buNone/>
            </a:pPr>
            <a:r>
              <a:rPr lang="en-US" sz="1000" dirty="0">
                <a:solidFill>
                  <a:srgbClr val="5B6B73"/>
                </a:solidFill>
                <a:latin typeface="Calibri" pitchFamily="34" charset="0"/>
                <a:ea typeface="Calibri" pitchFamily="34" charset="-122"/>
                <a:cs typeface="Calibri" pitchFamily="34" charset="-120"/>
              </a:rPr>
              <a:t>Exploratory Data Analysis</a:t>
            </a:r>
            <a:endParaRPr lang="en-US" sz="1000" dirty="0"/>
          </a:p>
        </p:txBody>
      </p:sp>
      <p:sp>
        <p:nvSpPr>
          <p:cNvPr id="15" name="Text 12"/>
          <p:cNvSpPr txBox="1"/>
          <p:nvPr/>
        </p:nvSpPr>
        <p:spPr>
          <a:xfrm>
            <a:off x="11274552" y="6537960"/>
            <a:ext cx="457200" cy="274320"/>
          </a:xfrm>
          <a:prstGeom prst="rect">
            <a:avLst/>
          </a:prstGeom>
          <a:noFill/>
          <a:ln/>
        </p:spPr>
        <p:txBody>
          <a:bodyPr wrap="square" lIns="0" tIns="0" rIns="0" bIns="0" rtlCol="0" anchor="ctr"/>
          <a:lstStyle/>
          <a:p>
            <a:pPr algn="r" indent="0" marL="0">
              <a:buNone/>
            </a:pPr>
            <a:r>
              <a:rPr lang="en-US" sz="1000" dirty="0">
                <a:solidFill>
                  <a:srgbClr val="5B6B73"/>
                </a:solidFill>
                <a:latin typeface="Calibri" pitchFamily="34" charset="0"/>
                <a:ea typeface="Calibri" pitchFamily="34" charset="-122"/>
                <a:cs typeface="Calibri" pitchFamily="34" charset="-120"/>
              </a:rPr>
              <a:t>7</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10972800" cy="640080"/>
          </a:xfrm>
          <a:prstGeom prst="rect">
            <a:avLst/>
          </a:prstGeom>
          <a:noFill/>
          <a:ln/>
        </p:spPr>
        <p:txBody>
          <a:bodyPr wrap="square" lIns="0" tIns="0" rIns="0" bIns="0" rtlCol="0" anchor="ctr"/>
          <a:lstStyle/>
          <a:p>
            <a:pPr indent="0" marL="0">
              <a:buNone/>
            </a:pPr>
            <a:r>
              <a:rPr lang="en-US" sz="3200" b="1" dirty="0">
                <a:solidFill>
                  <a:srgbClr val="0B4F6C"/>
                </a:solidFill>
                <a:latin typeface="Cambria" pitchFamily="34" charset="0"/>
                <a:ea typeface="Cambria" pitchFamily="34" charset="-122"/>
                <a:cs typeface="Cambria" pitchFamily="34" charset="-120"/>
              </a:rPr>
              <a:t>A Regional Pattern — and a Data Quirk</a:t>
            </a:r>
            <a:endParaRPr lang="en-US" sz="3200" dirty="0"/>
          </a:p>
        </p:txBody>
      </p:sp>
      <p:sp>
        <p:nvSpPr>
          <p:cNvPr id="3" name="Text 1"/>
          <p:cNvSpPr txBox="1"/>
          <p:nvPr/>
        </p:nvSpPr>
        <p:spPr>
          <a:xfrm>
            <a:off x="548640" y="1051560"/>
            <a:ext cx="10698480" cy="411480"/>
          </a:xfrm>
          <a:prstGeom prst="rect">
            <a:avLst/>
          </a:prstGeom>
          <a:noFill/>
          <a:ln/>
        </p:spPr>
        <p:txBody>
          <a:bodyPr wrap="square" lIns="0" tIns="0" rIns="0" bIns="0" rtlCol="0" anchor="ctr"/>
          <a:lstStyle/>
          <a:p>
            <a:pPr indent="0" marL="0">
              <a:buNone/>
            </a:pPr>
            <a:r>
              <a:rPr lang="en-US" sz="1500" i="1" dirty="0">
                <a:solidFill>
                  <a:srgbClr val="5B6B73"/>
                </a:solidFill>
                <a:latin typeface="Calibri" pitchFamily="34" charset="0"/>
                <a:ea typeface="Calibri" pitchFamily="34" charset="-122"/>
                <a:cs typeface="Calibri" pitchFamily="34" charset="-120"/>
              </a:rPr>
              <a:t>Average diabetes prevalence by state (highest &amp; lowest 5)</a:t>
            </a:r>
            <a:endParaRPr lang="en-US" sz="1500" dirty="0"/>
          </a:p>
        </p:txBody>
      </p:sp>
      <p:sp>
        <p:nvSpPr>
          <p:cNvPr id="4" name="Text 2"/>
          <p:cNvSpPr txBox="1"/>
          <p:nvPr/>
        </p:nvSpPr>
        <p:spPr>
          <a:xfrm>
            <a:off x="548640" y="1600200"/>
            <a:ext cx="3291840" cy="320040"/>
          </a:xfrm>
          <a:prstGeom prst="rect">
            <a:avLst/>
          </a:prstGeom>
          <a:noFill/>
          <a:ln/>
        </p:spPr>
        <p:txBody>
          <a:bodyPr wrap="square" lIns="0" tIns="0" rIns="0" bIns="0" rtlCol="0" anchor="ctr"/>
          <a:lstStyle/>
          <a:p>
            <a:pPr indent="0" marL="0">
              <a:buNone/>
            </a:pPr>
            <a:r>
              <a:rPr lang="en-US" sz="1400" b="1" dirty="0">
                <a:solidFill>
                  <a:srgbClr val="E4572E"/>
                </a:solidFill>
                <a:latin typeface="Cambria" pitchFamily="34" charset="0"/>
                <a:ea typeface="Cambria" pitchFamily="34" charset="-122"/>
                <a:cs typeface="Cambria" pitchFamily="34" charset="-120"/>
              </a:rPr>
              <a:t>Highest 5 States</a:t>
            </a:r>
            <a:endParaRPr lang="en-US" sz="1400" dirty="0"/>
          </a:p>
        </p:txBody>
      </p:sp>
      <p:graphicFrame>
        <p:nvGraphicFramePr>
          <p:cNvPr id="5" name="Chart 0" descr=""/>
          <p:cNvGraphicFramePr/>
          <p:nvPr/>
        </p:nvGraphicFramePr>
        <p:xfrm>
          <a:off x="457200" y="1920240"/>
          <a:ext cx="3474720" cy="2834640"/>
        </p:xfrm>
        <a:graphic xmlns:a="http://schemas.openxmlformats.org/drawingml/2006/main">
          <a:graphicData uri="http://schemas.openxmlformats.org/drawingml/2006/chart">
            <c:chart xmlns:c="http://schemas.openxmlformats.org/drawingml/2006/chart" r:id="rId1"/>
          </a:graphicData>
        </a:graphic>
      </p:graphicFrame>
      <p:sp>
        <p:nvSpPr>
          <p:cNvPr id="6" name="Text 3"/>
          <p:cNvSpPr txBox="1"/>
          <p:nvPr/>
        </p:nvSpPr>
        <p:spPr>
          <a:xfrm>
            <a:off x="4160520" y="1600200"/>
            <a:ext cx="3291840" cy="320040"/>
          </a:xfrm>
          <a:prstGeom prst="rect">
            <a:avLst/>
          </a:prstGeom>
          <a:noFill/>
          <a:ln/>
        </p:spPr>
        <p:txBody>
          <a:bodyPr wrap="square" lIns="0" tIns="0" rIns="0" bIns="0" rtlCol="0" anchor="ctr"/>
          <a:lstStyle/>
          <a:p>
            <a:pPr indent="0" marL="0">
              <a:buNone/>
            </a:pPr>
            <a:r>
              <a:rPr lang="en-US" sz="1400" b="1" dirty="0">
                <a:solidFill>
                  <a:srgbClr val="2E8B57"/>
                </a:solidFill>
                <a:latin typeface="Cambria" pitchFamily="34" charset="0"/>
                <a:ea typeface="Cambria" pitchFamily="34" charset="-122"/>
                <a:cs typeface="Cambria" pitchFamily="34" charset="-120"/>
              </a:rPr>
              <a:t>Lowest 5 States</a:t>
            </a:r>
            <a:endParaRPr lang="en-US" sz="1400" dirty="0"/>
          </a:p>
        </p:txBody>
      </p:sp>
      <p:graphicFrame>
        <p:nvGraphicFramePr>
          <p:cNvPr id="7" name="Chart 1" descr=""/>
          <p:cNvGraphicFramePr/>
          <p:nvPr/>
        </p:nvGraphicFramePr>
        <p:xfrm>
          <a:off x="4069080" y="1920240"/>
          <a:ext cx="3474720" cy="2834640"/>
        </p:xfrm>
        <a:graphic xmlns:a="http://schemas.openxmlformats.org/drawingml/2006/main">
          <a:graphicData uri="http://schemas.openxmlformats.org/drawingml/2006/chart">
            <c:chart xmlns:c="http://schemas.openxmlformats.org/drawingml/2006/chart" r:id="rId2"/>
          </a:graphicData>
        </a:graphic>
      </p:graphicFrame>
      <p:sp>
        <p:nvSpPr>
          <p:cNvPr id="8" name="Shape 4"/>
          <p:cNvSpPr/>
          <p:nvPr/>
        </p:nvSpPr>
        <p:spPr>
          <a:xfrm>
            <a:off x="7909560" y="1600200"/>
            <a:ext cx="3703320" cy="3154680"/>
          </a:xfrm>
          <a:prstGeom prst="roundRect">
            <a:avLst>
              <a:gd name="adj" fmla="val 2319"/>
            </a:avLst>
          </a:prstGeom>
          <a:solidFill>
            <a:srgbClr val="F5F9FA"/>
          </a:solidFill>
          <a:ln/>
        </p:spPr>
      </p:sp>
      <p:sp>
        <p:nvSpPr>
          <p:cNvPr id="9" name="Text 5"/>
          <p:cNvSpPr txBox="1"/>
          <p:nvPr/>
        </p:nvSpPr>
        <p:spPr>
          <a:xfrm>
            <a:off x="8138160" y="1783080"/>
            <a:ext cx="3291840" cy="1188720"/>
          </a:xfrm>
          <a:prstGeom prst="rect">
            <a:avLst/>
          </a:prstGeom>
          <a:noFill/>
          <a:ln/>
        </p:spPr>
        <p:txBody>
          <a:bodyPr wrap="square" lIns="0" tIns="0" rIns="0" bIns="0" rtlCol="0" anchor="ctr"/>
          <a:lstStyle/>
          <a:p>
            <a:pPr indent="0" marL="0">
              <a:buNone/>
            </a:pPr>
            <a:r>
              <a:rPr lang="en-US" sz="1300" dirty="0">
                <a:solidFill>
                  <a:srgbClr val="1B1B1B"/>
                </a:solidFill>
                <a:latin typeface="Calibri" pitchFamily="34" charset="0"/>
                <a:ea typeface="Calibri" pitchFamily="34" charset="-122"/>
                <a:cs typeface="Calibri" pitchFamily="34" charset="-120"/>
              </a:rPr>
              <a:t>Consistent with the well-known U.S. “Diabetes Belt” — Southeastern states highest, Mountain/Northeast states lowest.</a:t>
            </a:r>
            <a:endParaRPr lang="en-US" sz="1300" dirty="0"/>
          </a:p>
        </p:txBody>
      </p:sp>
      <p:sp>
        <p:nvSpPr>
          <p:cNvPr id="10" name="Shape 6"/>
          <p:cNvSpPr/>
          <p:nvPr/>
        </p:nvSpPr>
        <p:spPr>
          <a:xfrm>
            <a:off x="8138160" y="3063240"/>
            <a:ext cx="3246120" cy="0"/>
          </a:xfrm>
          <a:prstGeom prst="line">
            <a:avLst/>
          </a:prstGeom>
          <a:noFill/>
          <a:ln w="12700">
            <a:solidFill>
              <a:srgbClr val="D5DEE0"/>
            </a:solidFill>
            <a:prstDash val="solid"/>
          </a:ln>
        </p:spPr>
      </p:sp>
      <p:sp>
        <p:nvSpPr>
          <p:cNvPr id="11" name="Text 7"/>
          <p:cNvSpPr txBox="1"/>
          <p:nvPr/>
        </p:nvSpPr>
        <p:spPr>
          <a:xfrm>
            <a:off x="8138160" y="3200400"/>
            <a:ext cx="3291840" cy="1417320"/>
          </a:xfrm>
          <a:prstGeom prst="rect">
            <a:avLst/>
          </a:prstGeom>
          <a:noFill/>
          <a:ln/>
        </p:spPr>
        <p:txBody>
          <a:bodyPr wrap="square" lIns="0" tIns="0" rIns="0" bIns="0" rtlCol="0" anchor="ctr"/>
          <a:lstStyle/>
          <a:p>
            <a:pPr indent="0" marL="0">
              <a:buNone/>
            </a:pPr>
            <a:r>
              <a:rPr lang="en-US" sz="1250" b="1" dirty="0">
                <a:solidFill>
                  <a:srgbClr val="E4572E"/>
                </a:solidFill>
                <a:latin typeface="Calibri" pitchFamily="34" charset="0"/>
                <a:ea typeface="Calibri" pitchFamily="34" charset="-122"/>
                <a:cs typeface="Calibri" pitchFamily="34" charset="-120"/>
              </a:rPr>
              <a:t>Data quirk to flag:  </a:t>
            </a:r>
            <a:pPr indent="0" marL="0">
              <a:buNone/>
            </a:pPr>
            <a:r>
              <a:rPr lang="en-US" sz="1250" dirty="0">
                <a:solidFill>
                  <a:srgbClr val="1B1B1B"/>
                </a:solidFill>
                <a:latin typeface="Calibri" pitchFamily="34" charset="0"/>
                <a:ea typeface="Calibri" pitchFamily="34" charset="-122"/>
                <a:cs typeface="Calibri" pitchFamily="34" charset="-120"/>
              </a:rPr>
              <a:t>the column “Health Insurance” actually measures lack of insurance — easy to misread the direction.</a:t>
            </a:r>
            <a:endParaRPr lang="en-US" sz="1250" dirty="0"/>
          </a:p>
        </p:txBody>
      </p:sp>
      <p:sp>
        <p:nvSpPr>
          <p:cNvPr id="12" name="Shape 8"/>
          <p:cNvSpPr/>
          <p:nvPr/>
        </p:nvSpPr>
        <p:spPr>
          <a:xfrm>
            <a:off x="457200" y="5074920"/>
            <a:ext cx="11155680" cy="640080"/>
          </a:xfrm>
          <a:prstGeom prst="roundRect">
            <a:avLst>
              <a:gd name="adj" fmla="val 8571"/>
            </a:avLst>
          </a:prstGeom>
          <a:solidFill>
            <a:srgbClr val="FCEDE8"/>
          </a:solidFill>
          <a:ln w="12700">
            <a:solidFill>
              <a:srgbClr val="E4572E"/>
            </a:solidFill>
            <a:prstDash val="solid"/>
          </a:ln>
        </p:spPr>
      </p:sp>
      <p:sp>
        <p:nvSpPr>
          <p:cNvPr id="13" name="Text 9"/>
          <p:cNvSpPr txBox="1"/>
          <p:nvPr/>
        </p:nvSpPr>
        <p:spPr>
          <a:xfrm>
            <a:off x="685800" y="5074920"/>
            <a:ext cx="10698480" cy="640080"/>
          </a:xfrm>
          <a:prstGeom prst="rect">
            <a:avLst/>
          </a:prstGeom>
          <a:noFill/>
          <a:ln/>
        </p:spPr>
        <p:txBody>
          <a:bodyPr wrap="square" lIns="0" tIns="0" rIns="0" bIns="0" rtlCol="0" anchor="ctr"/>
          <a:lstStyle/>
          <a:p>
            <a:pPr indent="0" marL="0">
              <a:buNone/>
            </a:pPr>
            <a:r>
              <a:rPr lang="en-US" sz="1300" b="1" dirty="0">
                <a:solidFill>
                  <a:srgbClr val="E4572E"/>
                </a:solidFill>
                <a:latin typeface="Calibri" pitchFamily="34" charset="0"/>
                <a:ea typeface="Calibri" pitchFamily="34" charset="-122"/>
                <a:cs typeface="Calibri" pitchFamily="34" charset="-120"/>
              </a:rPr>
              <a:t>Scope limitation:  </a:t>
            </a:r>
            <a:pPr indent="0" marL="0">
              <a:buNone/>
            </a:pPr>
            <a:r>
              <a:rPr lang="en-US" sz="1300" dirty="0">
                <a:solidFill>
                  <a:srgbClr val="1B1B1B"/>
                </a:solidFill>
                <a:latin typeface="Calibri" pitchFamily="34" charset="0"/>
                <a:ea typeface="Calibri" pitchFamily="34" charset="-122"/>
                <a:cs typeface="Calibri" pitchFamily="34" charset="-120"/>
              </a:rPr>
              <a:t>the raw export covers 33 states, but 12 had zero usable Diabetes values and were dropped — our modeling data reflects 21 states.</a:t>
            </a:r>
            <a:endParaRPr lang="en-US" sz="1300" dirty="0"/>
          </a:p>
        </p:txBody>
      </p:sp>
      <p:sp>
        <p:nvSpPr>
          <p:cNvPr id="14" name="Text 10"/>
          <p:cNvSpPr txBox="1"/>
          <p:nvPr/>
        </p:nvSpPr>
        <p:spPr>
          <a:xfrm>
            <a:off x="457200" y="6537960"/>
            <a:ext cx="5486400" cy="274320"/>
          </a:xfrm>
          <a:prstGeom prst="rect">
            <a:avLst/>
          </a:prstGeom>
          <a:noFill/>
          <a:ln/>
        </p:spPr>
        <p:txBody>
          <a:bodyPr wrap="square" lIns="0" tIns="0" rIns="0" bIns="0" rtlCol="0" anchor="ctr"/>
          <a:lstStyle/>
          <a:p>
            <a:pPr indent="0" marL="0">
              <a:buNone/>
            </a:pPr>
            <a:r>
              <a:rPr lang="en-US" sz="1000" dirty="0">
                <a:solidFill>
                  <a:srgbClr val="5B6B73"/>
                </a:solidFill>
                <a:latin typeface="Calibri" pitchFamily="34" charset="0"/>
                <a:ea typeface="Calibri" pitchFamily="34" charset="-122"/>
                <a:cs typeface="Calibri" pitchFamily="34" charset="-120"/>
              </a:rPr>
              <a:t>Exploratory Data Analysis</a:t>
            </a:r>
            <a:endParaRPr lang="en-US" sz="1000" dirty="0"/>
          </a:p>
        </p:txBody>
      </p:sp>
      <p:sp>
        <p:nvSpPr>
          <p:cNvPr id="15" name="Text 11"/>
          <p:cNvSpPr txBox="1"/>
          <p:nvPr/>
        </p:nvSpPr>
        <p:spPr>
          <a:xfrm>
            <a:off x="11274552" y="6537960"/>
            <a:ext cx="457200" cy="274320"/>
          </a:xfrm>
          <a:prstGeom prst="rect">
            <a:avLst/>
          </a:prstGeom>
          <a:noFill/>
          <a:ln/>
        </p:spPr>
        <p:txBody>
          <a:bodyPr wrap="square" lIns="0" tIns="0" rIns="0" bIns="0" rtlCol="0" anchor="ctr"/>
          <a:lstStyle/>
          <a:p>
            <a:pPr algn="r" indent="0" marL="0">
              <a:buNone/>
            </a:pPr>
            <a:r>
              <a:rPr lang="en-US" sz="1000" dirty="0">
                <a:solidFill>
                  <a:srgbClr val="5B6B73"/>
                </a:solidFill>
                <a:latin typeface="Calibri" pitchFamily="34" charset="0"/>
                <a:ea typeface="Calibri" pitchFamily="34" charset="-122"/>
                <a:cs typeface="Calibri" pitchFamily="34" charset="-120"/>
              </a:rPr>
              <a:t>8</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5F9FA"/>
        </a:solidFill>
      </p:bgPr>
    </p:bg>
    <p:spTree>
      <p:nvGrpSpPr>
        <p:cNvPr id="1" name=""/>
        <p:cNvGrpSpPr/>
        <p:nvPr/>
      </p:nvGrpSpPr>
      <p:grpSpPr>
        <a:xfrm>
          <a:off x="0" y="0"/>
          <a:ext cx="0" cy="0"/>
          <a:chOff x="0" y="0"/>
          <a:chExt cx="0" cy="0"/>
        </a:xfrm>
      </p:grpSpPr>
      <p:sp>
        <p:nvSpPr>
          <p:cNvPr id="2" name="Text 0"/>
          <p:cNvSpPr txBox="1"/>
          <p:nvPr/>
        </p:nvSpPr>
        <p:spPr>
          <a:xfrm>
            <a:off x="548640" y="411480"/>
            <a:ext cx="10972800" cy="640080"/>
          </a:xfrm>
          <a:prstGeom prst="rect">
            <a:avLst/>
          </a:prstGeom>
          <a:noFill/>
          <a:ln/>
        </p:spPr>
        <p:txBody>
          <a:bodyPr wrap="square" lIns="0" tIns="0" rIns="0" bIns="0" rtlCol="0" anchor="ctr"/>
          <a:lstStyle/>
          <a:p>
            <a:pPr indent="0" marL="0">
              <a:buNone/>
            </a:pPr>
            <a:r>
              <a:rPr lang="en-US" sz="3200" b="1" dirty="0">
                <a:solidFill>
                  <a:srgbClr val="0B4F6C"/>
                </a:solidFill>
                <a:latin typeface="Cambria" pitchFamily="34" charset="0"/>
                <a:ea typeface="Cambria" pitchFamily="34" charset="-122"/>
                <a:cs typeface="Cambria" pitchFamily="34" charset="-120"/>
              </a:rPr>
              <a:t>A Complication: Multicollinearity</a:t>
            </a:r>
            <a:endParaRPr lang="en-US" sz="3200" dirty="0"/>
          </a:p>
        </p:txBody>
      </p:sp>
      <p:sp>
        <p:nvSpPr>
          <p:cNvPr id="3" name="Text 1"/>
          <p:cNvSpPr txBox="1"/>
          <p:nvPr/>
        </p:nvSpPr>
        <p:spPr>
          <a:xfrm>
            <a:off x="548640" y="1051560"/>
            <a:ext cx="10698480" cy="411480"/>
          </a:xfrm>
          <a:prstGeom prst="rect">
            <a:avLst/>
          </a:prstGeom>
          <a:noFill/>
          <a:ln/>
        </p:spPr>
        <p:txBody>
          <a:bodyPr wrap="square" lIns="0" tIns="0" rIns="0" bIns="0" rtlCol="0" anchor="ctr"/>
          <a:lstStyle/>
          <a:p>
            <a:pPr indent="0" marL="0">
              <a:buNone/>
            </a:pPr>
            <a:r>
              <a:rPr lang="en-US" sz="1500" i="1" dirty="0">
                <a:solidFill>
                  <a:srgbClr val="5B6B73"/>
                </a:solidFill>
                <a:latin typeface="Calibri" pitchFamily="34" charset="0"/>
                <a:ea typeface="Calibri" pitchFamily="34" charset="-122"/>
                <a:cs typeface="Calibri" pitchFamily="34" charset="-120"/>
              </a:rPr>
              <a:t>Several top predictors are highly correlated with each other</a:t>
            </a:r>
            <a:endParaRPr lang="en-US" sz="1500" dirty="0"/>
          </a:p>
        </p:txBody>
      </p:sp>
      <p:pic>
        <p:nvPicPr>
          <p:cNvPr id="4" name="Image 0" descr="/home/claude/assets/04_multicollinearity_heatmap.png">    </p:cNvPr>
          <p:cNvPicPr>
            <a:picLocks noChangeAspect="1"/>
          </p:cNvPicPr>
          <p:nvPr/>
        </p:nvPicPr>
        <p:blipFill>
          <a:blip r:embed="rId1"/>
          <a:stretch>
            <a:fillRect/>
          </a:stretch>
        </p:blipFill>
        <p:spPr>
          <a:xfrm>
            <a:off x="548640" y="1645920"/>
            <a:ext cx="6035040" cy="4709160"/>
          </a:xfrm>
          <a:prstGeom prst="rect">
            <a:avLst/>
          </a:prstGeom>
        </p:spPr>
      </p:pic>
      <p:sp>
        <p:nvSpPr>
          <p:cNvPr id="5" name="Shape 2"/>
          <p:cNvSpPr/>
          <p:nvPr/>
        </p:nvSpPr>
        <p:spPr>
          <a:xfrm>
            <a:off x="7040880" y="1828800"/>
            <a:ext cx="457200" cy="457200"/>
          </a:xfrm>
          <a:prstGeom prst="ellipse">
            <a:avLst/>
          </a:prstGeom>
          <a:solidFill>
            <a:srgbClr val="E4572E"/>
          </a:solidFill>
          <a:ln/>
        </p:spPr>
      </p:sp>
      <p:sp>
        <p:nvSpPr>
          <p:cNvPr id="6" name="Text 3"/>
          <p:cNvSpPr txBox="1"/>
          <p:nvPr/>
        </p:nvSpPr>
        <p:spPr>
          <a:xfrm>
            <a:off x="7040880" y="182880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a:t>
            </a:r>
            <a:endParaRPr lang="en-US" sz="1600" dirty="0"/>
          </a:p>
        </p:txBody>
      </p:sp>
      <p:sp>
        <p:nvSpPr>
          <p:cNvPr id="7" name="Text 4"/>
          <p:cNvSpPr txBox="1"/>
          <p:nvPr/>
        </p:nvSpPr>
        <p:spPr>
          <a:xfrm>
            <a:off x="7680960" y="1719072"/>
            <a:ext cx="3931920" cy="411480"/>
          </a:xfrm>
          <a:prstGeom prst="rect">
            <a:avLst/>
          </a:prstGeom>
          <a:noFill/>
          <a:ln/>
        </p:spPr>
        <p:txBody>
          <a:bodyPr wrap="square" lIns="0" tIns="0" rIns="0" bIns="0" rtlCol="0" anchor="ctr"/>
          <a:lstStyle/>
          <a:p>
            <a:pPr indent="0" marL="0">
              <a:buNone/>
            </a:pPr>
            <a:r>
              <a:rPr lang="en-US" sz="1400" b="1" dirty="0">
                <a:solidFill>
                  <a:srgbClr val="1B1B1B"/>
                </a:solidFill>
                <a:latin typeface="Cambria" pitchFamily="34" charset="0"/>
                <a:ea typeface="Cambria" pitchFamily="34" charset="-122"/>
                <a:cs typeface="Cambria" pitchFamily="34" charset="-120"/>
              </a:rPr>
              <a:t>Mobility Disability &amp; Stroke</a:t>
            </a:r>
            <a:endParaRPr lang="en-US" sz="1400" dirty="0"/>
          </a:p>
        </p:txBody>
      </p:sp>
      <p:sp>
        <p:nvSpPr>
          <p:cNvPr id="8" name="Text 5"/>
          <p:cNvSpPr txBox="1"/>
          <p:nvPr/>
        </p:nvSpPr>
        <p:spPr>
          <a:xfrm>
            <a:off x="7680960" y="2130552"/>
            <a:ext cx="3931920" cy="548640"/>
          </a:xfrm>
          <a:prstGeom prst="rect">
            <a:avLst/>
          </a:prstGeom>
          <a:noFill/>
          <a:ln/>
        </p:spPr>
        <p:txBody>
          <a:bodyPr wrap="square" lIns="0" tIns="0" rIns="0" bIns="0" rtlCol="0" anchor="ctr"/>
          <a:lstStyle/>
          <a:p>
            <a:pPr indent="0" marL="0">
              <a:buNone/>
            </a:pPr>
            <a:r>
              <a:rPr lang="en-US" sz="1200" dirty="0">
                <a:solidFill>
                  <a:srgbClr val="5B6B73"/>
                </a:solidFill>
                <a:latin typeface="Calibri" pitchFamily="34" charset="0"/>
                <a:ea typeface="Calibri" pitchFamily="34" charset="-122"/>
                <a:cs typeface="Calibri" pitchFamily="34" charset="-120"/>
              </a:rPr>
              <a:t>r ≈ 0.93 — nearly redundant signals</a:t>
            </a:r>
            <a:endParaRPr lang="en-US" sz="1200" dirty="0"/>
          </a:p>
        </p:txBody>
      </p:sp>
      <p:sp>
        <p:nvSpPr>
          <p:cNvPr id="9" name="Shape 6"/>
          <p:cNvSpPr/>
          <p:nvPr/>
        </p:nvSpPr>
        <p:spPr>
          <a:xfrm>
            <a:off x="7040880" y="2926080"/>
            <a:ext cx="457200" cy="457200"/>
          </a:xfrm>
          <a:prstGeom prst="ellipse">
            <a:avLst/>
          </a:prstGeom>
          <a:solidFill>
            <a:srgbClr val="E4572E"/>
          </a:solidFill>
          <a:ln/>
        </p:spPr>
      </p:sp>
      <p:sp>
        <p:nvSpPr>
          <p:cNvPr id="10" name="Text 7"/>
          <p:cNvSpPr txBox="1"/>
          <p:nvPr/>
        </p:nvSpPr>
        <p:spPr>
          <a:xfrm>
            <a:off x="7040880" y="292608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a:t>
            </a:r>
            <a:endParaRPr lang="en-US" sz="1600" dirty="0"/>
          </a:p>
        </p:txBody>
      </p:sp>
      <p:sp>
        <p:nvSpPr>
          <p:cNvPr id="11" name="Text 8"/>
          <p:cNvSpPr txBox="1"/>
          <p:nvPr/>
        </p:nvSpPr>
        <p:spPr>
          <a:xfrm>
            <a:off x="7680960" y="2816352"/>
            <a:ext cx="3931920" cy="411480"/>
          </a:xfrm>
          <a:prstGeom prst="rect">
            <a:avLst/>
          </a:prstGeom>
          <a:noFill/>
          <a:ln/>
        </p:spPr>
        <p:txBody>
          <a:bodyPr wrap="square" lIns="0" tIns="0" rIns="0" bIns="0" rtlCol="0" anchor="ctr"/>
          <a:lstStyle/>
          <a:p>
            <a:pPr indent="0" marL="0">
              <a:buNone/>
            </a:pPr>
            <a:r>
              <a:rPr lang="en-US" sz="1400" b="1" dirty="0">
                <a:solidFill>
                  <a:srgbClr val="1B1B1B"/>
                </a:solidFill>
                <a:latin typeface="Cambria" pitchFamily="34" charset="0"/>
                <a:ea typeface="Cambria" pitchFamily="34" charset="-122"/>
                <a:cs typeface="Cambria" pitchFamily="34" charset="-120"/>
              </a:rPr>
              <a:t>Physical Inactivity &amp; General Health</a:t>
            </a:r>
            <a:endParaRPr lang="en-US" sz="1400" dirty="0"/>
          </a:p>
        </p:txBody>
      </p:sp>
      <p:sp>
        <p:nvSpPr>
          <p:cNvPr id="12" name="Text 9"/>
          <p:cNvSpPr txBox="1"/>
          <p:nvPr/>
        </p:nvSpPr>
        <p:spPr>
          <a:xfrm>
            <a:off x="7680960" y="3227832"/>
            <a:ext cx="3931920" cy="548640"/>
          </a:xfrm>
          <a:prstGeom prst="rect">
            <a:avLst/>
          </a:prstGeom>
          <a:noFill/>
          <a:ln/>
        </p:spPr>
        <p:txBody>
          <a:bodyPr wrap="square" lIns="0" tIns="0" rIns="0" bIns="0" rtlCol="0" anchor="ctr"/>
          <a:lstStyle/>
          <a:p>
            <a:pPr indent="0" marL="0">
              <a:buNone/>
            </a:pPr>
            <a:r>
              <a:rPr lang="en-US" sz="1200" dirty="0">
                <a:solidFill>
                  <a:srgbClr val="5B6B73"/>
                </a:solidFill>
                <a:latin typeface="Calibri" pitchFamily="34" charset="0"/>
                <a:ea typeface="Calibri" pitchFamily="34" charset="-122"/>
                <a:cs typeface="Calibri" pitchFamily="34" charset="-120"/>
              </a:rPr>
              <a:t>r ≈ 0.93</a:t>
            </a:r>
            <a:endParaRPr lang="en-US" sz="1200" dirty="0"/>
          </a:p>
        </p:txBody>
      </p:sp>
      <p:sp>
        <p:nvSpPr>
          <p:cNvPr id="13" name="Shape 10"/>
          <p:cNvSpPr/>
          <p:nvPr/>
        </p:nvSpPr>
        <p:spPr>
          <a:xfrm>
            <a:off x="7040880" y="4023360"/>
            <a:ext cx="457200" cy="457200"/>
          </a:xfrm>
          <a:prstGeom prst="ellipse">
            <a:avLst/>
          </a:prstGeom>
          <a:solidFill>
            <a:srgbClr val="0B4F6C"/>
          </a:solidFill>
          <a:ln/>
        </p:spPr>
      </p:sp>
      <p:sp>
        <p:nvSpPr>
          <p:cNvPr id="14" name="Text 11"/>
          <p:cNvSpPr txBox="1"/>
          <p:nvPr/>
        </p:nvSpPr>
        <p:spPr>
          <a:xfrm>
            <a:off x="7040880" y="402336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a:t>
            </a:r>
            <a:endParaRPr lang="en-US" sz="1600" dirty="0"/>
          </a:p>
        </p:txBody>
      </p:sp>
      <p:sp>
        <p:nvSpPr>
          <p:cNvPr id="15" name="Text 12"/>
          <p:cNvSpPr txBox="1"/>
          <p:nvPr/>
        </p:nvSpPr>
        <p:spPr>
          <a:xfrm>
            <a:off x="7680960" y="3913632"/>
            <a:ext cx="3931920" cy="411480"/>
          </a:xfrm>
          <a:prstGeom prst="rect">
            <a:avLst/>
          </a:prstGeom>
          <a:noFill/>
          <a:ln/>
        </p:spPr>
        <p:txBody>
          <a:bodyPr wrap="square" lIns="0" tIns="0" rIns="0" bIns="0" rtlCol="0" anchor="ctr"/>
          <a:lstStyle/>
          <a:p>
            <a:pPr indent="0" marL="0">
              <a:buNone/>
            </a:pPr>
            <a:r>
              <a:rPr lang="en-US" sz="1400" b="1" dirty="0">
                <a:solidFill>
                  <a:srgbClr val="1B1B1B"/>
                </a:solidFill>
                <a:latin typeface="Cambria" pitchFamily="34" charset="0"/>
                <a:ea typeface="Cambria" pitchFamily="34" charset="-122"/>
                <a:cs typeface="Cambria" pitchFamily="34" charset="-120"/>
              </a:rPr>
              <a:t>What this means</a:t>
            </a:r>
            <a:endParaRPr lang="en-US" sz="1400" dirty="0"/>
          </a:p>
        </p:txBody>
      </p:sp>
      <p:sp>
        <p:nvSpPr>
          <p:cNvPr id="16" name="Text 13"/>
          <p:cNvSpPr txBox="1"/>
          <p:nvPr/>
        </p:nvSpPr>
        <p:spPr>
          <a:xfrm>
            <a:off x="7680960" y="4325112"/>
            <a:ext cx="3931920" cy="548640"/>
          </a:xfrm>
          <a:prstGeom prst="rect">
            <a:avLst/>
          </a:prstGeom>
          <a:noFill/>
          <a:ln/>
        </p:spPr>
        <p:txBody>
          <a:bodyPr wrap="square" lIns="0" tIns="0" rIns="0" bIns="0" rtlCol="0" anchor="ctr"/>
          <a:lstStyle/>
          <a:p>
            <a:pPr indent="0" marL="0">
              <a:buNone/>
            </a:pPr>
            <a:r>
              <a:rPr lang="en-US" sz="1200" dirty="0">
                <a:solidFill>
                  <a:srgbClr val="5B6B73"/>
                </a:solidFill>
                <a:latin typeface="Calibri" pitchFamily="34" charset="0"/>
                <a:ea typeface="Calibri" pitchFamily="34" charset="-122"/>
                <a:cs typeface="Calibri" pitchFamily="34" charset="-120"/>
              </a:rPr>
              <a:t>Linear coefficients become unstable when inputs overlap this much</a:t>
            </a:r>
            <a:endParaRPr lang="en-US" sz="1200" dirty="0"/>
          </a:p>
        </p:txBody>
      </p:sp>
      <p:sp>
        <p:nvSpPr>
          <p:cNvPr id="17" name="Shape 14"/>
          <p:cNvSpPr/>
          <p:nvPr/>
        </p:nvSpPr>
        <p:spPr>
          <a:xfrm>
            <a:off x="7040880" y="5120640"/>
            <a:ext cx="457200" cy="457200"/>
          </a:xfrm>
          <a:prstGeom prst="ellipse">
            <a:avLst/>
          </a:prstGeom>
          <a:solidFill>
            <a:srgbClr val="0B4F6C"/>
          </a:solidFill>
          <a:ln/>
        </p:spPr>
      </p:sp>
      <p:sp>
        <p:nvSpPr>
          <p:cNvPr id="18" name="Text 15"/>
          <p:cNvSpPr txBox="1"/>
          <p:nvPr/>
        </p:nvSpPr>
        <p:spPr>
          <a:xfrm>
            <a:off x="7040880" y="512064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a:t>
            </a:r>
            <a:endParaRPr lang="en-US" sz="1600" dirty="0"/>
          </a:p>
        </p:txBody>
      </p:sp>
      <p:sp>
        <p:nvSpPr>
          <p:cNvPr id="19" name="Text 16"/>
          <p:cNvSpPr txBox="1"/>
          <p:nvPr/>
        </p:nvSpPr>
        <p:spPr>
          <a:xfrm>
            <a:off x="7680960" y="5010912"/>
            <a:ext cx="3931920" cy="411480"/>
          </a:xfrm>
          <a:prstGeom prst="rect">
            <a:avLst/>
          </a:prstGeom>
          <a:noFill/>
          <a:ln/>
        </p:spPr>
        <p:txBody>
          <a:bodyPr wrap="square" lIns="0" tIns="0" rIns="0" bIns="0" rtlCol="0" anchor="ctr"/>
          <a:lstStyle/>
          <a:p>
            <a:pPr indent="0" marL="0">
              <a:buNone/>
            </a:pPr>
            <a:r>
              <a:rPr lang="en-US" sz="1400" b="1" dirty="0">
                <a:solidFill>
                  <a:srgbClr val="1B1B1B"/>
                </a:solidFill>
                <a:latin typeface="Cambria" pitchFamily="34" charset="0"/>
                <a:ea typeface="Cambria" pitchFamily="34" charset="-122"/>
                <a:cs typeface="Cambria" pitchFamily="34" charset="-120"/>
              </a:rPr>
              <a:t>Our recommendation</a:t>
            </a:r>
            <a:endParaRPr lang="en-US" sz="1400" dirty="0"/>
          </a:p>
        </p:txBody>
      </p:sp>
      <p:sp>
        <p:nvSpPr>
          <p:cNvPr id="20" name="Text 17"/>
          <p:cNvSpPr txBox="1"/>
          <p:nvPr/>
        </p:nvSpPr>
        <p:spPr>
          <a:xfrm>
            <a:off x="7680960" y="5422392"/>
            <a:ext cx="3931920" cy="548640"/>
          </a:xfrm>
          <a:prstGeom prst="rect">
            <a:avLst/>
          </a:prstGeom>
          <a:noFill/>
          <a:ln/>
        </p:spPr>
        <p:txBody>
          <a:bodyPr wrap="square" lIns="0" tIns="0" rIns="0" bIns="0" rtlCol="0" anchor="ctr"/>
          <a:lstStyle/>
          <a:p>
            <a:pPr indent="0" marL="0">
              <a:buNone/>
            </a:pPr>
            <a:r>
              <a:rPr lang="en-US" sz="1200" dirty="0">
                <a:solidFill>
                  <a:srgbClr val="5B6B73"/>
                </a:solidFill>
                <a:latin typeface="Calibri" pitchFamily="34" charset="0"/>
                <a:ea typeface="Calibri" pitchFamily="34" charset="-122"/>
                <a:cs typeface="Calibri" pitchFamily="34" charset="-120"/>
              </a:rPr>
              <a:t>Favor tree-based models — they handle correlated features more gracefully</a:t>
            </a:r>
            <a:endParaRPr lang="en-US" sz="1200" dirty="0"/>
          </a:p>
        </p:txBody>
      </p:sp>
      <p:sp>
        <p:nvSpPr>
          <p:cNvPr id="21" name="Text 18"/>
          <p:cNvSpPr txBox="1"/>
          <p:nvPr/>
        </p:nvSpPr>
        <p:spPr>
          <a:xfrm>
            <a:off x="457200" y="6537960"/>
            <a:ext cx="5486400" cy="274320"/>
          </a:xfrm>
          <a:prstGeom prst="rect">
            <a:avLst/>
          </a:prstGeom>
          <a:noFill/>
          <a:ln/>
        </p:spPr>
        <p:txBody>
          <a:bodyPr wrap="square" lIns="0" tIns="0" rIns="0" bIns="0" rtlCol="0" anchor="ctr"/>
          <a:lstStyle/>
          <a:p>
            <a:pPr indent="0" marL="0">
              <a:buNone/>
            </a:pPr>
            <a:r>
              <a:rPr lang="en-US" sz="1000" dirty="0">
                <a:solidFill>
                  <a:srgbClr val="5B6B73"/>
                </a:solidFill>
                <a:latin typeface="Calibri" pitchFamily="34" charset="0"/>
                <a:ea typeface="Calibri" pitchFamily="34" charset="-122"/>
                <a:cs typeface="Calibri" pitchFamily="34" charset="-120"/>
              </a:rPr>
              <a:t>Exploratory Data Analysis</a:t>
            </a:r>
            <a:endParaRPr lang="en-US" sz="1000" dirty="0"/>
          </a:p>
        </p:txBody>
      </p:sp>
      <p:sp>
        <p:nvSpPr>
          <p:cNvPr id="22" name="Text 19"/>
          <p:cNvSpPr txBox="1"/>
          <p:nvPr/>
        </p:nvSpPr>
        <p:spPr>
          <a:xfrm>
            <a:off x="11274552" y="6537960"/>
            <a:ext cx="457200" cy="274320"/>
          </a:xfrm>
          <a:prstGeom prst="rect">
            <a:avLst/>
          </a:prstGeom>
          <a:noFill/>
          <a:ln/>
        </p:spPr>
        <p:txBody>
          <a:bodyPr wrap="square" lIns="0" tIns="0" rIns="0" bIns="0" rtlCol="0" anchor="ctr"/>
          <a:lstStyle/>
          <a:p>
            <a:pPr algn="r" indent="0" marL="0">
              <a:buNone/>
            </a:pPr>
            <a:r>
              <a:rPr lang="en-US" sz="1000" dirty="0">
                <a:solidFill>
                  <a:srgbClr val="5B6B73"/>
                </a:solidFill>
                <a:latin typeface="Calibri" pitchFamily="34" charset="0"/>
                <a:ea typeface="Calibri" pitchFamily="34" charset="-122"/>
                <a:cs typeface="Calibri" pitchFamily="34" charset="-120"/>
              </a:rPr>
              <a:t>9</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10972800" cy="640080"/>
          </a:xfrm>
          <a:prstGeom prst="rect">
            <a:avLst/>
          </a:prstGeom>
          <a:noFill/>
          <a:ln/>
        </p:spPr>
        <p:txBody>
          <a:bodyPr wrap="square" lIns="0" tIns="0" rIns="0" bIns="0" rtlCol="0" anchor="ctr"/>
          <a:lstStyle/>
          <a:p>
            <a:pPr indent="0" marL="0">
              <a:buNone/>
            </a:pPr>
            <a:r>
              <a:rPr lang="en-US" sz="3200" b="1" dirty="0">
                <a:solidFill>
                  <a:srgbClr val="0B4F6C"/>
                </a:solidFill>
                <a:latin typeface="Cambria" pitchFamily="34" charset="0"/>
                <a:ea typeface="Cambria" pitchFamily="34" charset="-122"/>
                <a:cs typeface="Cambria" pitchFamily="34" charset="-120"/>
              </a:rPr>
              <a:t>Modeling Approach</a:t>
            </a:r>
            <a:endParaRPr lang="en-US" sz="3200" dirty="0"/>
          </a:p>
        </p:txBody>
      </p:sp>
      <p:sp>
        <p:nvSpPr>
          <p:cNvPr id="3" name="Text 1"/>
          <p:cNvSpPr txBox="1"/>
          <p:nvPr/>
        </p:nvSpPr>
        <p:spPr>
          <a:xfrm>
            <a:off x="548640" y="1051560"/>
            <a:ext cx="10698480" cy="411480"/>
          </a:xfrm>
          <a:prstGeom prst="rect">
            <a:avLst/>
          </a:prstGeom>
          <a:noFill/>
          <a:ln/>
        </p:spPr>
        <p:txBody>
          <a:bodyPr wrap="square" lIns="0" tIns="0" rIns="0" bIns="0" rtlCol="0" anchor="ctr"/>
          <a:lstStyle/>
          <a:p>
            <a:pPr indent="0" marL="0">
              <a:buNone/>
            </a:pPr>
            <a:r>
              <a:rPr lang="en-US" sz="1500" i="1" dirty="0">
                <a:solidFill>
                  <a:srgbClr val="5B6B73"/>
                </a:solidFill>
                <a:latin typeface="Calibri" pitchFamily="34" charset="0"/>
                <a:ea typeface="Calibri" pitchFamily="34" charset="-122"/>
                <a:cs typeface="Calibri" pitchFamily="34" charset="-120"/>
              </a:rPr>
              <a:t>Three models, same 75/25 train/test split (random_state=42)</a:t>
            </a:r>
            <a:endParaRPr lang="en-US" sz="1500" dirty="0"/>
          </a:p>
        </p:txBody>
      </p:sp>
      <p:sp>
        <p:nvSpPr>
          <p:cNvPr id="4" name="Shape 2"/>
          <p:cNvSpPr/>
          <p:nvPr/>
        </p:nvSpPr>
        <p:spPr>
          <a:xfrm>
            <a:off x="548640" y="1737360"/>
            <a:ext cx="3566160" cy="4023360"/>
          </a:xfrm>
          <a:prstGeom prst="roundRect">
            <a:avLst>
              <a:gd name="adj" fmla="val 2564"/>
            </a:avLst>
          </a:prstGeom>
          <a:solidFill>
            <a:srgbClr val="FFFFFF"/>
          </a:solidFill>
          <a:ln w="12700">
            <a:solidFill>
              <a:srgbClr val="DCE6E9"/>
            </a:solidFill>
            <a:prstDash val="solid"/>
          </a:ln>
          <a:effectLst>
            <a:outerShdw sx="100000" sy="100000" kx="0" ky="0" algn="bl" rotWithShape="0" blurRad="76200" dist="25400" dir="5400000">
              <a:srgbClr val="000000">
                <a:alpha val="12000"/>
              </a:srgbClr>
            </a:outerShdw>
          </a:effectLst>
        </p:spPr>
      </p:sp>
      <p:sp>
        <p:nvSpPr>
          <p:cNvPr id="5" name="Shape 3"/>
          <p:cNvSpPr/>
          <p:nvPr/>
        </p:nvSpPr>
        <p:spPr>
          <a:xfrm>
            <a:off x="2011680" y="2011680"/>
            <a:ext cx="640080" cy="640080"/>
          </a:xfrm>
          <a:prstGeom prst="ellipse">
            <a:avLst/>
          </a:prstGeom>
          <a:solidFill>
            <a:srgbClr val="01A7C2"/>
          </a:solidFill>
          <a:ln/>
        </p:spPr>
      </p:sp>
      <p:sp>
        <p:nvSpPr>
          <p:cNvPr id="6" name="Text 4"/>
          <p:cNvSpPr txBox="1"/>
          <p:nvPr/>
        </p:nvSpPr>
        <p:spPr>
          <a:xfrm>
            <a:off x="2011680" y="2011680"/>
            <a:ext cx="640080" cy="640080"/>
          </a:xfrm>
          <a:prstGeom prst="rect">
            <a:avLst/>
          </a:prstGeom>
          <a:noFill/>
          <a:ln/>
        </p:spPr>
        <p:txBody>
          <a:bodyPr wrap="square" lIns="0" tIns="0" rIns="0" bIns="0"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1</a:t>
            </a:r>
            <a:endParaRPr lang="en-US" sz="2000" dirty="0"/>
          </a:p>
        </p:txBody>
      </p:sp>
      <p:sp>
        <p:nvSpPr>
          <p:cNvPr id="7" name="Text 5"/>
          <p:cNvSpPr txBox="1"/>
          <p:nvPr/>
        </p:nvSpPr>
        <p:spPr>
          <a:xfrm>
            <a:off x="777240" y="2834640"/>
            <a:ext cx="3108960" cy="502920"/>
          </a:xfrm>
          <a:prstGeom prst="rect">
            <a:avLst/>
          </a:prstGeom>
          <a:noFill/>
          <a:ln/>
        </p:spPr>
        <p:txBody>
          <a:bodyPr wrap="square" lIns="0" tIns="0" rIns="0" bIns="0" rtlCol="0" anchor="ctr"/>
          <a:lstStyle/>
          <a:p>
            <a:pPr algn="ctr" indent="0" marL="0">
              <a:buNone/>
            </a:pPr>
            <a:r>
              <a:rPr lang="en-US" sz="1800" b="1" dirty="0">
                <a:solidFill>
                  <a:srgbClr val="1B1B1B"/>
                </a:solidFill>
                <a:latin typeface="Cambria" pitchFamily="34" charset="0"/>
                <a:ea typeface="Cambria" pitchFamily="34" charset="-122"/>
                <a:cs typeface="Cambria" pitchFamily="34" charset="-120"/>
              </a:rPr>
              <a:t>Linear Regression</a:t>
            </a:r>
            <a:endParaRPr lang="en-US" sz="1800" dirty="0"/>
          </a:p>
        </p:txBody>
      </p:sp>
      <p:sp>
        <p:nvSpPr>
          <p:cNvPr id="8" name="Text 6"/>
          <p:cNvSpPr txBox="1"/>
          <p:nvPr/>
        </p:nvSpPr>
        <p:spPr>
          <a:xfrm>
            <a:off x="777240" y="3291840"/>
            <a:ext cx="3108960" cy="365760"/>
          </a:xfrm>
          <a:prstGeom prst="rect">
            <a:avLst/>
          </a:prstGeom>
          <a:noFill/>
          <a:ln/>
        </p:spPr>
        <p:txBody>
          <a:bodyPr wrap="square" lIns="0" tIns="0" rIns="0" bIns="0" rtlCol="0" anchor="ctr"/>
          <a:lstStyle/>
          <a:p>
            <a:pPr algn="ctr" indent="0" marL="0">
              <a:buNone/>
            </a:pPr>
            <a:r>
              <a:rPr lang="en-US" sz="1200" i="1" dirty="0">
                <a:solidFill>
                  <a:srgbClr val="01A7C2"/>
                </a:solidFill>
                <a:latin typeface="Calibri" pitchFamily="34" charset="0"/>
                <a:ea typeface="Calibri" pitchFamily="34" charset="-122"/>
                <a:cs typeface="Calibri" pitchFamily="34" charset="-120"/>
              </a:rPr>
              <a:t>Baseline</a:t>
            </a:r>
            <a:endParaRPr lang="en-US" sz="1200" dirty="0"/>
          </a:p>
        </p:txBody>
      </p:sp>
      <p:sp>
        <p:nvSpPr>
          <p:cNvPr id="9" name="Text 7"/>
          <p:cNvSpPr txBox="1"/>
          <p:nvPr/>
        </p:nvSpPr>
        <p:spPr>
          <a:xfrm>
            <a:off x="868680" y="3794760"/>
            <a:ext cx="2926080" cy="1828800"/>
          </a:xfrm>
          <a:prstGeom prst="rect">
            <a:avLst/>
          </a:prstGeom>
          <a:noFill/>
          <a:ln/>
        </p:spPr>
        <p:txBody>
          <a:bodyPr wrap="square" lIns="0" tIns="0" rIns="0" bIns="0" rtlCol="0" anchor="ctr"/>
          <a:lstStyle/>
          <a:p>
            <a:pPr indent="0" marL="0">
              <a:buNone/>
            </a:pPr>
            <a:r>
              <a:rPr lang="en-US" sz="1250" dirty="0">
                <a:solidFill>
                  <a:srgbClr val="5B6B73"/>
                </a:solidFill>
                <a:latin typeface="Calibri" pitchFamily="34" charset="0"/>
                <a:ea typeface="Calibri" pitchFamily="34" charset="-122"/>
                <a:cs typeface="Calibri" pitchFamily="34" charset="-120"/>
              </a:rPr>
              <a:t>Scaled features. Used as a performance floor and interpretability check — not a production candidate, given the multicollinearity Qossay found.</a:t>
            </a:r>
            <a:endParaRPr lang="en-US" sz="1250" dirty="0"/>
          </a:p>
        </p:txBody>
      </p:sp>
      <p:sp>
        <p:nvSpPr>
          <p:cNvPr id="10" name="Shape 8"/>
          <p:cNvSpPr/>
          <p:nvPr/>
        </p:nvSpPr>
        <p:spPr>
          <a:xfrm>
            <a:off x="4343400" y="1737360"/>
            <a:ext cx="3566160" cy="4023360"/>
          </a:xfrm>
          <a:prstGeom prst="roundRect">
            <a:avLst>
              <a:gd name="adj" fmla="val 2564"/>
            </a:avLst>
          </a:prstGeom>
          <a:solidFill>
            <a:srgbClr val="0B4F6C"/>
          </a:solidFill>
          <a:ln w="12700">
            <a:solidFill>
              <a:srgbClr val="0B4F6C"/>
            </a:solidFill>
            <a:prstDash val="solid"/>
          </a:ln>
          <a:effectLst>
            <a:outerShdw sx="100000" sy="100000" kx="0" ky="0" algn="bl" rotWithShape="0" blurRad="76200" dist="25400" dir="5400000">
              <a:srgbClr val="000000">
                <a:alpha val="12000"/>
              </a:srgbClr>
            </a:outerShdw>
          </a:effectLst>
        </p:spPr>
      </p:sp>
      <p:sp>
        <p:nvSpPr>
          <p:cNvPr id="11" name="Shape 9"/>
          <p:cNvSpPr/>
          <p:nvPr/>
        </p:nvSpPr>
        <p:spPr>
          <a:xfrm>
            <a:off x="5806440" y="2011680"/>
            <a:ext cx="640080" cy="640080"/>
          </a:xfrm>
          <a:prstGeom prst="ellipse">
            <a:avLst/>
          </a:prstGeom>
          <a:solidFill>
            <a:srgbClr val="FFFFFF"/>
          </a:solidFill>
          <a:ln/>
        </p:spPr>
      </p:sp>
      <p:sp>
        <p:nvSpPr>
          <p:cNvPr id="12" name="Text 10"/>
          <p:cNvSpPr txBox="1"/>
          <p:nvPr/>
        </p:nvSpPr>
        <p:spPr>
          <a:xfrm>
            <a:off x="5806440" y="2011680"/>
            <a:ext cx="640080" cy="640080"/>
          </a:xfrm>
          <a:prstGeom prst="rect">
            <a:avLst/>
          </a:prstGeom>
          <a:noFill/>
          <a:ln/>
        </p:spPr>
        <p:txBody>
          <a:bodyPr wrap="square" lIns="0" tIns="0" rIns="0" bIns="0" rtlCol="0" anchor="ctr"/>
          <a:lstStyle/>
          <a:p>
            <a:pPr algn="ctr" indent="0" marL="0">
              <a:buNone/>
            </a:pPr>
            <a:r>
              <a:rPr lang="en-US" sz="2000" b="1" dirty="0">
                <a:solidFill>
                  <a:srgbClr val="0B4F6C"/>
                </a:solidFill>
                <a:latin typeface="Cambria" pitchFamily="34" charset="0"/>
                <a:ea typeface="Cambria" pitchFamily="34" charset="-122"/>
                <a:cs typeface="Cambria" pitchFamily="34" charset="-120"/>
              </a:rPr>
              <a:t>2</a:t>
            </a:r>
            <a:endParaRPr lang="en-US" sz="2000" dirty="0"/>
          </a:p>
        </p:txBody>
      </p:sp>
      <p:sp>
        <p:nvSpPr>
          <p:cNvPr id="13" name="Text 11"/>
          <p:cNvSpPr txBox="1"/>
          <p:nvPr/>
        </p:nvSpPr>
        <p:spPr>
          <a:xfrm>
            <a:off x="4572000" y="2834640"/>
            <a:ext cx="3108960" cy="502920"/>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Random Forest</a:t>
            </a:r>
            <a:endParaRPr lang="en-US" sz="1800" dirty="0"/>
          </a:p>
        </p:txBody>
      </p:sp>
      <p:sp>
        <p:nvSpPr>
          <p:cNvPr id="14" name="Text 12"/>
          <p:cNvSpPr txBox="1"/>
          <p:nvPr/>
        </p:nvSpPr>
        <p:spPr>
          <a:xfrm>
            <a:off x="4572000" y="3291840"/>
            <a:ext cx="3108960" cy="365760"/>
          </a:xfrm>
          <a:prstGeom prst="rect">
            <a:avLst/>
          </a:prstGeom>
          <a:noFill/>
          <a:ln/>
        </p:spPr>
        <p:txBody>
          <a:bodyPr wrap="square" lIns="0" tIns="0" rIns="0" bIns="0" rtlCol="0" anchor="ctr"/>
          <a:lstStyle/>
          <a:p>
            <a:pPr algn="ctr" indent="0" marL="0">
              <a:buNone/>
            </a:pPr>
            <a:r>
              <a:rPr lang="en-US" sz="1200" i="1" dirty="0">
                <a:solidFill>
                  <a:srgbClr val="CADCE0"/>
                </a:solidFill>
                <a:latin typeface="Calibri" pitchFamily="34" charset="0"/>
                <a:ea typeface="Calibri" pitchFamily="34" charset="-122"/>
                <a:cs typeface="Calibri" pitchFamily="34" charset="-120"/>
              </a:rPr>
              <a:t>Primary candidate</a:t>
            </a:r>
            <a:endParaRPr lang="en-US" sz="1200" dirty="0"/>
          </a:p>
        </p:txBody>
      </p:sp>
      <p:sp>
        <p:nvSpPr>
          <p:cNvPr id="15" name="Text 13"/>
          <p:cNvSpPr txBox="1"/>
          <p:nvPr/>
        </p:nvSpPr>
        <p:spPr>
          <a:xfrm>
            <a:off x="4663440" y="3794760"/>
            <a:ext cx="2926080" cy="1828800"/>
          </a:xfrm>
          <a:prstGeom prst="rect">
            <a:avLst/>
          </a:prstGeom>
          <a:noFill/>
          <a:ln/>
        </p:spPr>
        <p:txBody>
          <a:bodyPr wrap="square" lIns="0" tIns="0" rIns="0" bIns="0" rtlCol="0" anchor="ctr"/>
          <a:lstStyle/>
          <a:p>
            <a:pPr indent="0" marL="0">
              <a:buNone/>
            </a:pPr>
            <a:r>
              <a:rPr lang="en-US" sz="1250" dirty="0">
                <a:solidFill>
                  <a:srgbClr val="E8F3F5"/>
                </a:solidFill>
                <a:latin typeface="Calibri" pitchFamily="34" charset="0"/>
                <a:ea typeface="Calibri" pitchFamily="34" charset="-122"/>
                <a:cs typeface="Calibri" pitchFamily="34" charset="-120"/>
              </a:rPr>
              <a:t>Chosen because tree-based models tolerate correlated features far better than linear models. Tuned via GridSearchCV.</a:t>
            </a:r>
            <a:endParaRPr lang="en-US" sz="1250" dirty="0"/>
          </a:p>
        </p:txBody>
      </p:sp>
      <p:sp>
        <p:nvSpPr>
          <p:cNvPr id="16" name="Shape 14"/>
          <p:cNvSpPr/>
          <p:nvPr/>
        </p:nvSpPr>
        <p:spPr>
          <a:xfrm>
            <a:off x="8138160" y="1737360"/>
            <a:ext cx="3566160" cy="4023360"/>
          </a:xfrm>
          <a:prstGeom prst="roundRect">
            <a:avLst>
              <a:gd name="adj" fmla="val 2564"/>
            </a:avLst>
          </a:prstGeom>
          <a:solidFill>
            <a:srgbClr val="FFFFFF"/>
          </a:solidFill>
          <a:ln w="12700">
            <a:solidFill>
              <a:srgbClr val="DCE6E9"/>
            </a:solidFill>
            <a:prstDash val="solid"/>
          </a:ln>
          <a:effectLst>
            <a:outerShdw sx="100000" sy="100000" kx="0" ky="0" algn="bl" rotWithShape="0" blurRad="76200" dist="25400" dir="5400000">
              <a:srgbClr val="000000">
                <a:alpha val="12000"/>
              </a:srgbClr>
            </a:outerShdw>
          </a:effectLst>
        </p:spPr>
      </p:sp>
      <p:sp>
        <p:nvSpPr>
          <p:cNvPr id="17" name="Shape 15"/>
          <p:cNvSpPr/>
          <p:nvPr/>
        </p:nvSpPr>
        <p:spPr>
          <a:xfrm>
            <a:off x="9601200" y="2011680"/>
            <a:ext cx="640080" cy="640080"/>
          </a:xfrm>
          <a:prstGeom prst="ellipse">
            <a:avLst/>
          </a:prstGeom>
          <a:solidFill>
            <a:srgbClr val="01A7C2"/>
          </a:solidFill>
          <a:ln/>
        </p:spPr>
      </p:sp>
      <p:sp>
        <p:nvSpPr>
          <p:cNvPr id="18" name="Text 16"/>
          <p:cNvSpPr txBox="1"/>
          <p:nvPr/>
        </p:nvSpPr>
        <p:spPr>
          <a:xfrm>
            <a:off x="9601200" y="2011680"/>
            <a:ext cx="640080" cy="640080"/>
          </a:xfrm>
          <a:prstGeom prst="rect">
            <a:avLst/>
          </a:prstGeom>
          <a:noFill/>
          <a:ln/>
        </p:spPr>
        <p:txBody>
          <a:bodyPr wrap="square" lIns="0" tIns="0" rIns="0" bIns="0"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3</a:t>
            </a:r>
            <a:endParaRPr lang="en-US" sz="2000" dirty="0"/>
          </a:p>
        </p:txBody>
      </p:sp>
      <p:sp>
        <p:nvSpPr>
          <p:cNvPr id="19" name="Text 17"/>
          <p:cNvSpPr txBox="1"/>
          <p:nvPr/>
        </p:nvSpPr>
        <p:spPr>
          <a:xfrm>
            <a:off x="8366760" y="2834640"/>
            <a:ext cx="3108960" cy="502920"/>
          </a:xfrm>
          <a:prstGeom prst="rect">
            <a:avLst/>
          </a:prstGeom>
          <a:noFill/>
          <a:ln/>
        </p:spPr>
        <p:txBody>
          <a:bodyPr wrap="square" lIns="0" tIns="0" rIns="0" bIns="0" rtlCol="0" anchor="ctr"/>
          <a:lstStyle/>
          <a:p>
            <a:pPr algn="ctr" indent="0" marL="0">
              <a:buNone/>
            </a:pPr>
            <a:r>
              <a:rPr lang="en-US" sz="1800" b="1" dirty="0">
                <a:solidFill>
                  <a:srgbClr val="1B1B1B"/>
                </a:solidFill>
                <a:latin typeface="Cambria" pitchFamily="34" charset="0"/>
                <a:ea typeface="Cambria" pitchFamily="34" charset="-122"/>
                <a:cs typeface="Cambria" pitchFamily="34" charset="-120"/>
              </a:rPr>
              <a:t>Gradient Boosting</a:t>
            </a:r>
            <a:endParaRPr lang="en-US" sz="1800" dirty="0"/>
          </a:p>
        </p:txBody>
      </p:sp>
      <p:sp>
        <p:nvSpPr>
          <p:cNvPr id="20" name="Text 18"/>
          <p:cNvSpPr txBox="1"/>
          <p:nvPr/>
        </p:nvSpPr>
        <p:spPr>
          <a:xfrm>
            <a:off x="8366760" y="3291840"/>
            <a:ext cx="3108960" cy="365760"/>
          </a:xfrm>
          <a:prstGeom prst="rect">
            <a:avLst/>
          </a:prstGeom>
          <a:noFill/>
          <a:ln/>
        </p:spPr>
        <p:txBody>
          <a:bodyPr wrap="square" lIns="0" tIns="0" rIns="0" bIns="0" rtlCol="0" anchor="ctr"/>
          <a:lstStyle/>
          <a:p>
            <a:pPr algn="ctr" indent="0" marL="0">
              <a:buNone/>
            </a:pPr>
            <a:r>
              <a:rPr lang="en-US" sz="1200" i="1" dirty="0">
                <a:solidFill>
                  <a:srgbClr val="01A7C2"/>
                </a:solidFill>
                <a:latin typeface="Calibri" pitchFamily="34" charset="0"/>
                <a:ea typeface="Calibri" pitchFamily="34" charset="-122"/>
                <a:cs typeface="Calibri" pitchFamily="34" charset="-120"/>
              </a:rPr>
              <a:t>Second comparison</a:t>
            </a:r>
            <a:endParaRPr lang="en-US" sz="1200" dirty="0"/>
          </a:p>
        </p:txBody>
      </p:sp>
      <p:sp>
        <p:nvSpPr>
          <p:cNvPr id="21" name="Text 19"/>
          <p:cNvSpPr txBox="1"/>
          <p:nvPr/>
        </p:nvSpPr>
        <p:spPr>
          <a:xfrm>
            <a:off x="8458200" y="3794760"/>
            <a:ext cx="2926080" cy="1828800"/>
          </a:xfrm>
          <a:prstGeom prst="rect">
            <a:avLst/>
          </a:prstGeom>
          <a:noFill/>
          <a:ln/>
        </p:spPr>
        <p:txBody>
          <a:bodyPr wrap="square" lIns="0" tIns="0" rIns="0" bIns="0" rtlCol="0" anchor="ctr"/>
          <a:lstStyle/>
          <a:p>
            <a:pPr indent="0" marL="0">
              <a:buNone/>
            </a:pPr>
            <a:r>
              <a:rPr lang="en-US" sz="1250" dirty="0">
                <a:solidFill>
                  <a:srgbClr val="5B6B73"/>
                </a:solidFill>
                <a:latin typeface="Calibri" pitchFamily="34" charset="0"/>
                <a:ea typeface="Calibri" pitchFamily="34" charset="-122"/>
                <a:cs typeface="Calibri" pitchFamily="34" charset="-120"/>
              </a:rPr>
              <a:t>A second tree-based method, included to confirm Random Forest's advantage wasn't a fluke of one algorithm.</a:t>
            </a:r>
            <a:endParaRPr lang="en-US" sz="1250" dirty="0"/>
          </a:p>
        </p:txBody>
      </p:sp>
      <p:sp>
        <p:nvSpPr>
          <p:cNvPr id="22" name="Text 20"/>
          <p:cNvSpPr txBox="1"/>
          <p:nvPr/>
        </p:nvSpPr>
        <p:spPr>
          <a:xfrm>
            <a:off x="457200" y="6537960"/>
            <a:ext cx="5486400" cy="274320"/>
          </a:xfrm>
          <a:prstGeom prst="rect">
            <a:avLst/>
          </a:prstGeom>
          <a:noFill/>
          <a:ln/>
        </p:spPr>
        <p:txBody>
          <a:bodyPr wrap="square" lIns="0" tIns="0" rIns="0" bIns="0" rtlCol="0" anchor="ctr"/>
          <a:lstStyle/>
          <a:p>
            <a:pPr indent="0" marL="0">
              <a:buNone/>
            </a:pPr>
            <a:r>
              <a:rPr lang="en-US" sz="1000" dirty="0">
                <a:solidFill>
                  <a:srgbClr val="5B6B73"/>
                </a:solidFill>
                <a:latin typeface="Calibri" pitchFamily="34" charset="0"/>
                <a:ea typeface="Calibri" pitchFamily="34" charset="-122"/>
                <a:cs typeface="Calibri" pitchFamily="34" charset="-120"/>
              </a:rPr>
              <a:t>Modeling</a:t>
            </a:r>
            <a:endParaRPr lang="en-US" sz="1000" dirty="0"/>
          </a:p>
        </p:txBody>
      </p:sp>
      <p:sp>
        <p:nvSpPr>
          <p:cNvPr id="23" name="Text 21"/>
          <p:cNvSpPr txBox="1"/>
          <p:nvPr/>
        </p:nvSpPr>
        <p:spPr>
          <a:xfrm>
            <a:off x="11274552" y="6537960"/>
            <a:ext cx="457200" cy="274320"/>
          </a:xfrm>
          <a:prstGeom prst="rect">
            <a:avLst/>
          </a:prstGeom>
          <a:noFill/>
          <a:ln/>
        </p:spPr>
        <p:txBody>
          <a:bodyPr wrap="square" lIns="0" tIns="0" rIns="0" bIns="0" rtlCol="0" anchor="ctr"/>
          <a:lstStyle/>
          <a:p>
            <a:pPr algn="r" indent="0" marL="0">
              <a:buNone/>
            </a:pPr>
            <a:r>
              <a:rPr lang="en-US" sz="1000" dirty="0">
                <a:solidFill>
                  <a:srgbClr val="5B6B73"/>
                </a:solidFill>
                <a:latin typeface="Calibri" pitchFamily="34" charset="0"/>
                <a:ea typeface="Calibri" pitchFamily="34" charset="-122"/>
                <a:cs typeface="Calibri" pitchFamily="34" charset="-120"/>
              </a:rPr>
              <a:t>10</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5F9FA"/>
        </a:solidFill>
      </p:bgPr>
    </p:bg>
    <p:spTree>
      <p:nvGrpSpPr>
        <p:cNvPr id="1" name=""/>
        <p:cNvGrpSpPr/>
        <p:nvPr/>
      </p:nvGrpSpPr>
      <p:grpSpPr>
        <a:xfrm>
          <a:off x="0" y="0"/>
          <a:ext cx="0" cy="0"/>
          <a:chOff x="0" y="0"/>
          <a:chExt cx="0" cy="0"/>
        </a:xfrm>
      </p:grpSpPr>
      <p:sp>
        <p:nvSpPr>
          <p:cNvPr id="2" name="Text 0"/>
          <p:cNvSpPr txBox="1"/>
          <p:nvPr/>
        </p:nvSpPr>
        <p:spPr>
          <a:xfrm>
            <a:off x="548640" y="411480"/>
            <a:ext cx="10972800" cy="640080"/>
          </a:xfrm>
          <a:prstGeom prst="rect">
            <a:avLst/>
          </a:prstGeom>
          <a:noFill/>
          <a:ln/>
        </p:spPr>
        <p:txBody>
          <a:bodyPr wrap="square" lIns="0" tIns="0" rIns="0" bIns="0" rtlCol="0" anchor="ctr"/>
          <a:lstStyle/>
          <a:p>
            <a:pPr indent="0" marL="0">
              <a:buNone/>
            </a:pPr>
            <a:r>
              <a:rPr lang="en-US" sz="3200" b="1" dirty="0">
                <a:solidFill>
                  <a:srgbClr val="0B4F6C"/>
                </a:solidFill>
                <a:latin typeface="Cambria" pitchFamily="34" charset="0"/>
                <a:ea typeface="Cambria" pitchFamily="34" charset="-122"/>
                <a:cs typeface="Cambria" pitchFamily="34" charset="-120"/>
              </a:rPr>
              <a:t>Model Comparison Results</a:t>
            </a:r>
            <a:endParaRPr lang="en-US" sz="3200" dirty="0"/>
          </a:p>
        </p:txBody>
      </p:sp>
      <p:sp>
        <p:nvSpPr>
          <p:cNvPr id="3" name="Text 1"/>
          <p:cNvSpPr txBox="1"/>
          <p:nvPr/>
        </p:nvSpPr>
        <p:spPr>
          <a:xfrm>
            <a:off x="548640" y="1051560"/>
            <a:ext cx="10698480" cy="411480"/>
          </a:xfrm>
          <a:prstGeom prst="rect">
            <a:avLst/>
          </a:prstGeom>
          <a:noFill/>
          <a:ln/>
        </p:spPr>
        <p:txBody>
          <a:bodyPr wrap="square" lIns="0" tIns="0" rIns="0" bIns="0" rtlCol="0" anchor="ctr"/>
          <a:lstStyle/>
          <a:p>
            <a:pPr indent="0" marL="0">
              <a:buNone/>
            </a:pPr>
            <a:r>
              <a:rPr lang="en-US" sz="1500" i="1" dirty="0">
                <a:solidFill>
                  <a:srgbClr val="5B6B73"/>
                </a:solidFill>
                <a:latin typeface="Calibri" pitchFamily="34" charset="0"/>
                <a:ea typeface="Calibri" pitchFamily="34" charset="-122"/>
                <a:cs typeface="Calibri" pitchFamily="34" charset="-120"/>
              </a:rPr>
              <a:t>Test R² across all four models (higher is better)</a:t>
            </a:r>
            <a:endParaRPr lang="en-US" sz="1500" dirty="0"/>
          </a:p>
        </p:txBody>
      </p:sp>
      <p:graphicFrame>
        <p:nvGraphicFramePr>
          <p:cNvPr id="4" name="Chart 0" descr=""/>
          <p:cNvGraphicFramePr/>
          <p:nvPr/>
        </p:nvGraphicFramePr>
        <p:xfrm>
          <a:off x="548640" y="1691640"/>
          <a:ext cx="6675120" cy="4206240"/>
        </p:xfrm>
        <a:graphic xmlns:a="http://schemas.openxmlformats.org/drawingml/2006/main">
          <a:graphicData uri="http://schemas.openxmlformats.org/drawingml/2006/chart">
            <c:chart xmlns:c="http://schemas.openxmlformats.org/drawingml/2006/chart" r:id="rId1"/>
          </a:graphicData>
        </a:graphic>
      </p:graphicFrame>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7498080" y="1920240"/>
          <a:ext cx="4114800" cy="2377440"/>
        </p:xfrm>
        <a:graphic>
          <a:graphicData uri="http://schemas.openxmlformats.org/drawingml/2006/table">
            <a:tbl>
              <a:tblPr/>
              <a:tblGrid>
                <a:gridCol w="2103120"/>
                <a:gridCol w="1005840"/>
                <a:gridCol w="1005840"/>
              </a:tblGrid>
              <a:tr h="457200">
                <a:tc>
                  <a:txBody>
                    <a:bodyPr/>
                    <a:lstStyle/>
                    <a:p>
                      <a:pPr indent="0" marL="0">
                        <a:buNone/>
                      </a:pPr>
                      <a:r>
                        <a:rPr lang="en-US" sz="1150" dirty="0">
                          <a:solidFill>
                            <a:srgbClr val="1B1B1B"/>
                          </a:solidFill>
                          <a:latin typeface="Calibri" pitchFamily="34" charset="0"/>
                          <a:ea typeface="Calibri" pitchFamily="34" charset="-122"/>
                          <a:cs typeface="Calibri" pitchFamily="34" charset="-120"/>
                        </a:rPr>
                        <a:t>Model</a:t>
                      </a:r>
                      <a:endParaRPr lang="en-US" sz="1150" dirty="0">
                        <a:latin typeface="Calibri" charset="0"/>
                        <a:ea typeface="Calibri" charset="0"/>
                        <a:cs typeface="Calibri" charset="0"/>
                      </a:endParaRPr>
                    </a:p>
                  </a:txBody>
                  <a:tcPr marL="91440" marR="91440" marT="45720" marB="45720" anchor="ctr">
                    <a:lnL w="6350" cap="flat" cmpd="sng" algn="ctr">
                      <a:solidFill>
                        <a:srgbClr val="DCE6E9"/>
                      </a:solidFill>
                      <a:prstDash val="solid"/>
                      <a:round/>
                      <a:headEnd type="none" w="med" len="med"/>
                      <a:tailEnd type="none" w="med" len="med"/>
                    </a:lnL>
                    <a:lnR w="6350" cap="flat" cmpd="sng" algn="ctr">
                      <a:solidFill>
                        <a:srgbClr val="DCE6E9"/>
                      </a:solidFill>
                      <a:prstDash val="solid"/>
                      <a:round/>
                      <a:headEnd type="none" w="med" len="med"/>
                      <a:tailEnd type="none" w="med" len="med"/>
                    </a:lnR>
                    <a:lnT w="6350" cap="flat" cmpd="sng" algn="ctr">
                      <a:solidFill>
                        <a:srgbClr val="DCE6E9"/>
                      </a:solidFill>
                      <a:prstDash val="solid"/>
                      <a:round/>
                      <a:headEnd type="none" w="med" len="med"/>
                      <a:tailEnd type="none" w="med" len="med"/>
                    </a:lnT>
                    <a:lnB w="6350" cap="flat" cmpd="sng" algn="ctr">
                      <a:solidFill>
                        <a:srgbClr val="DCE6E9"/>
                      </a:solidFill>
                      <a:prstDash val="solid"/>
                      <a:round/>
                      <a:headEnd type="none" w="med" len="med"/>
                      <a:tailEnd type="none" w="med" len="med"/>
                    </a:lnB>
                    <a:solidFill>
                      <a:srgbClr val="FFFFFF"/>
                    </a:solidFill>
                  </a:tcPr>
                </a:tc>
                <a:tc>
                  <a:txBody>
                    <a:bodyPr/>
                    <a:lstStyle/>
                    <a:p>
                      <a:pPr indent="0" marL="0">
                        <a:buNone/>
                      </a:pPr>
                      <a:r>
                        <a:rPr lang="en-US" sz="1150" dirty="0">
                          <a:solidFill>
                            <a:srgbClr val="1B1B1B"/>
                          </a:solidFill>
                          <a:latin typeface="Calibri" pitchFamily="34" charset="0"/>
                          <a:ea typeface="Calibri" pitchFamily="34" charset="-122"/>
                          <a:cs typeface="Calibri" pitchFamily="34" charset="-120"/>
                        </a:rPr>
                        <a:t>RMSE</a:t>
                      </a:r>
                      <a:endParaRPr lang="en-US" sz="1150" dirty="0">
                        <a:latin typeface="Calibri" charset="0"/>
                        <a:ea typeface="Calibri" charset="0"/>
                        <a:cs typeface="Calibri" charset="0"/>
                      </a:endParaRPr>
                    </a:p>
                  </a:txBody>
                  <a:tcPr marL="91440" marR="91440" marT="45720" marB="45720" anchor="ctr">
                    <a:lnL w="6350" cap="flat" cmpd="sng" algn="ctr">
                      <a:solidFill>
                        <a:srgbClr val="DCE6E9"/>
                      </a:solidFill>
                      <a:prstDash val="solid"/>
                      <a:round/>
                      <a:headEnd type="none" w="med" len="med"/>
                      <a:tailEnd type="none" w="med" len="med"/>
                    </a:lnL>
                    <a:lnR w="6350" cap="flat" cmpd="sng" algn="ctr">
                      <a:solidFill>
                        <a:srgbClr val="DCE6E9"/>
                      </a:solidFill>
                      <a:prstDash val="solid"/>
                      <a:round/>
                      <a:headEnd type="none" w="med" len="med"/>
                      <a:tailEnd type="none" w="med" len="med"/>
                    </a:lnR>
                    <a:lnT w="6350" cap="flat" cmpd="sng" algn="ctr">
                      <a:solidFill>
                        <a:srgbClr val="DCE6E9"/>
                      </a:solidFill>
                      <a:prstDash val="solid"/>
                      <a:round/>
                      <a:headEnd type="none" w="med" len="med"/>
                      <a:tailEnd type="none" w="med" len="med"/>
                    </a:lnT>
                    <a:lnB w="6350" cap="flat" cmpd="sng" algn="ctr">
                      <a:solidFill>
                        <a:srgbClr val="DCE6E9"/>
                      </a:solidFill>
                      <a:prstDash val="solid"/>
                      <a:round/>
                      <a:headEnd type="none" w="med" len="med"/>
                      <a:tailEnd type="none" w="med" len="med"/>
                    </a:lnB>
                    <a:solidFill>
                      <a:srgbClr val="FFFFFF"/>
                    </a:solidFill>
                  </a:tcPr>
                </a:tc>
                <a:tc>
                  <a:txBody>
                    <a:bodyPr/>
                    <a:lstStyle/>
                    <a:p>
                      <a:pPr indent="0" marL="0">
                        <a:buNone/>
                      </a:pPr>
                      <a:r>
                        <a:rPr lang="en-US" sz="1150" dirty="0">
                          <a:solidFill>
                            <a:srgbClr val="1B1B1B"/>
                          </a:solidFill>
                          <a:latin typeface="Calibri" pitchFamily="34" charset="0"/>
                          <a:ea typeface="Calibri" pitchFamily="34" charset="-122"/>
                          <a:cs typeface="Calibri" pitchFamily="34" charset="-120"/>
                        </a:rPr>
                        <a:t>MAE</a:t>
                      </a:r>
                      <a:endParaRPr lang="en-US" sz="1150" dirty="0">
                        <a:latin typeface="Calibri" charset="0"/>
                        <a:ea typeface="Calibri" charset="0"/>
                        <a:cs typeface="Calibri" charset="0"/>
                      </a:endParaRPr>
                    </a:p>
                  </a:txBody>
                  <a:tcPr marL="91440" marR="91440" marT="45720" marB="45720" anchor="ctr">
                    <a:lnL w="6350" cap="flat" cmpd="sng" algn="ctr">
                      <a:solidFill>
                        <a:srgbClr val="DCE6E9"/>
                      </a:solidFill>
                      <a:prstDash val="solid"/>
                      <a:round/>
                      <a:headEnd type="none" w="med" len="med"/>
                      <a:tailEnd type="none" w="med" len="med"/>
                    </a:lnL>
                    <a:lnR w="6350" cap="flat" cmpd="sng" algn="ctr">
                      <a:solidFill>
                        <a:srgbClr val="DCE6E9"/>
                      </a:solidFill>
                      <a:prstDash val="solid"/>
                      <a:round/>
                      <a:headEnd type="none" w="med" len="med"/>
                      <a:tailEnd type="none" w="med" len="med"/>
                    </a:lnR>
                    <a:lnT w="6350" cap="flat" cmpd="sng" algn="ctr">
                      <a:solidFill>
                        <a:srgbClr val="DCE6E9"/>
                      </a:solidFill>
                      <a:prstDash val="solid"/>
                      <a:round/>
                      <a:headEnd type="none" w="med" len="med"/>
                      <a:tailEnd type="none" w="med" len="med"/>
                    </a:lnT>
                    <a:lnB w="6350" cap="flat" cmpd="sng" algn="ctr">
                      <a:solidFill>
                        <a:srgbClr val="DCE6E9"/>
                      </a:solidFill>
                      <a:prstDash val="solid"/>
                      <a:round/>
                      <a:headEnd type="none" w="med" len="med"/>
                      <a:tailEnd type="none" w="med" len="med"/>
                    </a:lnB>
                    <a:solidFill>
                      <a:srgbClr val="FFFFFF"/>
                    </a:solidFill>
                  </a:tcPr>
                </a:tc>
              </a:tr>
              <a:tr h="457200">
                <a:tc>
                  <a:txBody>
                    <a:bodyPr/>
                    <a:lstStyle/>
                    <a:p>
                      <a:pPr indent="0" marL="0">
                        <a:buNone/>
                      </a:pPr>
                      <a:r>
                        <a:rPr lang="en-US" sz="1150" dirty="0">
                          <a:solidFill>
                            <a:srgbClr val="1B1B1B"/>
                          </a:solidFill>
                          <a:latin typeface="Calibri" pitchFamily="34" charset="0"/>
                          <a:ea typeface="Calibri" pitchFamily="34" charset="-122"/>
                          <a:cs typeface="Calibri" pitchFamily="34" charset="-120"/>
                        </a:rPr>
                        <a:t>Linear Regression</a:t>
                      </a:r>
                      <a:endParaRPr lang="en-US" sz="1150" dirty="0">
                        <a:latin typeface="Calibri" charset="0"/>
                        <a:ea typeface="Calibri" charset="0"/>
                        <a:cs typeface="Calibri" charset="0"/>
                      </a:endParaRPr>
                    </a:p>
                  </a:txBody>
                  <a:tcPr marL="91440" marR="91440" marT="45720" marB="45720" anchor="ctr">
                    <a:lnL w="6350" cap="flat" cmpd="sng" algn="ctr">
                      <a:solidFill>
                        <a:srgbClr val="DCE6E9"/>
                      </a:solidFill>
                      <a:prstDash val="solid"/>
                      <a:round/>
                      <a:headEnd type="none" w="med" len="med"/>
                      <a:tailEnd type="none" w="med" len="med"/>
                    </a:lnL>
                    <a:lnR w="6350" cap="flat" cmpd="sng" algn="ctr">
                      <a:solidFill>
                        <a:srgbClr val="DCE6E9"/>
                      </a:solidFill>
                      <a:prstDash val="solid"/>
                      <a:round/>
                      <a:headEnd type="none" w="med" len="med"/>
                      <a:tailEnd type="none" w="med" len="med"/>
                    </a:lnR>
                    <a:lnT w="6350" cap="flat" cmpd="sng" algn="ctr">
                      <a:solidFill>
                        <a:srgbClr val="DCE6E9"/>
                      </a:solidFill>
                      <a:prstDash val="solid"/>
                      <a:round/>
                      <a:headEnd type="none" w="med" len="med"/>
                      <a:tailEnd type="none" w="med" len="med"/>
                    </a:lnT>
                    <a:lnB w="6350" cap="flat" cmpd="sng" algn="ctr">
                      <a:solidFill>
                        <a:srgbClr val="DCE6E9"/>
                      </a:solidFill>
                      <a:prstDash val="solid"/>
                      <a:round/>
                      <a:headEnd type="none" w="med" len="med"/>
                      <a:tailEnd type="none" w="med" len="med"/>
                    </a:lnB>
                    <a:solidFill>
                      <a:srgbClr val="FFFFFF"/>
                    </a:solidFill>
                  </a:tcPr>
                </a:tc>
                <a:tc>
                  <a:txBody>
                    <a:bodyPr/>
                    <a:lstStyle/>
                    <a:p>
                      <a:pPr indent="0" marL="0">
                        <a:buNone/>
                      </a:pPr>
                      <a:r>
                        <a:rPr lang="en-US" sz="1150" dirty="0">
                          <a:solidFill>
                            <a:srgbClr val="1B1B1B"/>
                          </a:solidFill>
                          <a:latin typeface="Calibri" pitchFamily="34" charset="0"/>
                          <a:ea typeface="Calibri" pitchFamily="34" charset="-122"/>
                          <a:cs typeface="Calibri" pitchFamily="34" charset="-120"/>
                        </a:rPr>
                        <a:t>0.626</a:t>
                      </a:r>
                      <a:endParaRPr lang="en-US" sz="1150" dirty="0">
                        <a:latin typeface="Calibri" charset="0"/>
                        <a:ea typeface="Calibri" charset="0"/>
                        <a:cs typeface="Calibri" charset="0"/>
                      </a:endParaRPr>
                    </a:p>
                  </a:txBody>
                  <a:tcPr marL="91440" marR="91440" marT="45720" marB="45720" anchor="ctr">
                    <a:lnL w="6350" cap="flat" cmpd="sng" algn="ctr">
                      <a:solidFill>
                        <a:srgbClr val="DCE6E9"/>
                      </a:solidFill>
                      <a:prstDash val="solid"/>
                      <a:round/>
                      <a:headEnd type="none" w="med" len="med"/>
                      <a:tailEnd type="none" w="med" len="med"/>
                    </a:lnL>
                    <a:lnR w="6350" cap="flat" cmpd="sng" algn="ctr">
                      <a:solidFill>
                        <a:srgbClr val="DCE6E9"/>
                      </a:solidFill>
                      <a:prstDash val="solid"/>
                      <a:round/>
                      <a:headEnd type="none" w="med" len="med"/>
                      <a:tailEnd type="none" w="med" len="med"/>
                    </a:lnR>
                    <a:lnT w="6350" cap="flat" cmpd="sng" algn="ctr">
                      <a:solidFill>
                        <a:srgbClr val="DCE6E9"/>
                      </a:solidFill>
                      <a:prstDash val="solid"/>
                      <a:round/>
                      <a:headEnd type="none" w="med" len="med"/>
                      <a:tailEnd type="none" w="med" len="med"/>
                    </a:lnT>
                    <a:lnB w="6350" cap="flat" cmpd="sng" algn="ctr">
                      <a:solidFill>
                        <a:srgbClr val="DCE6E9"/>
                      </a:solidFill>
                      <a:prstDash val="solid"/>
                      <a:round/>
                      <a:headEnd type="none" w="med" len="med"/>
                      <a:tailEnd type="none" w="med" len="med"/>
                    </a:lnB>
                    <a:solidFill>
                      <a:srgbClr val="FFFFFF"/>
                    </a:solidFill>
                  </a:tcPr>
                </a:tc>
                <a:tc>
                  <a:txBody>
                    <a:bodyPr/>
                    <a:lstStyle/>
                    <a:p>
                      <a:pPr indent="0" marL="0">
                        <a:buNone/>
                      </a:pPr>
                      <a:r>
                        <a:rPr lang="en-US" sz="1150" dirty="0">
                          <a:solidFill>
                            <a:srgbClr val="1B1B1B"/>
                          </a:solidFill>
                          <a:latin typeface="Calibri" pitchFamily="34" charset="0"/>
                          <a:ea typeface="Calibri" pitchFamily="34" charset="-122"/>
                          <a:cs typeface="Calibri" pitchFamily="34" charset="-120"/>
                        </a:rPr>
                        <a:t>0.424</a:t>
                      </a:r>
                      <a:endParaRPr lang="en-US" sz="1150" dirty="0">
                        <a:latin typeface="Calibri" charset="0"/>
                        <a:ea typeface="Calibri" charset="0"/>
                        <a:cs typeface="Calibri" charset="0"/>
                      </a:endParaRPr>
                    </a:p>
                  </a:txBody>
                  <a:tcPr marL="91440" marR="91440" marT="45720" marB="45720" anchor="ctr">
                    <a:lnL w="6350" cap="flat" cmpd="sng" algn="ctr">
                      <a:solidFill>
                        <a:srgbClr val="DCE6E9"/>
                      </a:solidFill>
                      <a:prstDash val="solid"/>
                      <a:round/>
                      <a:headEnd type="none" w="med" len="med"/>
                      <a:tailEnd type="none" w="med" len="med"/>
                    </a:lnL>
                    <a:lnR w="6350" cap="flat" cmpd="sng" algn="ctr">
                      <a:solidFill>
                        <a:srgbClr val="DCE6E9"/>
                      </a:solidFill>
                      <a:prstDash val="solid"/>
                      <a:round/>
                      <a:headEnd type="none" w="med" len="med"/>
                      <a:tailEnd type="none" w="med" len="med"/>
                    </a:lnR>
                    <a:lnT w="6350" cap="flat" cmpd="sng" algn="ctr">
                      <a:solidFill>
                        <a:srgbClr val="DCE6E9"/>
                      </a:solidFill>
                      <a:prstDash val="solid"/>
                      <a:round/>
                      <a:headEnd type="none" w="med" len="med"/>
                      <a:tailEnd type="none" w="med" len="med"/>
                    </a:lnT>
                    <a:lnB w="6350" cap="flat" cmpd="sng" algn="ctr">
                      <a:solidFill>
                        <a:srgbClr val="DCE6E9"/>
                      </a:solidFill>
                      <a:prstDash val="solid"/>
                      <a:round/>
                      <a:headEnd type="none" w="med" len="med"/>
                      <a:tailEnd type="none" w="med" len="med"/>
                    </a:lnB>
                    <a:solidFill>
                      <a:srgbClr val="FFFFFF"/>
                    </a:solidFill>
                  </a:tcPr>
                </a:tc>
              </a:tr>
              <a:tr h="457200">
                <a:tc>
                  <a:txBody>
                    <a:bodyPr/>
                    <a:lstStyle/>
                    <a:p>
                      <a:pPr indent="0" marL="0">
                        <a:buNone/>
                      </a:pPr>
                      <a:r>
                        <a:rPr lang="en-US" sz="1150" dirty="0">
                          <a:solidFill>
                            <a:srgbClr val="1B1B1B"/>
                          </a:solidFill>
                          <a:latin typeface="Calibri" pitchFamily="34" charset="0"/>
                          <a:ea typeface="Calibri" pitchFamily="34" charset="-122"/>
                          <a:cs typeface="Calibri" pitchFamily="34" charset="-120"/>
                        </a:rPr>
                        <a:t>Random Forest (Default)</a:t>
                      </a:r>
                      <a:endParaRPr lang="en-US" sz="1150" dirty="0">
                        <a:latin typeface="Calibri" charset="0"/>
                        <a:ea typeface="Calibri" charset="0"/>
                        <a:cs typeface="Calibri" charset="0"/>
                      </a:endParaRPr>
                    </a:p>
                  </a:txBody>
                  <a:tcPr marL="91440" marR="91440" marT="45720" marB="45720" anchor="ctr">
                    <a:lnL w="6350" cap="flat" cmpd="sng" algn="ctr">
                      <a:solidFill>
                        <a:srgbClr val="DCE6E9"/>
                      </a:solidFill>
                      <a:prstDash val="solid"/>
                      <a:round/>
                      <a:headEnd type="none" w="med" len="med"/>
                      <a:tailEnd type="none" w="med" len="med"/>
                    </a:lnL>
                    <a:lnR w="6350" cap="flat" cmpd="sng" algn="ctr">
                      <a:solidFill>
                        <a:srgbClr val="DCE6E9"/>
                      </a:solidFill>
                      <a:prstDash val="solid"/>
                      <a:round/>
                      <a:headEnd type="none" w="med" len="med"/>
                      <a:tailEnd type="none" w="med" len="med"/>
                    </a:lnR>
                    <a:lnT w="6350" cap="flat" cmpd="sng" algn="ctr">
                      <a:solidFill>
                        <a:srgbClr val="DCE6E9"/>
                      </a:solidFill>
                      <a:prstDash val="solid"/>
                      <a:round/>
                      <a:headEnd type="none" w="med" len="med"/>
                      <a:tailEnd type="none" w="med" len="med"/>
                    </a:lnT>
                    <a:lnB w="6350" cap="flat" cmpd="sng" algn="ctr">
                      <a:solidFill>
                        <a:srgbClr val="DCE6E9"/>
                      </a:solidFill>
                      <a:prstDash val="solid"/>
                      <a:round/>
                      <a:headEnd type="none" w="med" len="med"/>
                      <a:tailEnd type="none" w="med" len="med"/>
                    </a:lnB>
                    <a:solidFill>
                      <a:srgbClr val="FFFFFF"/>
                    </a:solidFill>
                  </a:tcPr>
                </a:tc>
                <a:tc>
                  <a:txBody>
                    <a:bodyPr/>
                    <a:lstStyle/>
                    <a:p>
                      <a:pPr indent="0" marL="0">
                        <a:buNone/>
                      </a:pPr>
                      <a:r>
                        <a:rPr lang="en-US" sz="1150" dirty="0">
                          <a:solidFill>
                            <a:srgbClr val="1B1B1B"/>
                          </a:solidFill>
                          <a:latin typeface="Calibri" pitchFamily="34" charset="0"/>
                          <a:ea typeface="Calibri" pitchFamily="34" charset="-122"/>
                          <a:cs typeface="Calibri" pitchFamily="34" charset="-120"/>
                        </a:rPr>
                        <a:t>0.527</a:t>
                      </a:r>
                      <a:endParaRPr lang="en-US" sz="1150" dirty="0">
                        <a:latin typeface="Calibri" charset="0"/>
                        <a:ea typeface="Calibri" charset="0"/>
                        <a:cs typeface="Calibri" charset="0"/>
                      </a:endParaRPr>
                    </a:p>
                  </a:txBody>
                  <a:tcPr marL="91440" marR="91440" marT="45720" marB="45720" anchor="ctr">
                    <a:lnL w="6350" cap="flat" cmpd="sng" algn="ctr">
                      <a:solidFill>
                        <a:srgbClr val="DCE6E9"/>
                      </a:solidFill>
                      <a:prstDash val="solid"/>
                      <a:round/>
                      <a:headEnd type="none" w="med" len="med"/>
                      <a:tailEnd type="none" w="med" len="med"/>
                    </a:lnL>
                    <a:lnR w="6350" cap="flat" cmpd="sng" algn="ctr">
                      <a:solidFill>
                        <a:srgbClr val="DCE6E9"/>
                      </a:solidFill>
                      <a:prstDash val="solid"/>
                      <a:round/>
                      <a:headEnd type="none" w="med" len="med"/>
                      <a:tailEnd type="none" w="med" len="med"/>
                    </a:lnR>
                    <a:lnT w="6350" cap="flat" cmpd="sng" algn="ctr">
                      <a:solidFill>
                        <a:srgbClr val="DCE6E9"/>
                      </a:solidFill>
                      <a:prstDash val="solid"/>
                      <a:round/>
                      <a:headEnd type="none" w="med" len="med"/>
                      <a:tailEnd type="none" w="med" len="med"/>
                    </a:lnT>
                    <a:lnB w="6350" cap="flat" cmpd="sng" algn="ctr">
                      <a:solidFill>
                        <a:srgbClr val="DCE6E9"/>
                      </a:solidFill>
                      <a:prstDash val="solid"/>
                      <a:round/>
                      <a:headEnd type="none" w="med" len="med"/>
                      <a:tailEnd type="none" w="med" len="med"/>
                    </a:lnB>
                    <a:solidFill>
                      <a:srgbClr val="FFFFFF"/>
                    </a:solidFill>
                  </a:tcPr>
                </a:tc>
                <a:tc>
                  <a:txBody>
                    <a:bodyPr/>
                    <a:lstStyle/>
                    <a:p>
                      <a:pPr indent="0" marL="0">
                        <a:buNone/>
                      </a:pPr>
                      <a:r>
                        <a:rPr lang="en-US" sz="1150" dirty="0">
                          <a:solidFill>
                            <a:srgbClr val="1B1B1B"/>
                          </a:solidFill>
                          <a:latin typeface="Calibri" pitchFamily="34" charset="0"/>
                          <a:ea typeface="Calibri" pitchFamily="34" charset="-122"/>
                          <a:cs typeface="Calibri" pitchFamily="34" charset="-120"/>
                        </a:rPr>
                        <a:t>0.360</a:t>
                      </a:r>
                      <a:endParaRPr lang="en-US" sz="1150" dirty="0">
                        <a:latin typeface="Calibri" charset="0"/>
                        <a:ea typeface="Calibri" charset="0"/>
                        <a:cs typeface="Calibri" charset="0"/>
                      </a:endParaRPr>
                    </a:p>
                  </a:txBody>
                  <a:tcPr marL="91440" marR="91440" marT="45720" marB="45720" anchor="ctr">
                    <a:lnL w="6350" cap="flat" cmpd="sng" algn="ctr">
                      <a:solidFill>
                        <a:srgbClr val="DCE6E9"/>
                      </a:solidFill>
                      <a:prstDash val="solid"/>
                      <a:round/>
                      <a:headEnd type="none" w="med" len="med"/>
                      <a:tailEnd type="none" w="med" len="med"/>
                    </a:lnL>
                    <a:lnR w="6350" cap="flat" cmpd="sng" algn="ctr">
                      <a:solidFill>
                        <a:srgbClr val="DCE6E9"/>
                      </a:solidFill>
                      <a:prstDash val="solid"/>
                      <a:round/>
                      <a:headEnd type="none" w="med" len="med"/>
                      <a:tailEnd type="none" w="med" len="med"/>
                    </a:lnR>
                    <a:lnT w="6350" cap="flat" cmpd="sng" algn="ctr">
                      <a:solidFill>
                        <a:srgbClr val="DCE6E9"/>
                      </a:solidFill>
                      <a:prstDash val="solid"/>
                      <a:round/>
                      <a:headEnd type="none" w="med" len="med"/>
                      <a:tailEnd type="none" w="med" len="med"/>
                    </a:lnT>
                    <a:lnB w="6350" cap="flat" cmpd="sng" algn="ctr">
                      <a:solidFill>
                        <a:srgbClr val="DCE6E9"/>
                      </a:solidFill>
                      <a:prstDash val="solid"/>
                      <a:round/>
                      <a:headEnd type="none" w="med" len="med"/>
                      <a:tailEnd type="none" w="med" len="med"/>
                    </a:lnB>
                    <a:solidFill>
                      <a:srgbClr val="FFFFFF"/>
                    </a:solidFill>
                  </a:tcPr>
                </a:tc>
              </a:tr>
              <a:tr h="457200">
                <a:tc>
                  <a:txBody>
                    <a:bodyPr/>
                    <a:lstStyle/>
                    <a:p>
                      <a:pPr indent="0" marL="0">
                        <a:buNone/>
                      </a:pPr>
                      <a:r>
                        <a:rPr lang="en-US" sz="1150" dirty="0">
                          <a:solidFill>
                            <a:srgbClr val="1B1B1B"/>
                          </a:solidFill>
                          <a:latin typeface="Calibri" pitchFamily="34" charset="0"/>
                          <a:ea typeface="Calibri" pitchFamily="34" charset="-122"/>
                          <a:cs typeface="Calibri" pitchFamily="34" charset="-120"/>
                        </a:rPr>
                        <a:t>Gradient Boosting</a:t>
                      </a:r>
                      <a:endParaRPr lang="en-US" sz="1150" dirty="0">
                        <a:latin typeface="Calibri" charset="0"/>
                        <a:ea typeface="Calibri" charset="0"/>
                        <a:cs typeface="Calibri" charset="0"/>
                      </a:endParaRPr>
                    </a:p>
                  </a:txBody>
                  <a:tcPr marL="91440" marR="91440" marT="45720" marB="45720" anchor="ctr">
                    <a:lnL w="6350" cap="flat" cmpd="sng" algn="ctr">
                      <a:solidFill>
                        <a:srgbClr val="DCE6E9"/>
                      </a:solidFill>
                      <a:prstDash val="solid"/>
                      <a:round/>
                      <a:headEnd type="none" w="med" len="med"/>
                      <a:tailEnd type="none" w="med" len="med"/>
                    </a:lnL>
                    <a:lnR w="6350" cap="flat" cmpd="sng" algn="ctr">
                      <a:solidFill>
                        <a:srgbClr val="DCE6E9"/>
                      </a:solidFill>
                      <a:prstDash val="solid"/>
                      <a:round/>
                      <a:headEnd type="none" w="med" len="med"/>
                      <a:tailEnd type="none" w="med" len="med"/>
                    </a:lnR>
                    <a:lnT w="6350" cap="flat" cmpd="sng" algn="ctr">
                      <a:solidFill>
                        <a:srgbClr val="DCE6E9"/>
                      </a:solidFill>
                      <a:prstDash val="solid"/>
                      <a:round/>
                      <a:headEnd type="none" w="med" len="med"/>
                      <a:tailEnd type="none" w="med" len="med"/>
                    </a:lnT>
                    <a:lnB w="6350" cap="flat" cmpd="sng" algn="ctr">
                      <a:solidFill>
                        <a:srgbClr val="DCE6E9"/>
                      </a:solidFill>
                      <a:prstDash val="solid"/>
                      <a:round/>
                      <a:headEnd type="none" w="med" len="med"/>
                      <a:tailEnd type="none" w="med" len="med"/>
                    </a:lnB>
                    <a:solidFill>
                      <a:srgbClr val="FFFFFF"/>
                    </a:solidFill>
                  </a:tcPr>
                </a:tc>
                <a:tc>
                  <a:txBody>
                    <a:bodyPr/>
                    <a:lstStyle/>
                    <a:p>
                      <a:pPr indent="0" marL="0">
                        <a:buNone/>
                      </a:pPr>
                      <a:r>
                        <a:rPr lang="en-US" sz="1150" dirty="0">
                          <a:solidFill>
                            <a:srgbClr val="1B1B1B"/>
                          </a:solidFill>
                          <a:latin typeface="Calibri" pitchFamily="34" charset="0"/>
                          <a:ea typeface="Calibri" pitchFamily="34" charset="-122"/>
                          <a:cs typeface="Calibri" pitchFamily="34" charset="-120"/>
                        </a:rPr>
                        <a:t>0.657</a:t>
                      </a:r>
                      <a:endParaRPr lang="en-US" sz="1150" dirty="0">
                        <a:latin typeface="Calibri" charset="0"/>
                        <a:ea typeface="Calibri" charset="0"/>
                        <a:cs typeface="Calibri" charset="0"/>
                      </a:endParaRPr>
                    </a:p>
                  </a:txBody>
                  <a:tcPr marL="91440" marR="91440" marT="45720" marB="45720" anchor="ctr">
                    <a:lnL w="6350" cap="flat" cmpd="sng" algn="ctr">
                      <a:solidFill>
                        <a:srgbClr val="DCE6E9"/>
                      </a:solidFill>
                      <a:prstDash val="solid"/>
                      <a:round/>
                      <a:headEnd type="none" w="med" len="med"/>
                      <a:tailEnd type="none" w="med" len="med"/>
                    </a:lnL>
                    <a:lnR w="6350" cap="flat" cmpd="sng" algn="ctr">
                      <a:solidFill>
                        <a:srgbClr val="DCE6E9"/>
                      </a:solidFill>
                      <a:prstDash val="solid"/>
                      <a:round/>
                      <a:headEnd type="none" w="med" len="med"/>
                      <a:tailEnd type="none" w="med" len="med"/>
                    </a:lnR>
                    <a:lnT w="6350" cap="flat" cmpd="sng" algn="ctr">
                      <a:solidFill>
                        <a:srgbClr val="DCE6E9"/>
                      </a:solidFill>
                      <a:prstDash val="solid"/>
                      <a:round/>
                      <a:headEnd type="none" w="med" len="med"/>
                      <a:tailEnd type="none" w="med" len="med"/>
                    </a:lnT>
                    <a:lnB w="6350" cap="flat" cmpd="sng" algn="ctr">
                      <a:solidFill>
                        <a:srgbClr val="DCE6E9"/>
                      </a:solidFill>
                      <a:prstDash val="solid"/>
                      <a:round/>
                      <a:headEnd type="none" w="med" len="med"/>
                      <a:tailEnd type="none" w="med" len="med"/>
                    </a:lnB>
                    <a:solidFill>
                      <a:srgbClr val="FFFFFF"/>
                    </a:solidFill>
                  </a:tcPr>
                </a:tc>
                <a:tc>
                  <a:txBody>
                    <a:bodyPr/>
                    <a:lstStyle/>
                    <a:p>
                      <a:pPr indent="0" marL="0">
                        <a:buNone/>
                      </a:pPr>
                      <a:r>
                        <a:rPr lang="en-US" sz="1150" dirty="0">
                          <a:solidFill>
                            <a:srgbClr val="1B1B1B"/>
                          </a:solidFill>
                          <a:latin typeface="Calibri" pitchFamily="34" charset="0"/>
                          <a:ea typeface="Calibri" pitchFamily="34" charset="-122"/>
                          <a:cs typeface="Calibri" pitchFamily="34" charset="-120"/>
                        </a:rPr>
                        <a:t>0.469</a:t>
                      </a:r>
                      <a:endParaRPr lang="en-US" sz="1150" dirty="0">
                        <a:latin typeface="Calibri" charset="0"/>
                        <a:ea typeface="Calibri" charset="0"/>
                        <a:cs typeface="Calibri" charset="0"/>
                      </a:endParaRPr>
                    </a:p>
                  </a:txBody>
                  <a:tcPr marL="91440" marR="91440" marT="45720" marB="45720" anchor="ctr">
                    <a:lnL w="6350" cap="flat" cmpd="sng" algn="ctr">
                      <a:solidFill>
                        <a:srgbClr val="DCE6E9"/>
                      </a:solidFill>
                      <a:prstDash val="solid"/>
                      <a:round/>
                      <a:headEnd type="none" w="med" len="med"/>
                      <a:tailEnd type="none" w="med" len="med"/>
                    </a:lnL>
                    <a:lnR w="6350" cap="flat" cmpd="sng" algn="ctr">
                      <a:solidFill>
                        <a:srgbClr val="DCE6E9"/>
                      </a:solidFill>
                      <a:prstDash val="solid"/>
                      <a:round/>
                      <a:headEnd type="none" w="med" len="med"/>
                      <a:tailEnd type="none" w="med" len="med"/>
                    </a:lnR>
                    <a:lnT w="6350" cap="flat" cmpd="sng" algn="ctr">
                      <a:solidFill>
                        <a:srgbClr val="DCE6E9"/>
                      </a:solidFill>
                      <a:prstDash val="solid"/>
                      <a:round/>
                      <a:headEnd type="none" w="med" len="med"/>
                      <a:tailEnd type="none" w="med" len="med"/>
                    </a:lnT>
                    <a:lnB w="6350" cap="flat" cmpd="sng" algn="ctr">
                      <a:solidFill>
                        <a:srgbClr val="DCE6E9"/>
                      </a:solidFill>
                      <a:prstDash val="solid"/>
                      <a:round/>
                      <a:headEnd type="none" w="med" len="med"/>
                      <a:tailEnd type="none" w="med" len="med"/>
                    </a:lnB>
                    <a:solidFill>
                      <a:srgbClr val="FFFFFF"/>
                    </a:solidFill>
                  </a:tcPr>
                </a:tc>
              </a:tr>
              <a:tr h="457200">
                <a:tc>
                  <a:txBody>
                    <a:bodyPr/>
                    <a:lstStyle/>
                    <a:p>
                      <a:pPr indent="0" marL="0">
                        <a:buNone/>
                      </a:pPr>
                      <a:r>
                        <a:rPr lang="en-US" sz="1150" dirty="0">
                          <a:solidFill>
                            <a:srgbClr val="1B1B1B"/>
                          </a:solidFill>
                          <a:latin typeface="Calibri" pitchFamily="34" charset="0"/>
                          <a:ea typeface="Calibri" pitchFamily="34" charset="-122"/>
                          <a:cs typeface="Calibri" pitchFamily="34" charset="-120"/>
                        </a:rPr>
                        <a:t>Random Forest (Tuned)</a:t>
                      </a:r>
                      <a:endParaRPr lang="en-US" sz="1150" dirty="0">
                        <a:latin typeface="Calibri" charset="0"/>
                        <a:ea typeface="Calibri" charset="0"/>
                        <a:cs typeface="Calibri" charset="0"/>
                      </a:endParaRPr>
                    </a:p>
                  </a:txBody>
                  <a:tcPr marL="91440" marR="91440" marT="45720" marB="45720" anchor="ctr">
                    <a:lnL w="6350" cap="flat" cmpd="sng" algn="ctr">
                      <a:solidFill>
                        <a:srgbClr val="DCE6E9"/>
                      </a:solidFill>
                      <a:prstDash val="solid"/>
                      <a:round/>
                      <a:headEnd type="none" w="med" len="med"/>
                      <a:tailEnd type="none" w="med" len="med"/>
                    </a:lnL>
                    <a:lnR w="6350" cap="flat" cmpd="sng" algn="ctr">
                      <a:solidFill>
                        <a:srgbClr val="DCE6E9"/>
                      </a:solidFill>
                      <a:prstDash val="solid"/>
                      <a:round/>
                      <a:headEnd type="none" w="med" len="med"/>
                      <a:tailEnd type="none" w="med" len="med"/>
                    </a:lnR>
                    <a:lnT w="6350" cap="flat" cmpd="sng" algn="ctr">
                      <a:solidFill>
                        <a:srgbClr val="DCE6E9"/>
                      </a:solidFill>
                      <a:prstDash val="solid"/>
                      <a:round/>
                      <a:headEnd type="none" w="med" len="med"/>
                      <a:tailEnd type="none" w="med" len="med"/>
                    </a:lnT>
                    <a:lnB w="6350" cap="flat" cmpd="sng" algn="ctr">
                      <a:solidFill>
                        <a:srgbClr val="DCE6E9"/>
                      </a:solidFill>
                      <a:prstDash val="solid"/>
                      <a:round/>
                      <a:headEnd type="none" w="med" len="med"/>
                      <a:tailEnd type="none" w="med" len="med"/>
                    </a:lnB>
                    <a:solidFill>
                      <a:srgbClr val="FFFFFF"/>
                    </a:solidFill>
                  </a:tcPr>
                </a:tc>
                <a:tc>
                  <a:txBody>
                    <a:bodyPr/>
                    <a:lstStyle/>
                    <a:p>
                      <a:pPr indent="0" marL="0">
                        <a:buNone/>
                      </a:pPr>
                      <a:r>
                        <a:rPr lang="en-US" sz="1150" dirty="0">
                          <a:solidFill>
                            <a:srgbClr val="1B1B1B"/>
                          </a:solidFill>
                          <a:latin typeface="Calibri" pitchFamily="34" charset="0"/>
                          <a:ea typeface="Calibri" pitchFamily="34" charset="-122"/>
                          <a:cs typeface="Calibri" pitchFamily="34" charset="-120"/>
                        </a:rPr>
                        <a:t>0.527</a:t>
                      </a:r>
                      <a:endParaRPr lang="en-US" sz="1150" dirty="0">
                        <a:latin typeface="Calibri" charset="0"/>
                        <a:ea typeface="Calibri" charset="0"/>
                        <a:cs typeface="Calibri" charset="0"/>
                      </a:endParaRPr>
                    </a:p>
                  </a:txBody>
                  <a:tcPr marL="91440" marR="91440" marT="45720" marB="45720" anchor="ctr">
                    <a:lnL w="6350" cap="flat" cmpd="sng" algn="ctr">
                      <a:solidFill>
                        <a:srgbClr val="DCE6E9"/>
                      </a:solidFill>
                      <a:prstDash val="solid"/>
                      <a:round/>
                      <a:headEnd type="none" w="med" len="med"/>
                      <a:tailEnd type="none" w="med" len="med"/>
                    </a:lnL>
                    <a:lnR w="6350" cap="flat" cmpd="sng" algn="ctr">
                      <a:solidFill>
                        <a:srgbClr val="DCE6E9"/>
                      </a:solidFill>
                      <a:prstDash val="solid"/>
                      <a:round/>
                      <a:headEnd type="none" w="med" len="med"/>
                      <a:tailEnd type="none" w="med" len="med"/>
                    </a:lnR>
                    <a:lnT w="6350" cap="flat" cmpd="sng" algn="ctr">
                      <a:solidFill>
                        <a:srgbClr val="DCE6E9"/>
                      </a:solidFill>
                      <a:prstDash val="solid"/>
                      <a:round/>
                      <a:headEnd type="none" w="med" len="med"/>
                      <a:tailEnd type="none" w="med" len="med"/>
                    </a:lnT>
                    <a:lnB w="6350" cap="flat" cmpd="sng" algn="ctr">
                      <a:solidFill>
                        <a:srgbClr val="DCE6E9"/>
                      </a:solidFill>
                      <a:prstDash val="solid"/>
                      <a:round/>
                      <a:headEnd type="none" w="med" len="med"/>
                      <a:tailEnd type="none" w="med" len="med"/>
                    </a:lnB>
                    <a:solidFill>
                      <a:srgbClr val="FFFFFF"/>
                    </a:solidFill>
                  </a:tcPr>
                </a:tc>
                <a:tc>
                  <a:txBody>
                    <a:bodyPr/>
                    <a:lstStyle/>
                    <a:p>
                      <a:pPr indent="0" marL="0">
                        <a:buNone/>
                      </a:pPr>
                      <a:r>
                        <a:rPr lang="en-US" sz="1150" dirty="0">
                          <a:solidFill>
                            <a:srgbClr val="1B1B1B"/>
                          </a:solidFill>
                          <a:latin typeface="Calibri" pitchFamily="34" charset="0"/>
                          <a:ea typeface="Calibri" pitchFamily="34" charset="-122"/>
                          <a:cs typeface="Calibri" pitchFamily="34" charset="-120"/>
                        </a:rPr>
                        <a:t>0.359</a:t>
                      </a:r>
                      <a:endParaRPr lang="en-US" sz="1150" dirty="0">
                        <a:latin typeface="Calibri" charset="0"/>
                        <a:ea typeface="Calibri" charset="0"/>
                        <a:cs typeface="Calibri" charset="0"/>
                      </a:endParaRPr>
                    </a:p>
                  </a:txBody>
                  <a:tcPr marL="91440" marR="91440" marT="45720" marB="45720" anchor="ctr">
                    <a:lnL w="6350" cap="flat" cmpd="sng" algn="ctr">
                      <a:solidFill>
                        <a:srgbClr val="DCE6E9"/>
                      </a:solidFill>
                      <a:prstDash val="solid"/>
                      <a:round/>
                      <a:headEnd type="none" w="med" len="med"/>
                      <a:tailEnd type="none" w="med" len="med"/>
                    </a:lnL>
                    <a:lnR w="6350" cap="flat" cmpd="sng" algn="ctr">
                      <a:solidFill>
                        <a:srgbClr val="DCE6E9"/>
                      </a:solidFill>
                      <a:prstDash val="solid"/>
                      <a:round/>
                      <a:headEnd type="none" w="med" len="med"/>
                      <a:tailEnd type="none" w="med" len="med"/>
                    </a:lnR>
                    <a:lnT w="6350" cap="flat" cmpd="sng" algn="ctr">
                      <a:solidFill>
                        <a:srgbClr val="DCE6E9"/>
                      </a:solidFill>
                      <a:prstDash val="solid"/>
                      <a:round/>
                      <a:headEnd type="none" w="med" len="med"/>
                      <a:tailEnd type="none" w="med" len="med"/>
                    </a:lnT>
                    <a:lnB w="6350" cap="flat" cmpd="sng" algn="ctr">
                      <a:solidFill>
                        <a:srgbClr val="DCE6E9"/>
                      </a:solidFill>
                      <a:prstDash val="solid"/>
                      <a:round/>
                      <a:headEnd type="none" w="med" len="med"/>
                      <a:tailEnd type="none" w="med" len="med"/>
                    </a:lnB>
                    <a:solidFill>
                      <a:srgbClr val="FFFFFF"/>
                    </a:solidFill>
                  </a:tcPr>
                </a:tc>
              </a:tr>
            </a:tbl>
          </a:graphicData>
        </a:graphic>
      </p:graphicFrame>
      <p:sp>
        <p:nvSpPr>
          <p:cNvPr id="6" name="Text 2"/>
          <p:cNvSpPr txBox="1"/>
          <p:nvPr/>
        </p:nvSpPr>
        <p:spPr>
          <a:xfrm>
            <a:off x="7498080" y="4343400"/>
            <a:ext cx="4114800" cy="320040"/>
          </a:xfrm>
          <a:prstGeom prst="rect">
            <a:avLst/>
          </a:prstGeom>
          <a:noFill/>
          <a:ln/>
        </p:spPr>
        <p:txBody>
          <a:bodyPr wrap="square" lIns="0" tIns="0" rIns="0" bIns="0" rtlCol="0" anchor="ctr"/>
          <a:lstStyle/>
          <a:p>
            <a:pPr indent="0" marL="0">
              <a:buNone/>
            </a:pPr>
            <a:r>
              <a:rPr lang="en-US" sz="1050" i="1" dirty="0">
                <a:solidFill>
                  <a:srgbClr val="5B6B73"/>
                </a:solidFill>
                <a:latin typeface="Calibri" pitchFamily="34" charset="0"/>
                <a:ea typeface="Calibri" pitchFamily="34" charset="-122"/>
                <a:cs typeface="Calibri" pitchFamily="34" charset="-120"/>
              </a:rPr>
              <a:t>RMSE / MAE in percentage points of diabetes prevalence</a:t>
            </a:r>
            <a:endParaRPr lang="en-US" sz="1050" dirty="0"/>
          </a:p>
        </p:txBody>
      </p:sp>
      <p:sp>
        <p:nvSpPr>
          <p:cNvPr id="7" name="Shape 3"/>
          <p:cNvSpPr/>
          <p:nvPr/>
        </p:nvSpPr>
        <p:spPr>
          <a:xfrm>
            <a:off x="7498080" y="4800600"/>
            <a:ext cx="4114800" cy="1234440"/>
          </a:xfrm>
          <a:prstGeom prst="roundRect">
            <a:avLst>
              <a:gd name="adj" fmla="val 5926"/>
            </a:avLst>
          </a:prstGeom>
          <a:solidFill>
            <a:srgbClr val="FCEDE8"/>
          </a:solidFill>
          <a:ln w="12700">
            <a:solidFill>
              <a:srgbClr val="E4572E"/>
            </a:solidFill>
            <a:prstDash val="solid"/>
          </a:ln>
        </p:spPr>
      </p:sp>
      <p:sp>
        <p:nvSpPr>
          <p:cNvPr id="8" name="Text 4"/>
          <p:cNvSpPr txBox="1"/>
          <p:nvPr/>
        </p:nvSpPr>
        <p:spPr>
          <a:xfrm>
            <a:off x="7680960" y="4800600"/>
            <a:ext cx="3749040" cy="1234440"/>
          </a:xfrm>
          <a:prstGeom prst="rect">
            <a:avLst/>
          </a:prstGeom>
          <a:noFill/>
          <a:ln/>
        </p:spPr>
        <p:txBody>
          <a:bodyPr wrap="square" lIns="0" tIns="0" rIns="0" bIns="0" rtlCol="0" anchor="ctr"/>
          <a:lstStyle/>
          <a:p>
            <a:pPr indent="0" marL="0">
              <a:buNone/>
            </a:pPr>
            <a:r>
              <a:rPr lang="en-US" sz="1200" dirty="0">
                <a:solidFill>
                  <a:srgbClr val="1B1B1B"/>
                </a:solidFill>
                <a:latin typeface="Calibri" pitchFamily="34" charset="0"/>
                <a:ea typeface="Calibri" pitchFamily="34" charset="-122"/>
                <a:cs typeface="Calibri" pitchFamily="34" charset="-120"/>
              </a:rPr>
              <a:t>Every model exceeds R² = 0.97 — unusually high for real-world data. We traced why (next: Limitations).</a:t>
            </a:r>
            <a:endParaRPr lang="en-US" sz="1200" dirty="0"/>
          </a:p>
        </p:txBody>
      </p:sp>
      <p:sp>
        <p:nvSpPr>
          <p:cNvPr id="9" name="Text 5"/>
          <p:cNvSpPr txBox="1"/>
          <p:nvPr/>
        </p:nvSpPr>
        <p:spPr>
          <a:xfrm>
            <a:off x="457200" y="6537960"/>
            <a:ext cx="5486400" cy="274320"/>
          </a:xfrm>
          <a:prstGeom prst="rect">
            <a:avLst/>
          </a:prstGeom>
          <a:noFill/>
          <a:ln/>
        </p:spPr>
        <p:txBody>
          <a:bodyPr wrap="square" lIns="0" tIns="0" rIns="0" bIns="0" rtlCol="0" anchor="ctr"/>
          <a:lstStyle/>
          <a:p>
            <a:pPr indent="0" marL="0">
              <a:buNone/>
            </a:pPr>
            <a:r>
              <a:rPr lang="en-US" sz="1000" dirty="0">
                <a:solidFill>
                  <a:srgbClr val="5B6B73"/>
                </a:solidFill>
                <a:latin typeface="Calibri" pitchFamily="34" charset="0"/>
                <a:ea typeface="Calibri" pitchFamily="34" charset="-122"/>
                <a:cs typeface="Calibri" pitchFamily="34" charset="-120"/>
              </a:rPr>
              <a:t>Modeling Results</a:t>
            </a:r>
            <a:endParaRPr lang="en-US" sz="1000" dirty="0"/>
          </a:p>
        </p:txBody>
      </p:sp>
      <p:sp>
        <p:nvSpPr>
          <p:cNvPr id="10" name="Text 6"/>
          <p:cNvSpPr txBox="1"/>
          <p:nvPr/>
        </p:nvSpPr>
        <p:spPr>
          <a:xfrm>
            <a:off x="11274552" y="6537960"/>
            <a:ext cx="457200" cy="274320"/>
          </a:xfrm>
          <a:prstGeom prst="rect">
            <a:avLst/>
          </a:prstGeom>
          <a:noFill/>
          <a:ln/>
        </p:spPr>
        <p:txBody>
          <a:bodyPr wrap="square" lIns="0" tIns="0" rIns="0" bIns="0" rtlCol="0" anchor="ctr"/>
          <a:lstStyle/>
          <a:p>
            <a:pPr algn="r" indent="0" marL="0">
              <a:buNone/>
            </a:pPr>
            <a:r>
              <a:rPr lang="en-US" sz="1000" dirty="0">
                <a:solidFill>
                  <a:srgbClr val="5B6B73"/>
                </a:solidFill>
                <a:latin typeface="Calibri" pitchFamily="34" charset="0"/>
                <a:ea typeface="Calibri" pitchFamily="34" charset="-122"/>
                <a:cs typeface="Calibri" pitchFamily="34" charset="-120"/>
              </a:rPr>
              <a:t>11</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10972800" cy="640080"/>
          </a:xfrm>
          <a:prstGeom prst="rect">
            <a:avLst/>
          </a:prstGeom>
          <a:noFill/>
          <a:ln/>
        </p:spPr>
        <p:txBody>
          <a:bodyPr wrap="square" lIns="0" tIns="0" rIns="0" bIns="0" rtlCol="0" anchor="ctr"/>
          <a:lstStyle/>
          <a:p>
            <a:pPr indent="0" marL="0">
              <a:buNone/>
            </a:pPr>
            <a:r>
              <a:rPr lang="en-US" sz="3200" b="1" dirty="0">
                <a:solidFill>
                  <a:srgbClr val="0B4F6C"/>
                </a:solidFill>
                <a:latin typeface="Cambria" pitchFamily="34" charset="0"/>
                <a:ea typeface="Cambria" pitchFamily="34" charset="-122"/>
                <a:cs typeface="Cambria" pitchFamily="34" charset="-120"/>
              </a:rPr>
              <a:t>What Drives the Model?</a:t>
            </a:r>
            <a:endParaRPr lang="en-US" sz="3200" dirty="0"/>
          </a:p>
        </p:txBody>
      </p:sp>
      <p:sp>
        <p:nvSpPr>
          <p:cNvPr id="3" name="Text 1"/>
          <p:cNvSpPr txBox="1"/>
          <p:nvPr/>
        </p:nvSpPr>
        <p:spPr>
          <a:xfrm>
            <a:off x="548640" y="1051560"/>
            <a:ext cx="10698480" cy="411480"/>
          </a:xfrm>
          <a:prstGeom prst="rect">
            <a:avLst/>
          </a:prstGeom>
          <a:noFill/>
          <a:ln/>
        </p:spPr>
        <p:txBody>
          <a:bodyPr wrap="square" lIns="0" tIns="0" rIns="0" bIns="0" rtlCol="0" anchor="ctr"/>
          <a:lstStyle/>
          <a:p>
            <a:pPr indent="0" marL="0">
              <a:buNone/>
            </a:pPr>
            <a:r>
              <a:rPr lang="en-US" sz="1500" i="1" dirty="0">
                <a:solidFill>
                  <a:srgbClr val="5B6B73"/>
                </a:solidFill>
                <a:latin typeface="Calibri" pitchFamily="34" charset="0"/>
                <a:ea typeface="Calibri" pitchFamily="34" charset="-122"/>
                <a:cs typeface="Calibri" pitchFamily="34" charset="-120"/>
              </a:rPr>
              <a:t>Feature importances — tuned Random Forest (top 10)</a:t>
            </a:r>
            <a:endParaRPr lang="en-US" sz="1500" dirty="0"/>
          </a:p>
        </p:txBody>
      </p:sp>
      <p:graphicFrame>
        <p:nvGraphicFramePr>
          <p:cNvPr id="4" name="Chart 0" descr=""/>
          <p:cNvGraphicFramePr/>
          <p:nvPr/>
        </p:nvGraphicFramePr>
        <p:xfrm>
          <a:off x="548640" y="1691640"/>
          <a:ext cx="7589520" cy="4480560"/>
        </p:xfrm>
        <a:graphic xmlns:a="http://schemas.openxmlformats.org/drawingml/2006/main">
          <a:graphicData uri="http://schemas.openxmlformats.org/drawingml/2006/chart">
            <c:chart xmlns:c="http://schemas.openxmlformats.org/drawingml/2006/chart" r:id="rId1"/>
          </a:graphicData>
        </a:graphic>
      </p:graphicFrame>
      <p:sp>
        <p:nvSpPr>
          <p:cNvPr id="5" name="Shape 2"/>
          <p:cNvSpPr/>
          <p:nvPr/>
        </p:nvSpPr>
        <p:spPr>
          <a:xfrm>
            <a:off x="8412480" y="1691640"/>
            <a:ext cx="3246120" cy="2103120"/>
          </a:xfrm>
          <a:prstGeom prst="roundRect">
            <a:avLst>
              <a:gd name="adj" fmla="val 3478"/>
            </a:avLst>
          </a:prstGeom>
          <a:solidFill>
            <a:srgbClr val="F5F9FA"/>
          </a:solidFill>
          <a:ln/>
        </p:spPr>
      </p:sp>
      <p:sp>
        <p:nvSpPr>
          <p:cNvPr id="6" name="Text 3"/>
          <p:cNvSpPr txBox="1"/>
          <p:nvPr/>
        </p:nvSpPr>
        <p:spPr>
          <a:xfrm>
            <a:off x="8595360" y="1828800"/>
            <a:ext cx="2880360" cy="822960"/>
          </a:xfrm>
          <a:prstGeom prst="rect">
            <a:avLst/>
          </a:prstGeom>
          <a:noFill/>
          <a:ln/>
        </p:spPr>
        <p:txBody>
          <a:bodyPr wrap="square" lIns="0" tIns="0" rIns="0" bIns="0" rtlCol="0" anchor="ctr"/>
          <a:lstStyle/>
          <a:p>
            <a:pPr algn="ctr" indent="0" marL="0">
              <a:buNone/>
            </a:pPr>
            <a:r>
              <a:rPr lang="en-US" sz="3800" b="1" dirty="0">
                <a:solidFill>
                  <a:srgbClr val="0B4F6C"/>
                </a:solidFill>
                <a:latin typeface="Cambria" pitchFamily="34" charset="0"/>
                <a:ea typeface="Cambria" pitchFamily="34" charset="-122"/>
                <a:cs typeface="Cambria" pitchFamily="34" charset="-120"/>
              </a:rPr>
              <a:t>~80%</a:t>
            </a:r>
            <a:endParaRPr lang="en-US" sz="3800" dirty="0"/>
          </a:p>
        </p:txBody>
      </p:sp>
      <p:sp>
        <p:nvSpPr>
          <p:cNvPr id="7" name="Text 4"/>
          <p:cNvSpPr txBox="1"/>
          <p:nvPr/>
        </p:nvSpPr>
        <p:spPr>
          <a:xfrm>
            <a:off x="8595360" y="2606040"/>
            <a:ext cx="2880360" cy="1051560"/>
          </a:xfrm>
          <a:prstGeom prst="rect">
            <a:avLst/>
          </a:prstGeom>
          <a:noFill/>
          <a:ln/>
        </p:spPr>
        <p:txBody>
          <a:bodyPr wrap="square" lIns="0" tIns="0" rIns="0" bIns="0" rtlCol="0" anchor="ctr"/>
          <a:lstStyle/>
          <a:p>
            <a:pPr algn="ctr" indent="0" marL="0">
              <a:buNone/>
            </a:pPr>
            <a:r>
              <a:rPr lang="en-US" sz="1250" dirty="0">
                <a:solidFill>
                  <a:srgbClr val="5B6B73"/>
                </a:solidFill>
                <a:latin typeface="Calibri" pitchFamily="34" charset="0"/>
                <a:ea typeface="Calibri" pitchFamily="34" charset="-122"/>
                <a:cs typeface="Calibri" pitchFamily="34" charset="-120"/>
              </a:rPr>
              <a:t>of the model's total importance comes from Mobility Disability alone</a:t>
            </a:r>
            <a:endParaRPr lang="en-US" sz="1250" dirty="0"/>
          </a:p>
        </p:txBody>
      </p:sp>
      <p:sp>
        <p:nvSpPr>
          <p:cNvPr id="8" name="Shape 5"/>
          <p:cNvSpPr/>
          <p:nvPr/>
        </p:nvSpPr>
        <p:spPr>
          <a:xfrm>
            <a:off x="8412480" y="3977640"/>
            <a:ext cx="3246120" cy="2194560"/>
          </a:xfrm>
          <a:prstGeom prst="roundRect">
            <a:avLst>
              <a:gd name="adj" fmla="val 3333"/>
            </a:avLst>
          </a:prstGeom>
          <a:solidFill>
            <a:srgbClr val="FCEDE8"/>
          </a:solidFill>
          <a:ln w="12700">
            <a:solidFill>
              <a:srgbClr val="E4572E"/>
            </a:solidFill>
            <a:prstDash val="solid"/>
          </a:ln>
        </p:spPr>
      </p:sp>
      <p:sp>
        <p:nvSpPr>
          <p:cNvPr id="9" name="Text 6"/>
          <p:cNvSpPr txBox="1"/>
          <p:nvPr/>
        </p:nvSpPr>
        <p:spPr>
          <a:xfrm>
            <a:off x="8641080" y="3977640"/>
            <a:ext cx="2788920" cy="2194560"/>
          </a:xfrm>
          <a:prstGeom prst="rect">
            <a:avLst/>
          </a:prstGeom>
          <a:noFill/>
          <a:ln/>
        </p:spPr>
        <p:txBody>
          <a:bodyPr wrap="square" lIns="0" tIns="0" rIns="0" bIns="0" rtlCol="0" anchor="ctr"/>
          <a:lstStyle/>
          <a:p>
            <a:pPr indent="0" marL="0">
              <a:buNone/>
            </a:pPr>
            <a:r>
              <a:rPr lang="en-US" sz="1150" b="1" dirty="0">
                <a:solidFill>
                  <a:srgbClr val="E4572E"/>
                </a:solidFill>
                <a:latin typeface="Calibri" pitchFamily="34" charset="0"/>
                <a:ea typeface="Calibri" pitchFamily="34" charset="-122"/>
                <a:cs typeface="Calibri" pitchFamily="34" charset="-120"/>
              </a:rPr>
              <a:t>Frame carefully:  </a:t>
            </a:r>
            <a:pPr indent="0" marL="0">
              <a:buNone/>
            </a:pPr>
            <a:r>
              <a:rPr lang="en-US" sz="1150" dirty="0">
                <a:solidFill>
                  <a:srgbClr val="1B1B1B"/>
                </a:solidFill>
                <a:latin typeface="Calibri" pitchFamily="34" charset="0"/>
                <a:ea typeface="Calibri" pitchFamily="34" charset="-122"/>
                <a:cs typeface="Calibri" pitchFamily="34" charset="-120"/>
              </a:rPr>
              <a:t>this matches the multicollinearity we found — correlated features get treated as redundant. The honest claim is “disability &amp; inactivity indicators are the strongest signal,” not that mobility issues cause diabetes.</a:t>
            </a:r>
            <a:endParaRPr lang="en-US" sz="1150" dirty="0"/>
          </a:p>
        </p:txBody>
      </p:sp>
      <p:sp>
        <p:nvSpPr>
          <p:cNvPr id="10" name="Text 7"/>
          <p:cNvSpPr txBox="1"/>
          <p:nvPr/>
        </p:nvSpPr>
        <p:spPr>
          <a:xfrm>
            <a:off x="457200" y="6537960"/>
            <a:ext cx="5486400" cy="274320"/>
          </a:xfrm>
          <a:prstGeom prst="rect">
            <a:avLst/>
          </a:prstGeom>
          <a:noFill/>
          <a:ln/>
        </p:spPr>
        <p:txBody>
          <a:bodyPr wrap="square" lIns="0" tIns="0" rIns="0" bIns="0" rtlCol="0" anchor="ctr"/>
          <a:lstStyle/>
          <a:p>
            <a:pPr indent="0" marL="0">
              <a:buNone/>
            </a:pPr>
            <a:r>
              <a:rPr lang="en-US" sz="1000" dirty="0">
                <a:solidFill>
                  <a:srgbClr val="5B6B73"/>
                </a:solidFill>
                <a:latin typeface="Calibri" pitchFamily="34" charset="0"/>
                <a:ea typeface="Calibri" pitchFamily="34" charset="-122"/>
                <a:cs typeface="Calibri" pitchFamily="34" charset="-120"/>
              </a:rPr>
              <a:t>Modeling Results</a:t>
            </a:r>
            <a:endParaRPr lang="en-US" sz="1000" dirty="0"/>
          </a:p>
        </p:txBody>
      </p:sp>
      <p:sp>
        <p:nvSpPr>
          <p:cNvPr id="11" name="Text 8"/>
          <p:cNvSpPr txBox="1"/>
          <p:nvPr/>
        </p:nvSpPr>
        <p:spPr>
          <a:xfrm>
            <a:off x="11274552" y="6537960"/>
            <a:ext cx="457200" cy="274320"/>
          </a:xfrm>
          <a:prstGeom prst="rect">
            <a:avLst/>
          </a:prstGeom>
          <a:noFill/>
          <a:ln/>
        </p:spPr>
        <p:txBody>
          <a:bodyPr wrap="square" lIns="0" tIns="0" rIns="0" bIns="0" rtlCol="0" anchor="ctr"/>
          <a:lstStyle/>
          <a:p>
            <a:pPr algn="r" indent="0" marL="0">
              <a:buNone/>
            </a:pPr>
            <a:r>
              <a:rPr lang="en-US" sz="1000" dirty="0">
                <a:solidFill>
                  <a:srgbClr val="5B6B73"/>
                </a:solidFill>
                <a:latin typeface="Calibri" pitchFamily="34" charset="0"/>
                <a:ea typeface="Calibri" pitchFamily="34" charset="-122"/>
                <a:cs typeface="Calibri" pitchFamily="34" charset="-120"/>
              </a:rPr>
              <a:t>12</a:t>
            </a:r>
            <a:endParaRPr lang="en-US" sz="1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B2545"/>
        </a:solidFill>
      </p:bgPr>
    </p:bg>
    <p:spTree>
      <p:nvGrpSpPr>
        <p:cNvPr id="1" name=""/>
        <p:cNvGrpSpPr/>
        <p:nvPr/>
      </p:nvGrpSpPr>
      <p:grpSpPr>
        <a:xfrm>
          <a:off x="0" y="0"/>
          <a:ext cx="0" cy="0"/>
          <a:chOff x="0" y="0"/>
          <a:chExt cx="0" cy="0"/>
        </a:xfrm>
      </p:grpSpPr>
      <p:sp>
        <p:nvSpPr>
          <p:cNvPr id="2" name="Text 0"/>
          <p:cNvSpPr txBox="1"/>
          <p:nvPr/>
        </p:nvSpPr>
        <p:spPr>
          <a:xfrm>
            <a:off x="548640" y="457200"/>
            <a:ext cx="10972800" cy="640080"/>
          </a:xfrm>
          <a:prstGeom prst="rect">
            <a:avLst/>
          </a:prstGeom>
          <a:noFill/>
          <a:ln/>
        </p:spPr>
        <p:txBody>
          <a:bodyPr wrap="square" lIns="0" tIns="0" rIns="0" bIns="0" rtlCol="0" anchor="ctr"/>
          <a:lstStyle/>
          <a:p>
            <a:pPr indent="0" marL="0">
              <a:buNone/>
            </a:pPr>
            <a:r>
              <a:rPr lang="en-US" sz="3000" b="1" dirty="0">
                <a:solidFill>
                  <a:srgbClr val="FFFFFF"/>
                </a:solidFill>
                <a:latin typeface="Cambria" pitchFamily="34" charset="0"/>
                <a:ea typeface="Cambria" pitchFamily="34" charset="-122"/>
                <a:cs typeface="Cambria" pitchFamily="34" charset="-120"/>
              </a:rPr>
              <a:t>Limitations &amp; Honest Caveats</a:t>
            </a:r>
            <a:endParaRPr lang="en-US" sz="3000" dirty="0"/>
          </a:p>
        </p:txBody>
      </p:sp>
      <p:sp>
        <p:nvSpPr>
          <p:cNvPr id="3" name="Text 1"/>
          <p:cNvSpPr txBox="1"/>
          <p:nvPr/>
        </p:nvSpPr>
        <p:spPr>
          <a:xfrm>
            <a:off x="548640" y="1097280"/>
            <a:ext cx="10515600" cy="365760"/>
          </a:xfrm>
          <a:prstGeom prst="rect">
            <a:avLst/>
          </a:prstGeom>
          <a:noFill/>
          <a:ln/>
        </p:spPr>
        <p:txBody>
          <a:bodyPr wrap="square" lIns="0" tIns="0" rIns="0" bIns="0" rtlCol="0" anchor="ctr"/>
          <a:lstStyle/>
          <a:p>
            <a:pPr indent="0" marL="0">
              <a:buNone/>
            </a:pPr>
            <a:r>
              <a:rPr lang="en-US" sz="1500" i="1" dirty="0">
                <a:solidFill>
                  <a:srgbClr val="CADCE0"/>
                </a:solidFill>
                <a:latin typeface="Calibri" pitchFamily="34" charset="0"/>
                <a:ea typeface="Calibri" pitchFamily="34" charset="-122"/>
                <a:cs typeface="Calibri" pitchFamily="34" charset="-120"/>
              </a:rPr>
              <a:t>We think this section matters as much as the results themselves</a:t>
            </a:r>
            <a:endParaRPr lang="en-US" sz="1500" dirty="0"/>
          </a:p>
        </p:txBody>
      </p:sp>
      <p:sp>
        <p:nvSpPr>
          <p:cNvPr id="4" name="Shape 2"/>
          <p:cNvSpPr/>
          <p:nvPr/>
        </p:nvSpPr>
        <p:spPr>
          <a:xfrm>
            <a:off x="548640" y="1737360"/>
            <a:ext cx="457200" cy="457200"/>
          </a:xfrm>
          <a:prstGeom prst="ellipse">
            <a:avLst/>
          </a:prstGeom>
          <a:solidFill>
            <a:srgbClr val="E4572E"/>
          </a:solidFill>
          <a:ln/>
        </p:spPr>
      </p:sp>
      <p:sp>
        <p:nvSpPr>
          <p:cNvPr id="5" name="Text 3"/>
          <p:cNvSpPr txBox="1"/>
          <p:nvPr/>
        </p:nvSpPr>
        <p:spPr>
          <a:xfrm>
            <a:off x="548640" y="1737360"/>
            <a:ext cx="457200" cy="457200"/>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a:t>
            </a:r>
            <a:endParaRPr lang="en-US" sz="1800" dirty="0"/>
          </a:p>
        </p:txBody>
      </p:sp>
      <p:sp>
        <p:nvSpPr>
          <p:cNvPr id="6" name="Text 4"/>
          <p:cNvSpPr txBox="1"/>
          <p:nvPr/>
        </p:nvSpPr>
        <p:spPr>
          <a:xfrm>
            <a:off x="1188720" y="1664208"/>
            <a:ext cx="4937760" cy="457200"/>
          </a:xfrm>
          <a:prstGeom prst="rect">
            <a:avLst/>
          </a:prstGeom>
          <a:noFill/>
          <a:ln/>
        </p:spPr>
        <p:txBody>
          <a:bodyPr wrap="square" lIns="0" tIns="0" rIns="0" bIns="0" rtlCol="0" anchor="ctr"/>
          <a:lstStyle/>
          <a:p>
            <a:pPr indent="0" marL="0">
              <a:buNone/>
            </a:pPr>
            <a:r>
              <a:rPr lang="en-US" sz="1450" b="1" dirty="0">
                <a:solidFill>
                  <a:srgbClr val="FFFFFF"/>
                </a:solidFill>
                <a:latin typeface="Cambria" pitchFamily="34" charset="0"/>
                <a:ea typeface="Cambria" pitchFamily="34" charset="-122"/>
                <a:cs typeface="Cambria" pitchFamily="34" charset="-120"/>
              </a:rPr>
              <a:t>Ecological correlation, not individual prediction</a:t>
            </a:r>
            <a:endParaRPr lang="en-US" sz="1450" dirty="0"/>
          </a:p>
        </p:txBody>
      </p:sp>
      <p:sp>
        <p:nvSpPr>
          <p:cNvPr id="7" name="Text 5"/>
          <p:cNvSpPr txBox="1"/>
          <p:nvPr/>
        </p:nvSpPr>
        <p:spPr>
          <a:xfrm>
            <a:off x="1188720" y="2121408"/>
            <a:ext cx="4937760" cy="822960"/>
          </a:xfrm>
          <a:prstGeom prst="rect">
            <a:avLst/>
          </a:prstGeom>
          <a:noFill/>
          <a:ln/>
        </p:spPr>
        <p:txBody>
          <a:bodyPr wrap="square" lIns="0" tIns="0" rIns="0" bIns="0" rtlCol="0" anchor="ctr"/>
          <a:lstStyle/>
          <a:p>
            <a:pPr indent="0" marL="0">
              <a:buNone/>
            </a:pPr>
            <a:r>
              <a:rPr lang="en-US" sz="1200" dirty="0">
                <a:solidFill>
                  <a:srgbClr val="B8CBD3"/>
                </a:solidFill>
                <a:latin typeface="Calibri" pitchFamily="34" charset="0"/>
                <a:ea typeface="Calibri" pitchFamily="34" charset="-122"/>
                <a:cs typeface="Calibri" pitchFamily="34" charset="-120"/>
              </a:rPr>
              <a:t>Every value is a neighborhood %, not an individual health record.</a:t>
            </a:r>
            <a:endParaRPr lang="en-US" sz="1200" dirty="0"/>
          </a:p>
        </p:txBody>
      </p:sp>
      <p:sp>
        <p:nvSpPr>
          <p:cNvPr id="8" name="Shape 6"/>
          <p:cNvSpPr/>
          <p:nvPr/>
        </p:nvSpPr>
        <p:spPr>
          <a:xfrm>
            <a:off x="6217920" y="1737360"/>
            <a:ext cx="457200" cy="457200"/>
          </a:xfrm>
          <a:prstGeom prst="ellipse">
            <a:avLst/>
          </a:prstGeom>
          <a:solidFill>
            <a:srgbClr val="E4572E"/>
          </a:solidFill>
          <a:ln/>
        </p:spPr>
      </p:sp>
      <p:sp>
        <p:nvSpPr>
          <p:cNvPr id="9" name="Text 7"/>
          <p:cNvSpPr txBox="1"/>
          <p:nvPr/>
        </p:nvSpPr>
        <p:spPr>
          <a:xfrm>
            <a:off x="6217920" y="1737360"/>
            <a:ext cx="457200" cy="457200"/>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a:t>
            </a:r>
            <a:endParaRPr lang="en-US" sz="1800" dirty="0"/>
          </a:p>
        </p:txBody>
      </p:sp>
      <p:sp>
        <p:nvSpPr>
          <p:cNvPr id="10" name="Text 8"/>
          <p:cNvSpPr txBox="1"/>
          <p:nvPr/>
        </p:nvSpPr>
        <p:spPr>
          <a:xfrm>
            <a:off x="6858000" y="1664208"/>
            <a:ext cx="4937760" cy="457200"/>
          </a:xfrm>
          <a:prstGeom prst="rect">
            <a:avLst/>
          </a:prstGeom>
          <a:noFill/>
          <a:ln/>
        </p:spPr>
        <p:txBody>
          <a:bodyPr wrap="square" lIns="0" tIns="0" rIns="0" bIns="0" rtlCol="0" anchor="ctr"/>
          <a:lstStyle/>
          <a:p>
            <a:pPr indent="0" marL="0">
              <a:buNone/>
            </a:pPr>
            <a:r>
              <a:rPr lang="en-US" sz="1450" b="1" dirty="0">
                <a:solidFill>
                  <a:srgbClr val="FFFFFF"/>
                </a:solidFill>
                <a:latin typeface="Cambria" pitchFamily="34" charset="0"/>
                <a:ea typeface="Cambria" pitchFamily="34" charset="-122"/>
                <a:cs typeface="Cambria" pitchFamily="34" charset="-120"/>
              </a:rPr>
              <a:t>Shared statistical origin inflates R²</a:t>
            </a:r>
            <a:endParaRPr lang="en-US" sz="1450" dirty="0"/>
          </a:p>
        </p:txBody>
      </p:sp>
      <p:sp>
        <p:nvSpPr>
          <p:cNvPr id="11" name="Text 9"/>
          <p:cNvSpPr txBox="1"/>
          <p:nvPr/>
        </p:nvSpPr>
        <p:spPr>
          <a:xfrm>
            <a:off x="6858000" y="2121408"/>
            <a:ext cx="4937760" cy="822960"/>
          </a:xfrm>
          <a:prstGeom prst="rect">
            <a:avLst/>
          </a:prstGeom>
          <a:noFill/>
          <a:ln/>
        </p:spPr>
        <p:txBody>
          <a:bodyPr wrap="square" lIns="0" tIns="0" rIns="0" bIns="0" rtlCol="0" anchor="ctr"/>
          <a:lstStyle/>
          <a:p>
            <a:pPr indent="0" marL="0">
              <a:buNone/>
            </a:pPr>
            <a:r>
              <a:rPr lang="en-US" sz="1200" dirty="0">
                <a:solidFill>
                  <a:srgbClr val="B8CBD3"/>
                </a:solidFill>
                <a:latin typeface="Calibri" pitchFamily="34" charset="0"/>
                <a:ea typeface="Calibri" pitchFamily="34" charset="-122"/>
                <a:cs typeface="Calibri" pitchFamily="34" charset="-120"/>
              </a:rPr>
              <a:t>All 40 PLACES measures come from the same CDC small-area model — likely why every model scores above 0.97.</a:t>
            </a:r>
            <a:endParaRPr lang="en-US" sz="1200" dirty="0"/>
          </a:p>
        </p:txBody>
      </p:sp>
      <p:sp>
        <p:nvSpPr>
          <p:cNvPr id="12" name="Shape 10"/>
          <p:cNvSpPr/>
          <p:nvPr/>
        </p:nvSpPr>
        <p:spPr>
          <a:xfrm>
            <a:off x="548640" y="3154680"/>
            <a:ext cx="457200" cy="457200"/>
          </a:xfrm>
          <a:prstGeom prst="ellipse">
            <a:avLst/>
          </a:prstGeom>
          <a:solidFill>
            <a:srgbClr val="E4572E"/>
          </a:solidFill>
          <a:ln/>
        </p:spPr>
      </p:sp>
      <p:sp>
        <p:nvSpPr>
          <p:cNvPr id="13" name="Text 11"/>
          <p:cNvSpPr txBox="1"/>
          <p:nvPr/>
        </p:nvSpPr>
        <p:spPr>
          <a:xfrm>
            <a:off x="548640" y="3154680"/>
            <a:ext cx="457200" cy="457200"/>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a:t>
            </a:r>
            <a:endParaRPr lang="en-US" sz="1800" dirty="0"/>
          </a:p>
        </p:txBody>
      </p:sp>
      <p:sp>
        <p:nvSpPr>
          <p:cNvPr id="14" name="Text 12"/>
          <p:cNvSpPr txBox="1"/>
          <p:nvPr/>
        </p:nvSpPr>
        <p:spPr>
          <a:xfrm>
            <a:off x="1188720" y="3081528"/>
            <a:ext cx="4937760" cy="457200"/>
          </a:xfrm>
          <a:prstGeom prst="rect">
            <a:avLst/>
          </a:prstGeom>
          <a:noFill/>
          <a:ln/>
        </p:spPr>
        <p:txBody>
          <a:bodyPr wrap="square" lIns="0" tIns="0" rIns="0" bIns="0" rtlCol="0" anchor="ctr"/>
          <a:lstStyle/>
          <a:p>
            <a:pPr indent="0" marL="0">
              <a:buNone/>
            </a:pPr>
            <a:r>
              <a:rPr lang="en-US" sz="1450" b="1" dirty="0">
                <a:solidFill>
                  <a:srgbClr val="FFFFFF"/>
                </a:solidFill>
                <a:latin typeface="Cambria" pitchFamily="34" charset="0"/>
                <a:ea typeface="Cambria" pitchFamily="34" charset="-122"/>
                <a:cs typeface="Cambria" pitchFamily="34" charset="-120"/>
              </a:rPr>
              <a:t>Correlation, not causation</a:t>
            </a:r>
            <a:endParaRPr lang="en-US" sz="1450" dirty="0"/>
          </a:p>
        </p:txBody>
      </p:sp>
      <p:sp>
        <p:nvSpPr>
          <p:cNvPr id="15" name="Text 13"/>
          <p:cNvSpPr txBox="1"/>
          <p:nvPr/>
        </p:nvSpPr>
        <p:spPr>
          <a:xfrm>
            <a:off x="1188720" y="3538728"/>
            <a:ext cx="4937760" cy="822960"/>
          </a:xfrm>
          <a:prstGeom prst="rect">
            <a:avLst/>
          </a:prstGeom>
          <a:noFill/>
          <a:ln/>
        </p:spPr>
        <p:txBody>
          <a:bodyPr wrap="square" lIns="0" tIns="0" rIns="0" bIns="0" rtlCol="0" anchor="ctr"/>
          <a:lstStyle/>
          <a:p>
            <a:pPr indent="0" marL="0">
              <a:buNone/>
            </a:pPr>
            <a:r>
              <a:rPr lang="en-US" sz="1200" dirty="0">
                <a:solidFill>
                  <a:srgbClr val="B8CBD3"/>
                </a:solidFill>
                <a:latin typeface="Calibri" pitchFamily="34" charset="0"/>
                <a:ea typeface="Calibri" pitchFamily="34" charset="-122"/>
                <a:cs typeface="Calibri" pitchFamily="34" charset="-120"/>
              </a:rPr>
              <a:t>E.g. Binge Drinking's negative correlation likely reflects population age, not a protective effect.</a:t>
            </a:r>
            <a:endParaRPr lang="en-US" sz="1200" dirty="0"/>
          </a:p>
        </p:txBody>
      </p:sp>
      <p:sp>
        <p:nvSpPr>
          <p:cNvPr id="16" name="Shape 14"/>
          <p:cNvSpPr/>
          <p:nvPr/>
        </p:nvSpPr>
        <p:spPr>
          <a:xfrm>
            <a:off x="6217920" y="3154680"/>
            <a:ext cx="457200" cy="457200"/>
          </a:xfrm>
          <a:prstGeom prst="ellipse">
            <a:avLst/>
          </a:prstGeom>
          <a:solidFill>
            <a:srgbClr val="E4572E"/>
          </a:solidFill>
          <a:ln/>
        </p:spPr>
      </p:sp>
      <p:sp>
        <p:nvSpPr>
          <p:cNvPr id="17" name="Text 15"/>
          <p:cNvSpPr txBox="1"/>
          <p:nvPr/>
        </p:nvSpPr>
        <p:spPr>
          <a:xfrm>
            <a:off x="6217920" y="3154680"/>
            <a:ext cx="457200" cy="457200"/>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a:t>
            </a:r>
            <a:endParaRPr lang="en-US" sz="1800" dirty="0"/>
          </a:p>
        </p:txBody>
      </p:sp>
      <p:sp>
        <p:nvSpPr>
          <p:cNvPr id="18" name="Text 16"/>
          <p:cNvSpPr txBox="1"/>
          <p:nvPr/>
        </p:nvSpPr>
        <p:spPr>
          <a:xfrm>
            <a:off x="6858000" y="3081528"/>
            <a:ext cx="4937760" cy="457200"/>
          </a:xfrm>
          <a:prstGeom prst="rect">
            <a:avLst/>
          </a:prstGeom>
          <a:noFill/>
          <a:ln/>
        </p:spPr>
        <p:txBody>
          <a:bodyPr wrap="square" lIns="0" tIns="0" rIns="0" bIns="0" rtlCol="0" anchor="ctr"/>
          <a:lstStyle/>
          <a:p>
            <a:pPr indent="0" marL="0">
              <a:buNone/>
            </a:pPr>
            <a:r>
              <a:rPr lang="en-US" sz="1450" b="1" dirty="0">
                <a:solidFill>
                  <a:srgbClr val="FFFFFF"/>
                </a:solidFill>
                <a:latin typeface="Cambria" pitchFamily="34" charset="0"/>
                <a:ea typeface="Cambria" pitchFamily="34" charset="-122"/>
                <a:cs typeface="Cambria" pitchFamily="34" charset="-120"/>
              </a:rPr>
              <a:t>Multicollinearity concentrates importance</a:t>
            </a:r>
            <a:endParaRPr lang="en-US" sz="1450" dirty="0"/>
          </a:p>
        </p:txBody>
      </p:sp>
      <p:sp>
        <p:nvSpPr>
          <p:cNvPr id="19" name="Text 17"/>
          <p:cNvSpPr txBox="1"/>
          <p:nvPr/>
        </p:nvSpPr>
        <p:spPr>
          <a:xfrm>
            <a:off x="6858000" y="3538728"/>
            <a:ext cx="4937760" cy="822960"/>
          </a:xfrm>
          <a:prstGeom prst="rect">
            <a:avLst/>
          </a:prstGeom>
          <a:noFill/>
          <a:ln/>
        </p:spPr>
        <p:txBody>
          <a:bodyPr wrap="square" lIns="0" tIns="0" rIns="0" bIns="0" rtlCol="0" anchor="ctr"/>
          <a:lstStyle/>
          <a:p>
            <a:pPr indent="0" marL="0">
              <a:buNone/>
            </a:pPr>
            <a:r>
              <a:rPr lang="en-US" sz="1200" dirty="0">
                <a:solidFill>
                  <a:srgbClr val="B8CBD3"/>
                </a:solidFill>
                <a:latin typeface="Calibri" pitchFamily="34" charset="0"/>
                <a:ea typeface="Calibri" pitchFamily="34" charset="-122"/>
                <a:cs typeface="Calibri" pitchFamily="34" charset="-120"/>
              </a:rPr>
              <a:t>A cluster of correlated features can make one look disproportionately dominant.</a:t>
            </a:r>
            <a:endParaRPr lang="en-US" sz="1200" dirty="0"/>
          </a:p>
        </p:txBody>
      </p:sp>
      <p:sp>
        <p:nvSpPr>
          <p:cNvPr id="20" name="Shape 18"/>
          <p:cNvSpPr/>
          <p:nvPr/>
        </p:nvSpPr>
        <p:spPr>
          <a:xfrm>
            <a:off x="548640" y="4572000"/>
            <a:ext cx="457200" cy="457200"/>
          </a:xfrm>
          <a:prstGeom prst="ellipse">
            <a:avLst/>
          </a:prstGeom>
          <a:solidFill>
            <a:srgbClr val="E4572E"/>
          </a:solidFill>
          <a:ln/>
        </p:spPr>
      </p:sp>
      <p:sp>
        <p:nvSpPr>
          <p:cNvPr id="21" name="Text 19"/>
          <p:cNvSpPr txBox="1"/>
          <p:nvPr/>
        </p:nvSpPr>
        <p:spPr>
          <a:xfrm>
            <a:off x="548640" y="4572000"/>
            <a:ext cx="457200" cy="457200"/>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a:t>
            </a:r>
            <a:endParaRPr lang="en-US" sz="1800" dirty="0"/>
          </a:p>
        </p:txBody>
      </p:sp>
      <p:sp>
        <p:nvSpPr>
          <p:cNvPr id="22" name="Text 20"/>
          <p:cNvSpPr txBox="1"/>
          <p:nvPr/>
        </p:nvSpPr>
        <p:spPr>
          <a:xfrm>
            <a:off x="1188720" y="4498848"/>
            <a:ext cx="4937760" cy="457200"/>
          </a:xfrm>
          <a:prstGeom prst="rect">
            <a:avLst/>
          </a:prstGeom>
          <a:noFill/>
          <a:ln/>
        </p:spPr>
        <p:txBody>
          <a:bodyPr wrap="square" lIns="0" tIns="0" rIns="0" bIns="0" rtlCol="0" anchor="ctr"/>
          <a:lstStyle/>
          <a:p>
            <a:pPr indent="0" marL="0">
              <a:buNone/>
            </a:pPr>
            <a:r>
              <a:rPr lang="en-US" sz="1450" b="1" dirty="0">
                <a:solidFill>
                  <a:srgbClr val="FFFFFF"/>
                </a:solidFill>
                <a:latin typeface="Cambria" pitchFamily="34" charset="0"/>
                <a:ea typeface="Cambria" pitchFamily="34" charset="-122"/>
                <a:cs typeface="Cambria" pitchFamily="34" charset="-120"/>
              </a:rPr>
              <a:t>Scope limitation</a:t>
            </a:r>
            <a:endParaRPr lang="en-US" sz="1450" dirty="0"/>
          </a:p>
        </p:txBody>
      </p:sp>
      <p:sp>
        <p:nvSpPr>
          <p:cNvPr id="23" name="Text 21"/>
          <p:cNvSpPr txBox="1"/>
          <p:nvPr/>
        </p:nvSpPr>
        <p:spPr>
          <a:xfrm>
            <a:off x="1188720" y="4956048"/>
            <a:ext cx="4937760" cy="822960"/>
          </a:xfrm>
          <a:prstGeom prst="rect">
            <a:avLst/>
          </a:prstGeom>
          <a:noFill/>
          <a:ln/>
        </p:spPr>
        <p:txBody>
          <a:bodyPr wrap="square" lIns="0" tIns="0" rIns="0" bIns="0" rtlCol="0" anchor="ctr"/>
          <a:lstStyle/>
          <a:p>
            <a:pPr indent="0" marL="0">
              <a:buNone/>
            </a:pPr>
            <a:r>
              <a:rPr lang="en-US" sz="1200" dirty="0">
                <a:solidFill>
                  <a:srgbClr val="B8CBD3"/>
                </a:solidFill>
                <a:latin typeface="Calibri" pitchFamily="34" charset="0"/>
                <a:ea typeface="Calibri" pitchFamily="34" charset="-122"/>
                <a:cs typeface="Calibri" pitchFamily="34" charset="-120"/>
              </a:rPr>
              <a:t>12 of 33 exported states had zero usable Diabetes values — our data reflects 21 states, not the full U.S.</a:t>
            </a:r>
            <a:endParaRPr lang="en-US" sz="1200" dirty="0"/>
          </a:p>
        </p:txBody>
      </p:sp>
      <p:sp>
        <p:nvSpPr>
          <p:cNvPr id="24" name="Shape 22"/>
          <p:cNvSpPr/>
          <p:nvPr/>
        </p:nvSpPr>
        <p:spPr>
          <a:xfrm>
            <a:off x="548640" y="5989320"/>
            <a:ext cx="11064240" cy="548640"/>
          </a:xfrm>
          <a:prstGeom prst="roundRect">
            <a:avLst>
              <a:gd name="adj" fmla="val 10000"/>
            </a:avLst>
          </a:prstGeom>
          <a:solidFill>
            <a:srgbClr val="13334A"/>
          </a:solidFill>
          <a:ln/>
        </p:spPr>
      </p:sp>
      <p:sp>
        <p:nvSpPr>
          <p:cNvPr id="25" name="Text 23"/>
          <p:cNvSpPr txBox="1"/>
          <p:nvPr/>
        </p:nvSpPr>
        <p:spPr>
          <a:xfrm>
            <a:off x="777240" y="5989320"/>
            <a:ext cx="10607040" cy="548640"/>
          </a:xfrm>
          <a:prstGeom prst="rect">
            <a:avLst/>
          </a:prstGeom>
          <a:noFill/>
          <a:ln/>
        </p:spPr>
        <p:txBody>
          <a:bodyPr wrap="square" lIns="0" tIns="0" rIns="0" bIns="0" rtlCol="0" anchor="ctr"/>
          <a:lstStyle/>
          <a:p>
            <a:pPr indent="0" marL="0">
              <a:buNone/>
            </a:pPr>
            <a:r>
              <a:rPr lang="en-US" sz="1300" i="1" dirty="0">
                <a:solidFill>
                  <a:srgbClr val="01A7C2"/>
                </a:solidFill>
                <a:latin typeface="Calibri" pitchFamily="34" charset="0"/>
                <a:ea typeface="Calibri" pitchFamily="34" charset="-122"/>
                <a:cs typeface="Calibri" pitchFamily="34" charset="-120"/>
              </a:rPr>
              <a:t>Bottom line: strong neighborhood-level statistical associations — not a validated causal or individual-level diagnostic tool.</a:t>
            </a:r>
            <a:endParaRPr lang="en-US" sz="1300" dirty="0"/>
          </a:p>
        </p:txBody>
      </p:sp>
      <p:sp>
        <p:nvSpPr>
          <p:cNvPr id="26" name="Text 24"/>
          <p:cNvSpPr txBox="1"/>
          <p:nvPr/>
        </p:nvSpPr>
        <p:spPr>
          <a:xfrm>
            <a:off x="457200" y="6537960"/>
            <a:ext cx="5486400" cy="274320"/>
          </a:xfrm>
          <a:prstGeom prst="rect">
            <a:avLst/>
          </a:prstGeom>
          <a:noFill/>
          <a:ln/>
        </p:spPr>
        <p:txBody>
          <a:bodyPr wrap="square" lIns="0" tIns="0" rIns="0" bIns="0" rtlCol="0" anchor="ctr"/>
          <a:lstStyle/>
          <a:p>
            <a:pPr indent="0" marL="0">
              <a:buNone/>
            </a:pPr>
            <a:r>
              <a:rPr lang="en-US" sz="1000" dirty="0">
                <a:solidFill>
                  <a:srgbClr val="5B6B73"/>
                </a:solidFill>
                <a:latin typeface="Calibri" pitchFamily="34" charset="0"/>
                <a:ea typeface="Calibri" pitchFamily="34" charset="-122"/>
                <a:cs typeface="Calibri" pitchFamily="34" charset="-120"/>
              </a:rPr>
              <a:t>Limitations</a:t>
            </a:r>
            <a:endParaRPr lang="en-US" sz="1000" dirty="0"/>
          </a:p>
        </p:txBody>
      </p:sp>
      <p:sp>
        <p:nvSpPr>
          <p:cNvPr id="27" name="Text 25"/>
          <p:cNvSpPr txBox="1"/>
          <p:nvPr/>
        </p:nvSpPr>
        <p:spPr>
          <a:xfrm>
            <a:off x="11274552" y="6537960"/>
            <a:ext cx="457200" cy="274320"/>
          </a:xfrm>
          <a:prstGeom prst="rect">
            <a:avLst/>
          </a:prstGeom>
          <a:noFill/>
          <a:ln/>
        </p:spPr>
        <p:txBody>
          <a:bodyPr wrap="square" lIns="0" tIns="0" rIns="0" bIns="0" rtlCol="0" anchor="ctr"/>
          <a:lstStyle/>
          <a:p>
            <a:pPr algn="r" indent="0" marL="0">
              <a:buNone/>
            </a:pPr>
            <a:r>
              <a:rPr lang="en-US" sz="1000" dirty="0">
                <a:solidFill>
                  <a:srgbClr val="5B6B73"/>
                </a:solidFill>
                <a:latin typeface="Calibri" pitchFamily="34" charset="0"/>
                <a:ea typeface="Calibri" pitchFamily="34" charset="-122"/>
                <a:cs typeface="Calibri" pitchFamily="34" charset="-120"/>
              </a:rPr>
              <a:t>13</a:t>
            </a:r>
            <a:endParaRPr lang="en-US" sz="1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10972800" cy="640080"/>
          </a:xfrm>
          <a:prstGeom prst="rect">
            <a:avLst/>
          </a:prstGeom>
          <a:noFill/>
          <a:ln/>
        </p:spPr>
        <p:txBody>
          <a:bodyPr wrap="square" lIns="0" tIns="0" rIns="0" bIns="0" rtlCol="0" anchor="ctr"/>
          <a:lstStyle/>
          <a:p>
            <a:pPr indent="0" marL="0">
              <a:buNone/>
            </a:pPr>
            <a:r>
              <a:rPr lang="en-US" sz="3200" b="1" dirty="0">
                <a:solidFill>
                  <a:srgbClr val="0B4F6C"/>
                </a:solidFill>
                <a:latin typeface="Cambria" pitchFamily="34" charset="0"/>
                <a:ea typeface="Cambria" pitchFamily="34" charset="-122"/>
                <a:cs typeface="Cambria" pitchFamily="34" charset="-120"/>
              </a:rPr>
              <a:t>Business Recommendations</a:t>
            </a:r>
            <a:endParaRPr lang="en-US" sz="3200" dirty="0"/>
          </a:p>
        </p:txBody>
      </p:sp>
      <p:sp>
        <p:nvSpPr>
          <p:cNvPr id="3" name="Text 1"/>
          <p:cNvSpPr txBox="1"/>
          <p:nvPr/>
        </p:nvSpPr>
        <p:spPr>
          <a:xfrm>
            <a:off x="548640" y="1051560"/>
            <a:ext cx="10698480" cy="411480"/>
          </a:xfrm>
          <a:prstGeom prst="rect">
            <a:avLst/>
          </a:prstGeom>
          <a:noFill/>
          <a:ln/>
        </p:spPr>
        <p:txBody>
          <a:bodyPr wrap="square" lIns="0" tIns="0" rIns="0" bIns="0" rtlCol="0" anchor="ctr"/>
          <a:lstStyle/>
          <a:p>
            <a:pPr indent="0" marL="0">
              <a:buNone/>
            </a:pPr>
            <a:r>
              <a:rPr lang="en-US" sz="1500" i="1" dirty="0">
                <a:solidFill>
                  <a:srgbClr val="5B6B73"/>
                </a:solidFill>
                <a:latin typeface="Calibri" pitchFamily="34" charset="0"/>
                <a:ea typeface="Calibri" pitchFamily="34" charset="-122"/>
                <a:cs typeface="Calibri" pitchFamily="34" charset="-120"/>
              </a:rPr>
              <a:t>What a public health team could do with this</a:t>
            </a:r>
            <a:endParaRPr lang="en-US" sz="1500" dirty="0"/>
          </a:p>
        </p:txBody>
      </p:sp>
      <p:sp>
        <p:nvSpPr>
          <p:cNvPr id="4" name="Shape 2"/>
          <p:cNvSpPr/>
          <p:nvPr/>
        </p:nvSpPr>
        <p:spPr>
          <a:xfrm>
            <a:off x="640080" y="1783080"/>
            <a:ext cx="457200" cy="457200"/>
          </a:xfrm>
          <a:prstGeom prst="ellipse">
            <a:avLst/>
          </a:prstGeom>
          <a:solidFill>
            <a:srgbClr val="0B4F6C"/>
          </a:solidFill>
          <a:ln/>
        </p:spPr>
      </p:sp>
      <p:sp>
        <p:nvSpPr>
          <p:cNvPr id="5" name="Text 3"/>
          <p:cNvSpPr txBox="1"/>
          <p:nvPr/>
        </p:nvSpPr>
        <p:spPr>
          <a:xfrm>
            <a:off x="640080" y="1783080"/>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1</a:t>
            </a:r>
            <a:endParaRPr lang="en-US" sz="1500" dirty="0"/>
          </a:p>
        </p:txBody>
      </p:sp>
      <p:sp>
        <p:nvSpPr>
          <p:cNvPr id="6" name="Text 4"/>
          <p:cNvSpPr txBox="1"/>
          <p:nvPr/>
        </p:nvSpPr>
        <p:spPr>
          <a:xfrm>
            <a:off x="1280160" y="1664208"/>
            <a:ext cx="10241280" cy="685800"/>
          </a:xfrm>
          <a:prstGeom prst="rect">
            <a:avLst/>
          </a:prstGeom>
          <a:noFill/>
          <a:ln/>
        </p:spPr>
        <p:txBody>
          <a:bodyPr wrap="square" lIns="0" tIns="0" rIns="0" bIns="0" rtlCol="0" anchor="ctr"/>
          <a:lstStyle/>
          <a:p>
            <a:pPr indent="0" marL="0">
              <a:buNone/>
            </a:pPr>
            <a:r>
              <a:rPr lang="en-US" sz="1500" dirty="0">
                <a:solidFill>
                  <a:srgbClr val="1B1B1B"/>
                </a:solidFill>
                <a:latin typeface="Calibri" pitchFamily="34" charset="0"/>
                <a:ea typeface="Calibri" pitchFamily="34" charset="-122"/>
                <a:cs typeface="Calibri" pitchFamily="34" charset="-120"/>
              </a:rPr>
              <a:t>Use disability &amp; cardiovascular indicators as an early screening layer for outreach targeting</a:t>
            </a:r>
            <a:endParaRPr lang="en-US" sz="1500" dirty="0"/>
          </a:p>
        </p:txBody>
      </p:sp>
      <p:sp>
        <p:nvSpPr>
          <p:cNvPr id="7" name="Shape 5"/>
          <p:cNvSpPr/>
          <p:nvPr/>
        </p:nvSpPr>
        <p:spPr>
          <a:xfrm>
            <a:off x="640080" y="2560320"/>
            <a:ext cx="457200" cy="457200"/>
          </a:xfrm>
          <a:prstGeom prst="ellipse">
            <a:avLst/>
          </a:prstGeom>
          <a:solidFill>
            <a:srgbClr val="0B4F6C"/>
          </a:solidFill>
          <a:ln/>
        </p:spPr>
      </p:sp>
      <p:sp>
        <p:nvSpPr>
          <p:cNvPr id="8" name="Text 6"/>
          <p:cNvSpPr txBox="1"/>
          <p:nvPr/>
        </p:nvSpPr>
        <p:spPr>
          <a:xfrm>
            <a:off x="640080" y="2560320"/>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2</a:t>
            </a:r>
            <a:endParaRPr lang="en-US" sz="1500" dirty="0"/>
          </a:p>
        </p:txBody>
      </p:sp>
      <p:sp>
        <p:nvSpPr>
          <p:cNvPr id="9" name="Text 7"/>
          <p:cNvSpPr txBox="1"/>
          <p:nvPr/>
        </p:nvSpPr>
        <p:spPr>
          <a:xfrm>
            <a:off x="1280160" y="2441448"/>
            <a:ext cx="10241280" cy="685800"/>
          </a:xfrm>
          <a:prstGeom prst="rect">
            <a:avLst/>
          </a:prstGeom>
          <a:noFill/>
          <a:ln/>
        </p:spPr>
        <p:txBody>
          <a:bodyPr wrap="square" lIns="0" tIns="0" rIns="0" bIns="0" rtlCol="0" anchor="ctr"/>
          <a:lstStyle/>
          <a:p>
            <a:pPr indent="0" marL="0">
              <a:buNone/>
            </a:pPr>
            <a:r>
              <a:rPr lang="en-US" sz="1500" dirty="0">
                <a:solidFill>
                  <a:srgbClr val="1B1B1B"/>
                </a:solidFill>
                <a:latin typeface="Calibri" pitchFamily="34" charset="0"/>
                <a:ea typeface="Calibri" pitchFamily="34" charset="-122"/>
                <a:cs typeface="Calibri" pitchFamily="34" charset="-120"/>
              </a:rPr>
              <a:t>Treat this as a targeting tool, not a diagnostic one — guides resource allocation, not individual care</a:t>
            </a:r>
            <a:endParaRPr lang="en-US" sz="1500" dirty="0"/>
          </a:p>
        </p:txBody>
      </p:sp>
      <p:sp>
        <p:nvSpPr>
          <p:cNvPr id="10" name="Shape 8"/>
          <p:cNvSpPr/>
          <p:nvPr/>
        </p:nvSpPr>
        <p:spPr>
          <a:xfrm>
            <a:off x="640080" y="3337560"/>
            <a:ext cx="457200" cy="457200"/>
          </a:xfrm>
          <a:prstGeom prst="ellipse">
            <a:avLst/>
          </a:prstGeom>
          <a:solidFill>
            <a:srgbClr val="0B4F6C"/>
          </a:solidFill>
          <a:ln/>
        </p:spPr>
      </p:sp>
      <p:sp>
        <p:nvSpPr>
          <p:cNvPr id="11" name="Text 9"/>
          <p:cNvSpPr txBox="1"/>
          <p:nvPr/>
        </p:nvSpPr>
        <p:spPr>
          <a:xfrm>
            <a:off x="640080" y="3337560"/>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3</a:t>
            </a:r>
            <a:endParaRPr lang="en-US" sz="1500" dirty="0"/>
          </a:p>
        </p:txBody>
      </p:sp>
      <p:sp>
        <p:nvSpPr>
          <p:cNvPr id="12" name="Text 10"/>
          <p:cNvSpPr txBox="1"/>
          <p:nvPr/>
        </p:nvSpPr>
        <p:spPr>
          <a:xfrm>
            <a:off x="1280160" y="3218688"/>
            <a:ext cx="10241280" cy="685800"/>
          </a:xfrm>
          <a:prstGeom prst="rect">
            <a:avLst/>
          </a:prstGeom>
          <a:noFill/>
          <a:ln/>
        </p:spPr>
        <p:txBody>
          <a:bodyPr wrap="square" lIns="0" tIns="0" rIns="0" bIns="0" rtlCol="0" anchor="ctr"/>
          <a:lstStyle/>
          <a:p>
            <a:pPr indent="0" marL="0">
              <a:buNone/>
            </a:pPr>
            <a:r>
              <a:rPr lang="en-US" sz="1500" dirty="0">
                <a:solidFill>
                  <a:srgbClr val="1B1B1B"/>
                </a:solidFill>
                <a:latin typeface="Calibri" pitchFamily="34" charset="0"/>
                <a:ea typeface="Calibri" pitchFamily="34" charset="-122"/>
                <a:cs typeface="Calibri" pitchFamily="34" charset="-120"/>
              </a:rPr>
              <a:t>Pair quantitative targeting with local, on-the-ground context</a:t>
            </a:r>
            <a:endParaRPr lang="en-US" sz="1500" dirty="0"/>
          </a:p>
        </p:txBody>
      </p:sp>
      <p:sp>
        <p:nvSpPr>
          <p:cNvPr id="13" name="Shape 11"/>
          <p:cNvSpPr/>
          <p:nvPr/>
        </p:nvSpPr>
        <p:spPr>
          <a:xfrm>
            <a:off x="640080" y="4114800"/>
            <a:ext cx="457200" cy="457200"/>
          </a:xfrm>
          <a:prstGeom prst="ellipse">
            <a:avLst/>
          </a:prstGeom>
          <a:solidFill>
            <a:srgbClr val="0B4F6C"/>
          </a:solidFill>
          <a:ln/>
        </p:spPr>
      </p:sp>
      <p:sp>
        <p:nvSpPr>
          <p:cNvPr id="14" name="Text 12"/>
          <p:cNvSpPr txBox="1"/>
          <p:nvPr/>
        </p:nvSpPr>
        <p:spPr>
          <a:xfrm>
            <a:off x="640080" y="4114800"/>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4</a:t>
            </a:r>
            <a:endParaRPr lang="en-US" sz="1500" dirty="0"/>
          </a:p>
        </p:txBody>
      </p:sp>
      <p:sp>
        <p:nvSpPr>
          <p:cNvPr id="15" name="Text 13"/>
          <p:cNvSpPr txBox="1"/>
          <p:nvPr/>
        </p:nvSpPr>
        <p:spPr>
          <a:xfrm>
            <a:off x="1280160" y="3995928"/>
            <a:ext cx="10241280" cy="685800"/>
          </a:xfrm>
          <a:prstGeom prst="rect">
            <a:avLst/>
          </a:prstGeom>
          <a:noFill/>
          <a:ln/>
        </p:spPr>
        <p:txBody>
          <a:bodyPr wrap="square" lIns="0" tIns="0" rIns="0" bIns="0" rtlCol="0" anchor="ctr"/>
          <a:lstStyle/>
          <a:p>
            <a:pPr indent="0" marL="0">
              <a:buNone/>
            </a:pPr>
            <a:r>
              <a:rPr lang="en-US" sz="1500" dirty="0">
                <a:solidFill>
                  <a:srgbClr val="1B1B1B"/>
                </a:solidFill>
                <a:latin typeface="Calibri" pitchFamily="34" charset="0"/>
                <a:ea typeface="Calibri" pitchFamily="34" charset="-122"/>
                <a:cs typeface="Calibri" pitchFamily="34" charset="-120"/>
              </a:rPr>
              <a:t>Re-run this analysis as new PLACES releases come out, with full state coverage</a:t>
            </a:r>
            <a:endParaRPr lang="en-US" sz="1500" dirty="0"/>
          </a:p>
        </p:txBody>
      </p:sp>
      <p:sp>
        <p:nvSpPr>
          <p:cNvPr id="16" name="Shape 14"/>
          <p:cNvSpPr/>
          <p:nvPr/>
        </p:nvSpPr>
        <p:spPr>
          <a:xfrm>
            <a:off x="548640" y="5074920"/>
            <a:ext cx="11064240" cy="0"/>
          </a:xfrm>
          <a:prstGeom prst="line">
            <a:avLst/>
          </a:prstGeom>
          <a:noFill/>
          <a:ln w="12700">
            <a:solidFill>
              <a:srgbClr val="DCE6E9"/>
            </a:solidFill>
            <a:prstDash val="solid"/>
          </a:ln>
        </p:spPr>
      </p:sp>
      <p:sp>
        <p:nvSpPr>
          <p:cNvPr id="17" name="Text 15"/>
          <p:cNvSpPr txBox="1"/>
          <p:nvPr/>
        </p:nvSpPr>
        <p:spPr>
          <a:xfrm>
            <a:off x="548640" y="5303520"/>
            <a:ext cx="5486400" cy="548640"/>
          </a:xfrm>
          <a:prstGeom prst="rect">
            <a:avLst/>
          </a:prstGeom>
          <a:noFill/>
          <a:ln/>
        </p:spPr>
        <p:txBody>
          <a:bodyPr wrap="square" lIns="0" tIns="0" rIns="0" bIns="0" rtlCol="0" anchor="ctr"/>
          <a:lstStyle/>
          <a:p>
            <a:pPr indent="0" marL="0">
              <a:buNone/>
            </a:pPr>
            <a:r>
              <a:rPr lang="en-US" sz="2600" b="1" dirty="0">
                <a:solidFill>
                  <a:srgbClr val="0B4F6C"/>
                </a:solidFill>
                <a:latin typeface="Cambria" pitchFamily="34" charset="0"/>
                <a:ea typeface="Cambria" pitchFamily="34" charset="-122"/>
                <a:cs typeface="Cambria" pitchFamily="34" charset="-120"/>
              </a:rPr>
              <a:t>Thank You</a:t>
            </a:r>
            <a:endParaRPr lang="en-US" sz="2600" dirty="0"/>
          </a:p>
        </p:txBody>
      </p:sp>
      <p:sp>
        <p:nvSpPr>
          <p:cNvPr id="18" name="Text 16"/>
          <p:cNvSpPr txBox="1"/>
          <p:nvPr/>
        </p:nvSpPr>
        <p:spPr>
          <a:xfrm>
            <a:off x="548640" y="5852160"/>
            <a:ext cx="7315200" cy="365760"/>
          </a:xfrm>
          <a:prstGeom prst="rect">
            <a:avLst/>
          </a:prstGeom>
          <a:noFill/>
          <a:ln/>
        </p:spPr>
        <p:txBody>
          <a:bodyPr wrap="square" lIns="0" tIns="0" rIns="0" bIns="0" rtlCol="0" anchor="ctr"/>
          <a:lstStyle/>
          <a:p>
            <a:pPr indent="0" marL="0">
              <a:buNone/>
            </a:pPr>
            <a:r>
              <a:rPr lang="en-US" sz="1400" dirty="0">
                <a:solidFill>
                  <a:srgbClr val="5B6B73"/>
                </a:solidFill>
                <a:latin typeface="Calibri" pitchFamily="34" charset="0"/>
                <a:ea typeface="Calibri" pitchFamily="34" charset="-122"/>
                <a:cs typeface="Calibri" pitchFamily="34" charset="-120"/>
              </a:rPr>
              <a:t>Ali Odah  •  Qossay Shtaiwi  •  Salam Odeh</a:t>
            </a:r>
            <a:endParaRPr lang="en-US" sz="1400" dirty="0"/>
          </a:p>
        </p:txBody>
      </p:sp>
      <p:sp>
        <p:nvSpPr>
          <p:cNvPr id="19" name="Text 17"/>
          <p:cNvSpPr txBox="1"/>
          <p:nvPr/>
        </p:nvSpPr>
        <p:spPr>
          <a:xfrm>
            <a:off x="8686800" y="5349240"/>
            <a:ext cx="2926080" cy="822960"/>
          </a:xfrm>
          <a:prstGeom prst="rect">
            <a:avLst/>
          </a:prstGeom>
          <a:noFill/>
          <a:ln/>
        </p:spPr>
        <p:txBody>
          <a:bodyPr wrap="square" lIns="0" tIns="0" rIns="0" bIns="0" rtlCol="0" anchor="ctr"/>
          <a:lstStyle/>
          <a:p>
            <a:pPr algn="r" indent="0" marL="0">
              <a:buNone/>
            </a:pPr>
            <a:r>
              <a:rPr lang="en-US" sz="2200" b="1" i="1" dirty="0">
                <a:solidFill>
                  <a:srgbClr val="01A7C2"/>
                </a:solidFill>
                <a:latin typeface="Cambria" pitchFamily="34" charset="0"/>
                <a:ea typeface="Cambria" pitchFamily="34" charset="-122"/>
                <a:cs typeface="Cambria" pitchFamily="34" charset="-120"/>
              </a:rPr>
              <a:t>Questions?</a:t>
            </a:r>
            <a:endParaRPr lang="en-US" sz="2200" dirty="0"/>
          </a:p>
        </p:txBody>
      </p:sp>
      <p:sp>
        <p:nvSpPr>
          <p:cNvPr id="20" name="Text 18"/>
          <p:cNvSpPr txBox="1"/>
          <p:nvPr/>
        </p:nvSpPr>
        <p:spPr>
          <a:xfrm>
            <a:off x="457200" y="6537960"/>
            <a:ext cx="5486400" cy="274320"/>
          </a:xfrm>
          <a:prstGeom prst="rect">
            <a:avLst/>
          </a:prstGeom>
          <a:noFill/>
          <a:ln/>
        </p:spPr>
        <p:txBody>
          <a:bodyPr wrap="square" lIns="0" tIns="0" rIns="0" bIns="0" rtlCol="0" anchor="ctr"/>
          <a:lstStyle/>
          <a:p>
            <a:pPr indent="0" marL="0">
              <a:buNone/>
            </a:pPr>
            <a:r>
              <a:rPr lang="en-US" sz="1000" dirty="0">
                <a:solidFill>
                  <a:srgbClr val="5B6B73"/>
                </a:solidFill>
                <a:latin typeface="Calibri" pitchFamily="34" charset="0"/>
                <a:ea typeface="Calibri" pitchFamily="34" charset="-122"/>
                <a:cs typeface="Calibri" pitchFamily="34" charset="-120"/>
              </a:rPr>
              <a:t>Recommendations &amp; Closing</a:t>
            </a:r>
            <a:endParaRPr lang="en-US" sz="1000" dirty="0"/>
          </a:p>
        </p:txBody>
      </p:sp>
      <p:sp>
        <p:nvSpPr>
          <p:cNvPr id="21" name="Text 19"/>
          <p:cNvSpPr txBox="1"/>
          <p:nvPr/>
        </p:nvSpPr>
        <p:spPr>
          <a:xfrm>
            <a:off x="11274552" y="6537960"/>
            <a:ext cx="457200" cy="274320"/>
          </a:xfrm>
          <a:prstGeom prst="rect">
            <a:avLst/>
          </a:prstGeom>
          <a:noFill/>
          <a:ln/>
        </p:spPr>
        <p:txBody>
          <a:bodyPr wrap="square" lIns="0" tIns="0" rIns="0" bIns="0" rtlCol="0" anchor="ctr"/>
          <a:lstStyle/>
          <a:p>
            <a:pPr algn="r" indent="0" marL="0">
              <a:buNone/>
            </a:pPr>
            <a:r>
              <a:rPr lang="en-US" sz="1000" dirty="0">
                <a:solidFill>
                  <a:srgbClr val="5B6B73"/>
                </a:solidFill>
                <a:latin typeface="Calibri" pitchFamily="34" charset="0"/>
                <a:ea typeface="Calibri" pitchFamily="34" charset="-122"/>
                <a:cs typeface="Calibri" pitchFamily="34" charset="-120"/>
              </a:rPr>
              <a:t>14</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14</Slides>
  <Notes>14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vt:i4>
      </vt:variant>
    </vt:vector>
  </HeadingPairs>
  <TitlesOfParts>
    <vt:vector size="1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2026-09-13T00:09:53Z</dcterms:created>
  <dcterms:modified xsi:type="dcterms:W3CDTF">2026-09-13T00:09:53Z</dcterms:modified>
</cp:coreProperties>
</file>